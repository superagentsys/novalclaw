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Hedvig Letters Sans" charset="-122" pitchFamily="34"/>
      <p:regular r:id="rId31"/>
    </p:embeddedFont>
    <p:embeddedFont>
      <p:font typeface="Noto Sans SC" charset="-122" pitchFamily="34"/>
      <p:regular r:id="rId32"/>
    </p:embeddedFont>
    <p:embeddedFont>
      <p:font typeface="Quattrocento Sans" charset="-122" pitchFamily="34"/>
      <p:regular r:id="rId33"/>
    </p:embeddedFont>
    <p:embeddedFont>
      <p:font typeface="MiSans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stmtoreu5k32/novalclaw_cover_bg_blue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A">
                  <a:alpha val="80000"/>
                </a:srgbClr>
              </a:gs>
              <a:gs pos="50000">
                <a:srgbClr val="3B82F6">
                  <a:alpha val="20000"/>
                </a:srgbClr>
              </a:gs>
              <a:gs pos="100000">
                <a:srgbClr val="0A0E1A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081858" y="1543050"/>
            <a:ext cx="60293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000" b="1" spc="-225" kern="0" dirty="0">
                <a:solidFill>
                  <a:srgbClr val="F1F5F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NovalClaw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326" y="2838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" name="Text 3"/>
          <p:cNvSpPr/>
          <p:nvPr/>
        </p:nvSpPr>
        <p:spPr>
          <a:xfrm>
            <a:off x="3281883" y="3105150"/>
            <a:ext cx="5629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spc="68" kern="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企业级安全智能体框架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30351" y="41719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 Rust 构建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93753" y="41719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41403" y="417195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 OpenClaw 快 100 倍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51649" y="41719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99299" y="41719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13699" y="41719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61349" y="41719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原生多模态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66249" y="41719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13899" y="41719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455616" y="5095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233" y="133075"/>
                </a:moveTo>
                <a:cubicBezTo>
                  <a:pt x="58233" y="133744"/>
                  <a:pt x="57463" y="134280"/>
                  <a:pt x="56491" y="134280"/>
                </a:cubicBezTo>
                <a:cubicBezTo>
                  <a:pt x="55386" y="134381"/>
                  <a:pt x="54616" y="133845"/>
                  <a:pt x="54616" y="133075"/>
                </a:cubicBezTo>
                <a:cubicBezTo>
                  <a:pt x="54616" y="132405"/>
                  <a:pt x="55386" y="131869"/>
                  <a:pt x="56357" y="131869"/>
                </a:cubicBezTo>
                <a:cubicBezTo>
                  <a:pt x="57362" y="131769"/>
                  <a:pt x="58233" y="132304"/>
                  <a:pt x="58233" y="133075"/>
                </a:cubicBezTo>
                <a:close/>
                <a:moveTo>
                  <a:pt x="47818" y="131568"/>
                </a:moveTo>
                <a:cubicBezTo>
                  <a:pt x="47584" y="132238"/>
                  <a:pt x="48254" y="133008"/>
                  <a:pt x="49258" y="133209"/>
                </a:cubicBezTo>
                <a:cubicBezTo>
                  <a:pt x="50129" y="133543"/>
                  <a:pt x="51134" y="133209"/>
                  <a:pt x="51335" y="132539"/>
                </a:cubicBezTo>
                <a:cubicBezTo>
                  <a:pt x="51535" y="131869"/>
                  <a:pt x="50899" y="131099"/>
                  <a:pt x="49895" y="130798"/>
                </a:cubicBezTo>
                <a:cubicBezTo>
                  <a:pt x="49024" y="130563"/>
                  <a:pt x="48053" y="130898"/>
                  <a:pt x="47818" y="131568"/>
                </a:cubicBezTo>
                <a:close/>
                <a:moveTo>
                  <a:pt x="62619" y="130999"/>
                </a:moveTo>
                <a:cubicBezTo>
                  <a:pt x="61648" y="131233"/>
                  <a:pt x="60979" y="131869"/>
                  <a:pt x="61079" y="132639"/>
                </a:cubicBezTo>
                <a:cubicBezTo>
                  <a:pt x="61180" y="133309"/>
                  <a:pt x="62050" y="133744"/>
                  <a:pt x="63055" y="133510"/>
                </a:cubicBezTo>
                <a:cubicBezTo>
                  <a:pt x="64026" y="133276"/>
                  <a:pt x="64696" y="132639"/>
                  <a:pt x="64595" y="131970"/>
                </a:cubicBezTo>
                <a:cubicBezTo>
                  <a:pt x="64495" y="131333"/>
                  <a:pt x="63591" y="130898"/>
                  <a:pt x="62619" y="130999"/>
                </a:cubicBezTo>
                <a:close/>
                <a:moveTo>
                  <a:pt x="84653" y="2679"/>
                </a:moveTo>
                <a:cubicBezTo>
                  <a:pt x="38208" y="2679"/>
                  <a:pt x="2679" y="37940"/>
                  <a:pt x="2679" y="84386"/>
                </a:cubicBezTo>
                <a:cubicBezTo>
                  <a:pt x="2679" y="121522"/>
                  <a:pt x="26052" y="153300"/>
                  <a:pt x="59438" y="164485"/>
                </a:cubicBezTo>
                <a:cubicBezTo>
                  <a:pt x="63724" y="165255"/>
                  <a:pt x="65231" y="162610"/>
                  <a:pt x="65231" y="160433"/>
                </a:cubicBezTo>
                <a:cubicBezTo>
                  <a:pt x="65231" y="158357"/>
                  <a:pt x="65131" y="146905"/>
                  <a:pt x="65131" y="139872"/>
                </a:cubicBezTo>
                <a:cubicBezTo>
                  <a:pt x="65131" y="139872"/>
                  <a:pt x="41690" y="144895"/>
                  <a:pt x="36768" y="129893"/>
                </a:cubicBezTo>
                <a:cubicBezTo>
                  <a:pt x="36768" y="129893"/>
                  <a:pt x="32951" y="120149"/>
                  <a:pt x="27459" y="117637"/>
                </a:cubicBezTo>
                <a:cubicBezTo>
                  <a:pt x="27459" y="117637"/>
                  <a:pt x="19790" y="112380"/>
                  <a:pt x="27995" y="112481"/>
                </a:cubicBezTo>
                <a:cubicBezTo>
                  <a:pt x="27995" y="112481"/>
                  <a:pt x="36333" y="113150"/>
                  <a:pt x="40920" y="121120"/>
                </a:cubicBezTo>
                <a:cubicBezTo>
                  <a:pt x="48254" y="134046"/>
                  <a:pt x="60543" y="130329"/>
                  <a:pt x="65332" y="128119"/>
                </a:cubicBezTo>
                <a:cubicBezTo>
                  <a:pt x="66102" y="122761"/>
                  <a:pt x="68279" y="119044"/>
                  <a:pt x="70690" y="116834"/>
                </a:cubicBezTo>
                <a:cubicBezTo>
                  <a:pt x="51971" y="114758"/>
                  <a:pt x="33084" y="112045"/>
                  <a:pt x="33084" y="79831"/>
                </a:cubicBezTo>
                <a:cubicBezTo>
                  <a:pt x="33084" y="70623"/>
                  <a:pt x="35629" y="66002"/>
                  <a:pt x="40987" y="60108"/>
                </a:cubicBezTo>
                <a:cubicBezTo>
                  <a:pt x="40117" y="57931"/>
                  <a:pt x="37270" y="48957"/>
                  <a:pt x="41858" y="37371"/>
                </a:cubicBezTo>
                <a:cubicBezTo>
                  <a:pt x="48857" y="35194"/>
                  <a:pt x="64963" y="46412"/>
                  <a:pt x="64963" y="46412"/>
                </a:cubicBezTo>
                <a:cubicBezTo>
                  <a:pt x="71661" y="44537"/>
                  <a:pt x="78860" y="43566"/>
                  <a:pt x="85993" y="43566"/>
                </a:cubicBezTo>
                <a:cubicBezTo>
                  <a:pt x="93125" y="43566"/>
                  <a:pt x="100325" y="44537"/>
                  <a:pt x="107022" y="46412"/>
                </a:cubicBezTo>
                <a:cubicBezTo>
                  <a:pt x="107022" y="46412"/>
                  <a:pt x="123129" y="35161"/>
                  <a:pt x="130128" y="37371"/>
                </a:cubicBezTo>
                <a:cubicBezTo>
                  <a:pt x="134715" y="48990"/>
                  <a:pt x="131869" y="57931"/>
                  <a:pt x="130999" y="60108"/>
                </a:cubicBezTo>
                <a:cubicBezTo>
                  <a:pt x="136356" y="66035"/>
                  <a:pt x="139638" y="70656"/>
                  <a:pt x="139638" y="79831"/>
                </a:cubicBezTo>
                <a:cubicBezTo>
                  <a:pt x="139638" y="112146"/>
                  <a:pt x="119915" y="114724"/>
                  <a:pt x="101196" y="116834"/>
                </a:cubicBezTo>
                <a:cubicBezTo>
                  <a:pt x="104276" y="119479"/>
                  <a:pt x="106888" y="124502"/>
                  <a:pt x="106888" y="132371"/>
                </a:cubicBezTo>
                <a:cubicBezTo>
                  <a:pt x="106888" y="143656"/>
                  <a:pt x="106788" y="157620"/>
                  <a:pt x="106788" y="160366"/>
                </a:cubicBezTo>
                <a:cubicBezTo>
                  <a:pt x="106788" y="162543"/>
                  <a:pt x="108328" y="165188"/>
                  <a:pt x="112581" y="164418"/>
                </a:cubicBezTo>
                <a:cubicBezTo>
                  <a:pt x="146067" y="153300"/>
                  <a:pt x="168771" y="121522"/>
                  <a:pt x="168771" y="84386"/>
                </a:cubicBezTo>
                <a:cubicBezTo>
                  <a:pt x="168771" y="37940"/>
                  <a:pt x="131099" y="2679"/>
                  <a:pt x="84653" y="2679"/>
                </a:cubicBezTo>
                <a:close/>
                <a:moveTo>
                  <a:pt x="35228" y="118173"/>
                </a:moveTo>
                <a:cubicBezTo>
                  <a:pt x="34792" y="118508"/>
                  <a:pt x="34893" y="119278"/>
                  <a:pt x="35462" y="119915"/>
                </a:cubicBezTo>
                <a:cubicBezTo>
                  <a:pt x="35998" y="120450"/>
                  <a:pt x="36768" y="120685"/>
                  <a:pt x="37203" y="120249"/>
                </a:cubicBezTo>
                <a:cubicBezTo>
                  <a:pt x="37639" y="119915"/>
                  <a:pt x="37538" y="119144"/>
                  <a:pt x="36969" y="118508"/>
                </a:cubicBezTo>
                <a:cubicBezTo>
                  <a:pt x="36433" y="117972"/>
                  <a:pt x="35663" y="117738"/>
                  <a:pt x="35228" y="118173"/>
                </a:cubicBezTo>
                <a:close/>
                <a:moveTo>
                  <a:pt x="31611" y="115461"/>
                </a:moveTo>
                <a:cubicBezTo>
                  <a:pt x="31377" y="115896"/>
                  <a:pt x="31712" y="116432"/>
                  <a:pt x="32381" y="116767"/>
                </a:cubicBezTo>
                <a:cubicBezTo>
                  <a:pt x="32917" y="117102"/>
                  <a:pt x="33587" y="117001"/>
                  <a:pt x="33821" y="116532"/>
                </a:cubicBezTo>
                <a:cubicBezTo>
                  <a:pt x="34056" y="116097"/>
                  <a:pt x="33721" y="115561"/>
                  <a:pt x="33051" y="115226"/>
                </a:cubicBezTo>
                <a:cubicBezTo>
                  <a:pt x="32381" y="115026"/>
                  <a:pt x="31845" y="115126"/>
                  <a:pt x="31611" y="115461"/>
                </a:cubicBezTo>
                <a:close/>
                <a:moveTo>
                  <a:pt x="42461" y="127382"/>
                </a:moveTo>
                <a:cubicBezTo>
                  <a:pt x="41925" y="127817"/>
                  <a:pt x="42126" y="128822"/>
                  <a:pt x="42896" y="129458"/>
                </a:cubicBezTo>
                <a:cubicBezTo>
                  <a:pt x="43666" y="130228"/>
                  <a:pt x="44637" y="130329"/>
                  <a:pt x="45073" y="129793"/>
                </a:cubicBezTo>
                <a:cubicBezTo>
                  <a:pt x="45508" y="129358"/>
                  <a:pt x="45307" y="128353"/>
                  <a:pt x="44637" y="127717"/>
                </a:cubicBezTo>
                <a:cubicBezTo>
                  <a:pt x="43901" y="126947"/>
                  <a:pt x="42896" y="126846"/>
                  <a:pt x="42461" y="127382"/>
                </a:cubicBezTo>
                <a:close/>
                <a:moveTo>
                  <a:pt x="38643" y="122460"/>
                </a:moveTo>
                <a:cubicBezTo>
                  <a:pt x="38107" y="122794"/>
                  <a:pt x="38107" y="123665"/>
                  <a:pt x="38643" y="124435"/>
                </a:cubicBezTo>
                <a:cubicBezTo>
                  <a:pt x="39179" y="125205"/>
                  <a:pt x="40083" y="125540"/>
                  <a:pt x="40518" y="125205"/>
                </a:cubicBezTo>
                <a:cubicBezTo>
                  <a:pt x="41054" y="124770"/>
                  <a:pt x="41054" y="123899"/>
                  <a:pt x="40518" y="123129"/>
                </a:cubicBezTo>
                <a:cubicBezTo>
                  <a:pt x="40050" y="122359"/>
                  <a:pt x="39179" y="122024"/>
                  <a:pt x="38643" y="12246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4"/>
          <p:cNvSpPr/>
          <p:nvPr/>
        </p:nvSpPr>
        <p:spPr>
          <a:xfrm>
            <a:off x="4717554" y="504825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github.com/Superagentsys/novalclaw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不是改良，是颠覆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2733675" cy="1914525"/>
          </a:xfrm>
          <a:custGeom>
            <a:avLst/>
            <a:gdLst/>
            <a:ahLst/>
            <a:cxnLst/>
            <a:rect l="l" t="t" r="r" b="b"/>
            <a:pathLst>
              <a:path w="2733675" h="191452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1838327"/>
                </a:lnTo>
                <a:cubicBezTo>
                  <a:pt x="2733675" y="1880410"/>
                  <a:pt x="2699560" y="1914525"/>
                  <a:pt x="2657477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590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747713" y="17430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7" name="Text 5"/>
          <p:cNvSpPr/>
          <p:nvPr/>
        </p:nvSpPr>
        <p:spPr>
          <a:xfrm>
            <a:off x="1228725" y="1571625"/>
            <a:ext cx="90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952625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257425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性能飞跃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1025" y="2600325"/>
            <a:ext cx="2419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纯 Rust 推理引擎，零 GC 停顿，亚毫秒级响应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81363" y="1376363"/>
            <a:ext cx="2733675" cy="1914525"/>
          </a:xfrm>
          <a:custGeom>
            <a:avLst/>
            <a:gdLst/>
            <a:ahLst/>
            <a:cxnLst/>
            <a:rect l="l" t="t" r="r" b="b"/>
            <a:pathLst>
              <a:path w="2733675" h="191452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1838327"/>
                </a:lnTo>
                <a:cubicBezTo>
                  <a:pt x="2733675" y="1880410"/>
                  <a:pt x="2699560" y="1914525"/>
                  <a:pt x="2657477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6625" y="1590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3600450" y="1743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0" y="114300"/>
                </a:moveTo>
                <a:cubicBezTo>
                  <a:pt x="0" y="74831"/>
                  <a:pt x="31968" y="42863"/>
                  <a:pt x="71438" y="42863"/>
                </a:cubicBezTo>
                <a:cubicBezTo>
                  <a:pt x="93940" y="42863"/>
                  <a:pt x="115104" y="53444"/>
                  <a:pt x="128588" y="71438"/>
                </a:cubicBezTo>
                <a:lnTo>
                  <a:pt x="142875" y="90502"/>
                </a:lnTo>
                <a:lnTo>
                  <a:pt x="157163" y="71438"/>
                </a:lnTo>
                <a:cubicBezTo>
                  <a:pt x="170646" y="53444"/>
                  <a:pt x="191810" y="42863"/>
                  <a:pt x="214313" y="42863"/>
                </a:cubicBezTo>
                <a:cubicBezTo>
                  <a:pt x="253782" y="42863"/>
                  <a:pt x="285750" y="74831"/>
                  <a:pt x="285750" y="114300"/>
                </a:cubicBezTo>
                <a:cubicBezTo>
                  <a:pt x="285750" y="153769"/>
                  <a:pt x="253782" y="185738"/>
                  <a:pt x="214313" y="185738"/>
                </a:cubicBezTo>
                <a:cubicBezTo>
                  <a:pt x="191810" y="185738"/>
                  <a:pt x="170646" y="175156"/>
                  <a:pt x="157163" y="157163"/>
                </a:cubicBezTo>
                <a:lnTo>
                  <a:pt x="142875" y="138098"/>
                </a:lnTo>
                <a:lnTo>
                  <a:pt x="128588" y="157163"/>
                </a:lnTo>
                <a:cubicBezTo>
                  <a:pt x="115104" y="175156"/>
                  <a:pt x="93940" y="185738"/>
                  <a:pt x="71438" y="185738"/>
                </a:cubicBezTo>
                <a:cubicBezTo>
                  <a:pt x="31968" y="185738"/>
                  <a:pt x="0" y="153769"/>
                  <a:pt x="0" y="114300"/>
                </a:cubicBezTo>
                <a:close/>
                <a:moveTo>
                  <a:pt x="125016" y="114300"/>
                </a:moveTo>
                <a:lnTo>
                  <a:pt x="105728" y="88583"/>
                </a:lnTo>
                <a:cubicBezTo>
                  <a:pt x="97646" y="77778"/>
                  <a:pt x="84921" y="71438"/>
                  <a:pt x="71438" y="71438"/>
                </a:cubicBezTo>
                <a:cubicBezTo>
                  <a:pt x="47774" y="71438"/>
                  <a:pt x="28575" y="90636"/>
                  <a:pt x="28575" y="114300"/>
                </a:cubicBezTo>
                <a:cubicBezTo>
                  <a:pt x="28575" y="137964"/>
                  <a:pt x="47774" y="157163"/>
                  <a:pt x="71438" y="157163"/>
                </a:cubicBezTo>
                <a:cubicBezTo>
                  <a:pt x="84921" y="157163"/>
                  <a:pt x="97646" y="150822"/>
                  <a:pt x="105728" y="140018"/>
                </a:cubicBezTo>
                <a:lnTo>
                  <a:pt x="125016" y="114300"/>
                </a:lnTo>
                <a:close/>
                <a:moveTo>
                  <a:pt x="160734" y="114300"/>
                </a:moveTo>
                <a:lnTo>
                  <a:pt x="180023" y="140018"/>
                </a:lnTo>
                <a:cubicBezTo>
                  <a:pt x="188104" y="150822"/>
                  <a:pt x="200829" y="157163"/>
                  <a:pt x="214313" y="157163"/>
                </a:cubicBezTo>
                <a:cubicBezTo>
                  <a:pt x="237976" y="157163"/>
                  <a:pt x="257175" y="137964"/>
                  <a:pt x="257175" y="114300"/>
                </a:cubicBezTo>
                <a:cubicBezTo>
                  <a:pt x="257175" y="90636"/>
                  <a:pt x="237976" y="71438"/>
                  <a:pt x="214313" y="71438"/>
                </a:cubicBezTo>
                <a:cubicBezTo>
                  <a:pt x="200829" y="71438"/>
                  <a:pt x="188104" y="77778"/>
                  <a:pt x="180023" y="88583"/>
                </a:cubicBezTo>
                <a:lnTo>
                  <a:pt x="160734" y="114300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4" name="Text 12"/>
          <p:cNvSpPr/>
          <p:nvPr/>
        </p:nvSpPr>
        <p:spPr>
          <a:xfrm>
            <a:off x="4124325" y="1571625"/>
            <a:ext cx="771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24325" y="195262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6625" y="2257425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超强记忆系统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6625" y="2600325"/>
            <a:ext cx="2419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三层记忆架构，百万 token 持久化存储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6963" y="1376363"/>
            <a:ext cx="2733675" cy="1914525"/>
          </a:xfrm>
          <a:custGeom>
            <a:avLst/>
            <a:gdLst/>
            <a:ahLst/>
            <a:cxnLst/>
            <a:rect l="l" t="t" r="r" b="b"/>
            <a:pathLst>
              <a:path w="2733675" h="191452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1838327"/>
                </a:lnTo>
                <a:cubicBezTo>
                  <a:pt x="2733675" y="1880410"/>
                  <a:pt x="2699560" y="1914525"/>
                  <a:pt x="2657477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2225" y="1590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4625" y="1743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7019925" y="1571625"/>
            <a:ext cx="43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19925" y="1952625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2225" y="2257425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2225" y="2600325"/>
            <a:ext cx="2419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 + 沙箱隔离，六层纵深防御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72563" y="1376363"/>
            <a:ext cx="2733675" cy="1914525"/>
          </a:xfrm>
          <a:custGeom>
            <a:avLst/>
            <a:gdLst/>
            <a:ahLst/>
            <a:cxnLst/>
            <a:rect l="l" t="t" r="r" b="b"/>
            <a:pathLst>
              <a:path w="2733675" h="191452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1838327"/>
                </a:lnTo>
                <a:cubicBezTo>
                  <a:pt x="2733675" y="1880410"/>
                  <a:pt x="2699560" y="1914525"/>
                  <a:pt x="2657477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7825" y="1590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9420225" y="1743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8" name="Text 26"/>
          <p:cNvSpPr/>
          <p:nvPr/>
        </p:nvSpPr>
        <p:spPr>
          <a:xfrm>
            <a:off x="9915525" y="1571625"/>
            <a:ext cx="733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15525" y="195262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MODALS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67825" y="2257425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原生多模态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67825" y="2600325"/>
            <a:ext cx="2419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文本/图像/语音/视频/代码/文档 统一融合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5763" y="3490913"/>
            <a:ext cx="11420475" cy="1152525"/>
          </a:xfrm>
          <a:custGeom>
            <a:avLst/>
            <a:gdLst/>
            <a:ahLst/>
            <a:cxnLst/>
            <a:rect l="l" t="t" r="r" b="b"/>
            <a:pathLst>
              <a:path w="11420475" h="1152525">
                <a:moveTo>
                  <a:pt x="76205" y="0"/>
                </a:moveTo>
                <a:lnTo>
                  <a:pt x="11344270" y="0"/>
                </a:lnTo>
                <a:cubicBezTo>
                  <a:pt x="11386357" y="0"/>
                  <a:pt x="11420475" y="34118"/>
                  <a:pt x="11420475" y="76205"/>
                </a:cubicBezTo>
                <a:lnTo>
                  <a:pt x="11420475" y="1076320"/>
                </a:lnTo>
                <a:cubicBezTo>
                  <a:pt x="11420475" y="1118407"/>
                  <a:pt x="11386357" y="1152525"/>
                  <a:pt x="113442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725" y="3686175"/>
            <a:ext cx="375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3ms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2925" y="4219575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冷启动时间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19575" y="3686175"/>
            <a:ext cx="375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95775" y="4219575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记忆召回准确率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72425" y="3686175"/>
            <a:ext cx="375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 1ms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48625" y="4219575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P99 延迟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POWERED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纯 Rust 构建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从推理引擎到网络层全部 Rust 原生实现。零成本抽象，无 GC 停顿。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3743325"/>
          </a:xfrm>
          <a:custGeom>
            <a:avLst/>
            <a:gdLst/>
            <a:ahLst/>
            <a:cxnLst/>
            <a:rect l="l" t="t" r="r" b="b"/>
            <a:pathLst>
              <a:path w="5610225" h="3743325">
                <a:moveTo>
                  <a:pt x="76214" y="0"/>
                </a:moveTo>
                <a:lnTo>
                  <a:pt x="5534011" y="0"/>
                </a:lnTo>
                <a:cubicBezTo>
                  <a:pt x="5576103" y="0"/>
                  <a:pt x="5610225" y="34122"/>
                  <a:pt x="5610225" y="76214"/>
                </a:cubicBezTo>
                <a:lnTo>
                  <a:pt x="5610225" y="3667111"/>
                </a:lnTo>
                <a:cubicBezTo>
                  <a:pt x="5610225" y="3709203"/>
                  <a:pt x="5576103" y="3743325"/>
                  <a:pt x="5534011" y="3743325"/>
                </a:cubicBezTo>
                <a:lnTo>
                  <a:pt x="76214" y="3743325"/>
                </a:lnTo>
                <a:cubicBezTo>
                  <a:pt x="34122" y="3743325"/>
                  <a:pt x="0" y="3709203"/>
                  <a:pt x="0" y="3667111"/>
                </a:cubicBezTo>
                <a:lnTo>
                  <a:pt x="0" y="76214"/>
                </a:lnTo>
                <a:cubicBezTo>
                  <a:pt x="0" y="34150"/>
                  <a:pt x="34150" y="0"/>
                  <a:pt x="76214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2925" y="1800225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性能对比</a:t>
            </a:r>
            <a:endParaRPr lang="en-US" sz="1600" dirty="0"/>
          </a:p>
        </p:txBody>
      </p:sp>
      <p:pic>
        <p:nvPicPr>
          <p:cNvPr id="7" name="Image 0" descr="https://kimi-img.moonshot.cn/pub/slides/26-03-05-00:51:44-d6k6684omnmd700pj2b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2925" y="2181225"/>
            <a:ext cx="529590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210300" y="16383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38100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6210300" y="1638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Shape 7"/>
          <p:cNvSpPr/>
          <p:nvPr/>
        </p:nvSpPr>
        <p:spPr>
          <a:xfrm>
            <a:off x="6405563" y="1828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8"/>
          <p:cNvSpPr/>
          <p:nvPr/>
        </p:nvSpPr>
        <p:spPr>
          <a:xfrm>
            <a:off x="6734175" y="179070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零拷贝数据管线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81750" y="21336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内存带宽利用率 &gt;95%，亚毫秒级延迟 P99 &lt; 1ms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0300" y="26289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38100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4" name="Shape 11"/>
          <p:cNvSpPr/>
          <p:nvPr/>
        </p:nvSpPr>
        <p:spPr>
          <a:xfrm>
            <a:off x="6210300" y="26289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Shape 12"/>
          <p:cNvSpPr/>
          <p:nvPr/>
        </p:nvSpPr>
        <p:spPr>
          <a:xfrm>
            <a:off x="6429375" y="2819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6734175" y="27813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Rust 所有权系统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81750" y="31242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编译期内存安全保障，彻底杜绝内存泄漏与数据竞争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10300" y="3619500"/>
            <a:ext cx="5600700" cy="876300"/>
          </a:xfrm>
          <a:custGeom>
            <a:avLst/>
            <a:gdLst/>
            <a:ahLst/>
            <a:cxnLst/>
            <a:rect l="l" t="t" r="r" b="b"/>
            <a:pathLst>
              <a:path w="5600700" h="876300">
                <a:moveTo>
                  <a:pt x="38100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800097"/>
                </a:lnTo>
                <a:cubicBezTo>
                  <a:pt x="5600700" y="842183"/>
                  <a:pt x="5566583" y="876300"/>
                  <a:pt x="55244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06B6D4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6210300" y="36195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Shape 17"/>
          <p:cNvSpPr/>
          <p:nvPr/>
        </p:nvSpPr>
        <p:spPr>
          <a:xfrm>
            <a:off x="6393656" y="3810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6734175" y="37719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Tokio 异步运行时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81750" y="4114800"/>
            <a:ext cx="535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百万级并发轻松应对，高吞吐量低延迟的企业级性能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1250" y="4610100"/>
            <a:ext cx="2752725" cy="762000"/>
          </a:xfrm>
          <a:custGeom>
            <a:avLst/>
            <a:gdLst/>
            <a:ahLst/>
            <a:cxnLst/>
            <a:rect l="l" t="t" r="r" b="b"/>
            <a:pathLst>
              <a:path w="2752725" h="762000">
                <a:moveTo>
                  <a:pt x="38100" y="0"/>
                </a:moveTo>
                <a:lnTo>
                  <a:pt x="2714625" y="0"/>
                </a:lnTo>
                <a:cubicBezTo>
                  <a:pt x="2735653" y="0"/>
                  <a:pt x="2752725" y="17072"/>
                  <a:pt x="2752725" y="38100"/>
                </a:cubicBezTo>
                <a:lnTo>
                  <a:pt x="2752725" y="723900"/>
                </a:lnTo>
                <a:cubicBezTo>
                  <a:pt x="2752725" y="744928"/>
                  <a:pt x="2735653" y="762000"/>
                  <a:pt x="27146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234113" y="47244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72213" y="506730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58275" y="4610100"/>
            <a:ext cx="2752725" cy="762000"/>
          </a:xfrm>
          <a:custGeom>
            <a:avLst/>
            <a:gdLst/>
            <a:ahLst/>
            <a:cxnLst/>
            <a:rect l="l" t="t" r="r" b="b"/>
            <a:pathLst>
              <a:path w="2752725" h="762000">
                <a:moveTo>
                  <a:pt x="38100" y="0"/>
                </a:moveTo>
                <a:lnTo>
                  <a:pt x="2714625" y="0"/>
                </a:lnTo>
                <a:cubicBezTo>
                  <a:pt x="2735653" y="0"/>
                  <a:pt x="2752725" y="17072"/>
                  <a:pt x="2752725" y="38100"/>
                </a:cubicBezTo>
                <a:lnTo>
                  <a:pt x="2752725" y="723900"/>
                </a:lnTo>
                <a:cubicBezTo>
                  <a:pt x="2752725" y="744928"/>
                  <a:pt x="2735653" y="762000"/>
                  <a:pt x="2714625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9101138" y="47244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17.6x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139238" y="506730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内存效率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超强记忆系统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三层分级记忆架构，99% 召回准确率，无限上下文窗口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76211" y="0"/>
                </a:moveTo>
                <a:lnTo>
                  <a:pt x="3619489" y="0"/>
                </a:lnTo>
                <a:cubicBezTo>
                  <a:pt x="3661579" y="0"/>
                  <a:pt x="3695700" y="34121"/>
                  <a:pt x="3695700" y="76211"/>
                </a:cubicBezTo>
                <a:lnTo>
                  <a:pt x="3695700" y="2219314"/>
                </a:lnTo>
                <a:cubicBezTo>
                  <a:pt x="3695700" y="2261404"/>
                  <a:pt x="3661579" y="2295525"/>
                  <a:pt x="3619489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54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857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726281" y="1990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1838325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工作记忆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525" y="214312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47725" y="24860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即时上下文处理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847725" y="2828925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超低延迟访问 &lt; 0.1ms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209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" y="31718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动态窗口管理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3552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847725" y="35147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注意力权重优化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1643063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76211" y="0"/>
                </a:moveTo>
                <a:lnTo>
                  <a:pt x="3619489" y="0"/>
                </a:lnTo>
                <a:cubicBezTo>
                  <a:pt x="3661579" y="0"/>
                  <a:pt x="3695700" y="34121"/>
                  <a:pt x="3695700" y="76211"/>
                </a:cubicBezTo>
                <a:lnTo>
                  <a:pt x="3695700" y="2219314"/>
                </a:lnTo>
                <a:cubicBezTo>
                  <a:pt x="3695700" y="2261404"/>
                  <a:pt x="3661579" y="2295525"/>
                  <a:pt x="3619489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54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41775" y="1857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87032" y="1990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5013275" y="1838325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13275" y="21431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60825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708475" y="24860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持久化存储机制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60825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8475" y="2828925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百万 token 容量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60825" y="3209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708475" y="31718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向量索引检索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60825" y="3552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08475" y="35147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自动知识整合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7338" y="1643063"/>
            <a:ext cx="3695700" cy="2295525"/>
          </a:xfrm>
          <a:custGeom>
            <a:avLst/>
            <a:gdLst/>
            <a:ahLst/>
            <a:cxnLst/>
            <a:rect l="l" t="t" r="r" b="b"/>
            <a:pathLst>
              <a:path w="3695700" h="2295525">
                <a:moveTo>
                  <a:pt x="76211" y="0"/>
                </a:moveTo>
                <a:lnTo>
                  <a:pt x="3619489" y="0"/>
                </a:lnTo>
                <a:cubicBezTo>
                  <a:pt x="3661579" y="0"/>
                  <a:pt x="3695700" y="34121"/>
                  <a:pt x="3695700" y="76211"/>
                </a:cubicBezTo>
                <a:lnTo>
                  <a:pt x="3695700" y="2219314"/>
                </a:lnTo>
                <a:cubicBezTo>
                  <a:pt x="3695700" y="2261404"/>
                  <a:pt x="3661579" y="2295525"/>
                  <a:pt x="3619489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54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02600" y="1857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Shape 31"/>
          <p:cNvSpPr/>
          <p:nvPr/>
        </p:nvSpPr>
        <p:spPr>
          <a:xfrm>
            <a:off x="8435950" y="1990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34" name="Text 32"/>
          <p:cNvSpPr/>
          <p:nvPr/>
        </p:nvSpPr>
        <p:spPr>
          <a:xfrm>
            <a:off x="8874100" y="1838325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语义记忆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74100" y="214312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MEMORY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21650" y="2524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569300" y="24860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知识图谱构建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21650" y="2867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8569300" y="28289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跨会话推理能力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1650" y="3209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569300" y="31718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概念关联映射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21650" y="3552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8569300" y="35147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语义相似度计算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4100513"/>
            <a:ext cx="2733675" cy="962025"/>
          </a:xfrm>
          <a:custGeom>
            <a:avLst/>
            <a:gdLst/>
            <a:ahLst/>
            <a:cxnLst/>
            <a:rect l="l" t="t" r="r" b="b"/>
            <a:pathLst>
              <a:path w="2733675" h="962025">
                <a:moveTo>
                  <a:pt x="76202" y="0"/>
                </a:moveTo>
                <a:lnTo>
                  <a:pt x="2657473" y="0"/>
                </a:lnTo>
                <a:cubicBezTo>
                  <a:pt x="2699530" y="0"/>
                  <a:pt x="2733675" y="34145"/>
                  <a:pt x="2733675" y="76202"/>
                </a:cubicBezTo>
                <a:lnTo>
                  <a:pt x="2733675" y="885823"/>
                </a:lnTo>
                <a:cubicBezTo>
                  <a:pt x="2733675" y="927880"/>
                  <a:pt x="2699530" y="962025"/>
                  <a:pt x="26574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25767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4825" y="46767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召回准确率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81363" y="4100513"/>
            <a:ext cx="2733675" cy="962025"/>
          </a:xfrm>
          <a:custGeom>
            <a:avLst/>
            <a:gdLst/>
            <a:ahLst/>
            <a:cxnLst/>
            <a:rect l="l" t="t" r="r" b="b"/>
            <a:pathLst>
              <a:path w="2733675" h="962025">
                <a:moveTo>
                  <a:pt x="76202" y="0"/>
                </a:moveTo>
                <a:lnTo>
                  <a:pt x="2657473" y="0"/>
                </a:lnTo>
                <a:cubicBezTo>
                  <a:pt x="2699530" y="0"/>
                  <a:pt x="2733675" y="34145"/>
                  <a:pt x="2733675" y="76202"/>
                </a:cubicBezTo>
                <a:lnTo>
                  <a:pt x="2733675" y="885823"/>
                </a:lnTo>
                <a:cubicBezTo>
                  <a:pt x="2733675" y="927880"/>
                  <a:pt x="2699530" y="962025"/>
                  <a:pt x="26574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52800" y="425767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400425" y="46767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963" y="4100513"/>
            <a:ext cx="2733675" cy="962025"/>
          </a:xfrm>
          <a:custGeom>
            <a:avLst/>
            <a:gdLst/>
            <a:ahLst/>
            <a:cxnLst/>
            <a:rect l="l" t="t" r="r" b="b"/>
            <a:pathLst>
              <a:path w="2733675" h="962025">
                <a:moveTo>
                  <a:pt x="76202" y="0"/>
                </a:moveTo>
                <a:lnTo>
                  <a:pt x="2657473" y="0"/>
                </a:lnTo>
                <a:cubicBezTo>
                  <a:pt x="2699530" y="0"/>
                  <a:pt x="2733675" y="34145"/>
                  <a:pt x="2733675" y="76202"/>
                </a:cubicBezTo>
                <a:lnTo>
                  <a:pt x="2733675" y="885823"/>
                </a:lnTo>
                <a:cubicBezTo>
                  <a:pt x="2733675" y="927880"/>
                  <a:pt x="2699530" y="962025"/>
                  <a:pt x="26574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48400" y="425767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&lt;0.1ms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96025" y="46767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访问延迟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72563" y="4100513"/>
            <a:ext cx="2733675" cy="962025"/>
          </a:xfrm>
          <a:custGeom>
            <a:avLst/>
            <a:gdLst/>
            <a:ahLst/>
            <a:cxnLst/>
            <a:rect l="l" t="t" r="r" b="b"/>
            <a:pathLst>
              <a:path w="2733675" h="962025">
                <a:moveTo>
                  <a:pt x="76202" y="0"/>
                </a:moveTo>
                <a:lnTo>
                  <a:pt x="2657473" y="0"/>
                </a:lnTo>
                <a:cubicBezTo>
                  <a:pt x="2699530" y="0"/>
                  <a:pt x="2733675" y="34145"/>
                  <a:pt x="2733675" y="76202"/>
                </a:cubicBezTo>
                <a:lnTo>
                  <a:pt x="2733675" y="885823"/>
                </a:lnTo>
                <a:cubicBezTo>
                  <a:pt x="2733675" y="927880"/>
                  <a:pt x="2699530" y="962025"/>
                  <a:pt x="2657473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0" y="4257675"/>
            <a:ext cx="259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1M+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191625" y="4676775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容量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PREDICTIVE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不只是响应，更是预见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融合记忆与多模态感知，从历史模式学习规律，在事件发生前给出预判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3714750" cy="1190625"/>
          </a:xfrm>
          <a:custGeom>
            <a:avLst/>
            <a:gdLst/>
            <a:ahLst/>
            <a:cxnLst/>
            <a:rect l="l" t="t" r="r" b="b"/>
            <a:pathLst>
              <a:path w="3714750" h="1190625">
                <a:moveTo>
                  <a:pt x="76200" y="0"/>
                </a:moveTo>
                <a:lnTo>
                  <a:pt x="3638550" y="0"/>
                </a:lnTo>
                <a:cubicBezTo>
                  <a:pt x="3680606" y="0"/>
                  <a:pt x="3714750" y="34144"/>
                  <a:pt x="3714750" y="76200"/>
                </a:cubicBezTo>
                <a:lnTo>
                  <a:pt x="3714750" y="1114425"/>
                </a:lnTo>
                <a:cubicBezTo>
                  <a:pt x="3714750" y="1156481"/>
                  <a:pt x="3680606" y="1190625"/>
                  <a:pt x="36385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819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时序模式识别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海量历史数据提取时间序列规律，亿级数据点实时匹配，基于多行业回测验证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27463" y="1643063"/>
            <a:ext cx="3714750" cy="1190625"/>
          </a:xfrm>
          <a:custGeom>
            <a:avLst/>
            <a:gdLst/>
            <a:ahLst/>
            <a:cxnLst/>
            <a:rect l="l" t="t" r="r" b="b"/>
            <a:pathLst>
              <a:path w="3714750" h="1190625">
                <a:moveTo>
                  <a:pt x="76200" y="0"/>
                </a:moveTo>
                <a:lnTo>
                  <a:pt x="3638550" y="0"/>
                </a:lnTo>
                <a:cubicBezTo>
                  <a:pt x="3680606" y="0"/>
                  <a:pt x="3714750" y="34144"/>
                  <a:pt x="3714750" y="76200"/>
                </a:cubicBezTo>
                <a:lnTo>
                  <a:pt x="3714750" y="1114425"/>
                </a:lnTo>
                <a:cubicBezTo>
                  <a:pt x="3714750" y="1156481"/>
                  <a:pt x="3680606" y="1190625"/>
                  <a:pt x="36385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3200" y="1819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784675" y="18002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多路径推演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4625" y="218122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同时推演多条未来路径，评估概率与影响，提供决策支持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2957513"/>
            <a:ext cx="3714750" cy="1190625"/>
          </a:xfrm>
          <a:custGeom>
            <a:avLst/>
            <a:gdLst/>
            <a:ahLst/>
            <a:cxnLst/>
            <a:rect l="l" t="t" r="r" b="b"/>
            <a:pathLst>
              <a:path w="3714750" h="1190625">
                <a:moveTo>
                  <a:pt x="76200" y="0"/>
                </a:moveTo>
                <a:lnTo>
                  <a:pt x="3638550" y="0"/>
                </a:lnTo>
                <a:cubicBezTo>
                  <a:pt x="3680606" y="0"/>
                  <a:pt x="3714750" y="34144"/>
                  <a:pt x="3714750" y="76200"/>
                </a:cubicBezTo>
                <a:lnTo>
                  <a:pt x="3714750" y="1114425"/>
                </a:lnTo>
                <a:cubicBezTo>
                  <a:pt x="3714750" y="1156481"/>
                  <a:pt x="3680606" y="1190625"/>
                  <a:pt x="36385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" y="3133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311467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弱信号捕捉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349567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多模态+记忆协同，捕捉传统分析遗漏的微弱信号，提前发现潜在风险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7463" y="2957513"/>
            <a:ext cx="3714750" cy="1190625"/>
          </a:xfrm>
          <a:custGeom>
            <a:avLst/>
            <a:gdLst/>
            <a:ahLst/>
            <a:cxnLst/>
            <a:rect l="l" t="t" r="r" b="b"/>
            <a:pathLst>
              <a:path w="3714750" h="1190625">
                <a:moveTo>
                  <a:pt x="76200" y="0"/>
                </a:moveTo>
                <a:lnTo>
                  <a:pt x="3638550" y="0"/>
                </a:lnTo>
                <a:cubicBezTo>
                  <a:pt x="3680606" y="0"/>
                  <a:pt x="3714750" y="34144"/>
                  <a:pt x="3714750" y="76200"/>
                </a:cubicBezTo>
                <a:lnTo>
                  <a:pt x="3714750" y="1114425"/>
                </a:lnTo>
                <a:cubicBezTo>
                  <a:pt x="3714750" y="1156481"/>
                  <a:pt x="3680606" y="1190625"/>
                  <a:pt x="3638550" y="1190625"/>
                </a:cubicBezTo>
                <a:lnTo>
                  <a:pt x="76200" y="1190625"/>
                </a:lnTo>
                <a:cubicBezTo>
                  <a:pt x="34144" y="1190625"/>
                  <a:pt x="0" y="1156481"/>
                  <a:pt x="0" y="11144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3200" y="31337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4784675" y="311467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因果推理引擎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4625" y="3495675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构建因果图谱，从根因推导走势，更准确可解释的预测结果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4271963"/>
            <a:ext cx="7562850" cy="1266825"/>
          </a:xfrm>
          <a:custGeom>
            <a:avLst/>
            <a:gdLst/>
            <a:ahLst/>
            <a:cxnLst/>
            <a:rect l="l" t="t" r="r" b="b"/>
            <a:pathLst>
              <a:path w="7562850" h="1266825">
                <a:moveTo>
                  <a:pt x="76200" y="0"/>
                </a:moveTo>
                <a:lnTo>
                  <a:pt x="7486650" y="0"/>
                </a:lnTo>
                <a:cubicBezTo>
                  <a:pt x="7528734" y="0"/>
                  <a:pt x="7562850" y="34116"/>
                  <a:pt x="7562850" y="76200"/>
                </a:cubicBezTo>
                <a:lnTo>
                  <a:pt x="7562850" y="1190625"/>
                </a:lnTo>
                <a:cubicBezTo>
                  <a:pt x="7562850" y="1232709"/>
                  <a:pt x="7528734" y="1266825"/>
                  <a:pt x="748665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738" y="4467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781050" y="4429125"/>
            <a:ext cx="710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预测准确率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925" y="4810125"/>
            <a:ext cx="20097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92.7%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423592" y="4886325"/>
            <a:ext cx="5362575" cy="152400"/>
          </a:xfrm>
          <a:custGeom>
            <a:avLst/>
            <a:gdLst/>
            <a:ahLst/>
            <a:cxnLst/>
            <a:rect l="l" t="t" r="r" b="b"/>
            <a:pathLst>
              <a:path w="5362575" h="152400">
                <a:moveTo>
                  <a:pt x="76200" y="0"/>
                </a:moveTo>
                <a:lnTo>
                  <a:pt x="5286375" y="0"/>
                </a:lnTo>
                <a:cubicBezTo>
                  <a:pt x="5328431" y="0"/>
                  <a:pt x="5362575" y="34144"/>
                  <a:pt x="5362575" y="76200"/>
                </a:cubicBezTo>
                <a:lnTo>
                  <a:pt x="5362575" y="76200"/>
                </a:lnTo>
                <a:cubicBezTo>
                  <a:pt x="5362575" y="118256"/>
                  <a:pt x="5328431" y="152400"/>
                  <a:pt x="5286375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23592" y="4886325"/>
            <a:ext cx="4972050" cy="152400"/>
          </a:xfrm>
          <a:custGeom>
            <a:avLst/>
            <a:gdLst/>
            <a:ahLst/>
            <a:cxnLst/>
            <a:rect l="l" t="t" r="r" b="b"/>
            <a:pathLst>
              <a:path w="4972050" h="152400">
                <a:moveTo>
                  <a:pt x="76200" y="0"/>
                </a:moveTo>
                <a:lnTo>
                  <a:pt x="4895850" y="0"/>
                </a:lnTo>
                <a:cubicBezTo>
                  <a:pt x="4937906" y="0"/>
                  <a:pt x="4972050" y="34144"/>
                  <a:pt x="4972050" y="76200"/>
                </a:cubicBezTo>
                <a:lnTo>
                  <a:pt x="4972050" y="76200"/>
                </a:lnTo>
                <a:cubicBezTo>
                  <a:pt x="4972050" y="118256"/>
                  <a:pt x="4937906" y="152400"/>
                  <a:pt x="489585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2423592" y="511492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基于多行业回测验证的综合预测准确率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7338" y="1643063"/>
            <a:ext cx="3695700" cy="942975"/>
          </a:xfrm>
          <a:custGeom>
            <a:avLst/>
            <a:gdLst/>
            <a:ahLst/>
            <a:cxnLst/>
            <a:rect l="l" t="t" r="r" b="b"/>
            <a:pathLst>
              <a:path w="3695700" h="942975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866773"/>
                </a:lnTo>
                <a:cubicBezTo>
                  <a:pt x="3695700" y="908858"/>
                  <a:pt x="3661583" y="942975"/>
                  <a:pt x="36194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8313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8616925" y="180022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64500" y="21812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提前72h预警市场异动，量化策略回测优化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07338" y="2709863"/>
            <a:ext cx="3695700" cy="942975"/>
          </a:xfrm>
          <a:custGeom>
            <a:avLst/>
            <a:gdLst/>
            <a:ahLst/>
            <a:cxnLst/>
            <a:rect l="l" t="t" r="r" b="b"/>
            <a:pathLst>
              <a:path w="3695700" h="942975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866773"/>
                </a:lnTo>
                <a:cubicBezTo>
                  <a:pt x="3695700" y="908858"/>
                  <a:pt x="3661583" y="942975"/>
                  <a:pt x="36194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8313" y="2905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8616925" y="286702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64500" y="32480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预判攻击路径，提前防御，7x24h威胁监测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07338" y="3776662"/>
            <a:ext cx="3695700" cy="942975"/>
          </a:xfrm>
          <a:custGeom>
            <a:avLst/>
            <a:gdLst/>
            <a:ahLst/>
            <a:cxnLst/>
            <a:rect l="l" t="t" r="r" b="b"/>
            <a:pathLst>
              <a:path w="3695700" h="942975">
                <a:moveTo>
                  <a:pt x="76202" y="0"/>
                </a:moveTo>
                <a:lnTo>
                  <a:pt x="3619498" y="0"/>
                </a:lnTo>
                <a:cubicBezTo>
                  <a:pt x="3661583" y="0"/>
                  <a:pt x="3695700" y="34117"/>
                  <a:pt x="3695700" y="76202"/>
                </a:cubicBezTo>
                <a:lnTo>
                  <a:pt x="3695700" y="866773"/>
                </a:lnTo>
                <a:cubicBezTo>
                  <a:pt x="3695700" y="908858"/>
                  <a:pt x="3661583" y="942975"/>
                  <a:pt x="36194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88313" y="3971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8616925" y="3933825"/>
            <a:ext cx="428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陪护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64500" y="4314825"/>
            <a:ext cx="3457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感知情绪变化，主动关怀，个性化陪伴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MULTIMODAL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原生多模态引擎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六大模态原生融合，统一推理管线，跨模态零损耗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1800225" cy="1457325"/>
          </a:xfrm>
          <a:custGeom>
            <a:avLst/>
            <a:gdLst/>
            <a:ahLst/>
            <a:cxnLst/>
            <a:rect l="l" t="t" r="r" b="b"/>
            <a:pathLst>
              <a:path w="1800225" h="1457325">
                <a:moveTo>
                  <a:pt x="76204" y="0"/>
                </a:moveTo>
                <a:lnTo>
                  <a:pt x="1724021" y="0"/>
                </a:lnTo>
                <a:cubicBezTo>
                  <a:pt x="1766108" y="0"/>
                  <a:pt x="1800225" y="34117"/>
                  <a:pt x="1800225" y="76204"/>
                </a:cubicBezTo>
                <a:lnTo>
                  <a:pt x="1800225" y="1381121"/>
                </a:lnTo>
                <a:cubicBezTo>
                  <a:pt x="1800225" y="1423208"/>
                  <a:pt x="1766108" y="1457325"/>
                  <a:pt x="172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54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1171575" y="1952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8" name="Text 6"/>
          <p:cNvSpPr/>
          <p:nvPr/>
        </p:nvSpPr>
        <p:spPr>
          <a:xfrm>
            <a:off x="500063" y="24479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9587" y="27527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NLU 与生成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09813" y="1643063"/>
            <a:ext cx="1800225" cy="1457325"/>
          </a:xfrm>
          <a:custGeom>
            <a:avLst/>
            <a:gdLst/>
            <a:ahLst/>
            <a:cxnLst/>
            <a:rect l="l" t="t" r="r" b="b"/>
            <a:pathLst>
              <a:path w="1800225" h="1457325">
                <a:moveTo>
                  <a:pt x="76204" y="0"/>
                </a:moveTo>
                <a:lnTo>
                  <a:pt x="1724021" y="0"/>
                </a:lnTo>
                <a:cubicBezTo>
                  <a:pt x="1766108" y="0"/>
                  <a:pt x="1800225" y="34117"/>
                  <a:pt x="1800225" y="76204"/>
                </a:cubicBezTo>
                <a:lnTo>
                  <a:pt x="1800225" y="1381121"/>
                </a:lnTo>
                <a:cubicBezTo>
                  <a:pt x="1800225" y="1423208"/>
                  <a:pt x="1766108" y="1457325"/>
                  <a:pt x="172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54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322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9913" y="1952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3" name="Text 11"/>
          <p:cNvSpPr/>
          <p:nvPr/>
        </p:nvSpPr>
        <p:spPr>
          <a:xfrm>
            <a:off x="2424113" y="24479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33638" y="27527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视觉识别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33863" y="1643063"/>
            <a:ext cx="1800225" cy="1457325"/>
          </a:xfrm>
          <a:custGeom>
            <a:avLst/>
            <a:gdLst/>
            <a:ahLst/>
            <a:cxnLst/>
            <a:rect l="l" t="t" r="r" b="b"/>
            <a:pathLst>
              <a:path w="1800225" h="1457325">
                <a:moveTo>
                  <a:pt x="76204" y="0"/>
                </a:moveTo>
                <a:lnTo>
                  <a:pt x="1724021" y="0"/>
                </a:lnTo>
                <a:cubicBezTo>
                  <a:pt x="1766108" y="0"/>
                  <a:pt x="1800225" y="34117"/>
                  <a:pt x="1800225" y="76204"/>
                </a:cubicBezTo>
                <a:lnTo>
                  <a:pt x="1800225" y="1381121"/>
                </a:lnTo>
                <a:cubicBezTo>
                  <a:pt x="1800225" y="1423208"/>
                  <a:pt x="1766108" y="1457325"/>
                  <a:pt x="172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54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727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48250" y="19526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8" name="Text 16"/>
          <p:cNvSpPr/>
          <p:nvPr/>
        </p:nvSpPr>
        <p:spPr>
          <a:xfrm>
            <a:off x="4348163" y="24479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57688" y="27527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ASR / TTS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57913" y="1643063"/>
            <a:ext cx="1800225" cy="1457325"/>
          </a:xfrm>
          <a:custGeom>
            <a:avLst/>
            <a:gdLst/>
            <a:ahLst/>
            <a:cxnLst/>
            <a:rect l="l" t="t" r="r" b="b"/>
            <a:pathLst>
              <a:path w="1800225" h="1457325">
                <a:moveTo>
                  <a:pt x="76204" y="0"/>
                </a:moveTo>
                <a:lnTo>
                  <a:pt x="1724021" y="0"/>
                </a:lnTo>
                <a:cubicBezTo>
                  <a:pt x="1766108" y="0"/>
                  <a:pt x="1800225" y="34117"/>
                  <a:pt x="1800225" y="76204"/>
                </a:cubicBezTo>
                <a:lnTo>
                  <a:pt x="1800225" y="1381121"/>
                </a:lnTo>
                <a:cubicBezTo>
                  <a:pt x="1800225" y="1423208"/>
                  <a:pt x="1766108" y="1457325"/>
                  <a:pt x="172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54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132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929438" y="19526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3" name="Text 21"/>
          <p:cNvSpPr/>
          <p:nvPr/>
        </p:nvSpPr>
        <p:spPr>
          <a:xfrm>
            <a:off x="6272213" y="24479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视频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81738" y="27527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内容分析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81962" y="1643063"/>
            <a:ext cx="1800225" cy="1457325"/>
          </a:xfrm>
          <a:custGeom>
            <a:avLst/>
            <a:gdLst/>
            <a:ahLst/>
            <a:cxnLst/>
            <a:rect l="l" t="t" r="r" b="b"/>
            <a:pathLst>
              <a:path w="1800225" h="1457325">
                <a:moveTo>
                  <a:pt x="76204" y="0"/>
                </a:moveTo>
                <a:lnTo>
                  <a:pt x="1724021" y="0"/>
                </a:lnTo>
                <a:cubicBezTo>
                  <a:pt x="1766108" y="0"/>
                  <a:pt x="1800225" y="34117"/>
                  <a:pt x="1800225" y="76204"/>
                </a:cubicBezTo>
                <a:lnTo>
                  <a:pt x="1800225" y="1381121"/>
                </a:lnTo>
                <a:cubicBezTo>
                  <a:pt x="1800225" y="1423208"/>
                  <a:pt x="1766108" y="1457325"/>
                  <a:pt x="172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54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1537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853488" y="19526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8" name="Text 26"/>
          <p:cNvSpPr/>
          <p:nvPr/>
        </p:nvSpPr>
        <p:spPr>
          <a:xfrm>
            <a:off x="8196262" y="24479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05788" y="27527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多语言推理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06013" y="1643063"/>
            <a:ext cx="1800225" cy="1457325"/>
          </a:xfrm>
          <a:custGeom>
            <a:avLst/>
            <a:gdLst/>
            <a:ahLst/>
            <a:cxnLst/>
            <a:rect l="l" t="t" r="r" b="b"/>
            <a:pathLst>
              <a:path w="1800225" h="1457325">
                <a:moveTo>
                  <a:pt x="76204" y="0"/>
                </a:moveTo>
                <a:lnTo>
                  <a:pt x="1724021" y="0"/>
                </a:lnTo>
                <a:cubicBezTo>
                  <a:pt x="1766108" y="0"/>
                  <a:pt x="1800225" y="34117"/>
                  <a:pt x="1800225" y="76204"/>
                </a:cubicBezTo>
                <a:lnTo>
                  <a:pt x="1800225" y="1381121"/>
                </a:lnTo>
                <a:cubicBezTo>
                  <a:pt x="1800225" y="1423208"/>
                  <a:pt x="1766108" y="1457325"/>
                  <a:pt x="172402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54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39425" y="18002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20400" y="19526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33" name="Text 31"/>
          <p:cNvSpPr/>
          <p:nvPr/>
        </p:nvSpPr>
        <p:spPr>
          <a:xfrm>
            <a:off x="10120313" y="2447925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29838" y="275272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结构化解析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3262313"/>
            <a:ext cx="3695700" cy="1457325"/>
          </a:xfrm>
          <a:custGeom>
            <a:avLst/>
            <a:gdLst/>
            <a:ahLst/>
            <a:cxnLst/>
            <a:rect l="l" t="t" r="r" b="b"/>
            <a:pathLst>
              <a:path w="3695700" h="1457325">
                <a:moveTo>
                  <a:pt x="76204" y="0"/>
                </a:moveTo>
                <a:lnTo>
                  <a:pt x="3619496" y="0"/>
                </a:lnTo>
                <a:cubicBezTo>
                  <a:pt x="3661583" y="0"/>
                  <a:pt x="3695700" y="34117"/>
                  <a:pt x="3695700" y="76204"/>
                </a:cubicBezTo>
                <a:lnTo>
                  <a:pt x="3695700" y="1381121"/>
                </a:lnTo>
                <a:cubicBezTo>
                  <a:pt x="3695700" y="1423208"/>
                  <a:pt x="3661583" y="1457325"/>
                  <a:pt x="3619496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725" y="3457575"/>
            <a:ext cx="353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8163" y="399097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统一推理管线架构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2925" y="429577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跨模态零损耗融合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46513" y="3262313"/>
            <a:ext cx="3695700" cy="1457325"/>
          </a:xfrm>
          <a:custGeom>
            <a:avLst/>
            <a:gdLst/>
            <a:ahLst/>
            <a:cxnLst/>
            <a:rect l="l" t="t" r="r" b="b"/>
            <a:pathLst>
              <a:path w="3695700" h="1457325">
                <a:moveTo>
                  <a:pt x="76204" y="0"/>
                </a:moveTo>
                <a:lnTo>
                  <a:pt x="3619496" y="0"/>
                </a:lnTo>
                <a:cubicBezTo>
                  <a:pt x="3661583" y="0"/>
                  <a:pt x="3695700" y="34117"/>
                  <a:pt x="3695700" y="76204"/>
                </a:cubicBezTo>
                <a:lnTo>
                  <a:pt x="3695700" y="1381121"/>
                </a:lnTo>
                <a:cubicBezTo>
                  <a:pt x="3695700" y="1423208"/>
                  <a:pt x="3661583" y="1457325"/>
                  <a:pt x="3619496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27475" y="3457575"/>
            <a:ext cx="353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98913" y="399097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多模态融合推理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03675" y="429577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毫秒级跨模态切换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7338" y="3262313"/>
            <a:ext cx="3695700" cy="1457325"/>
          </a:xfrm>
          <a:custGeom>
            <a:avLst/>
            <a:gdLst/>
            <a:ahLst/>
            <a:cxnLst/>
            <a:rect l="l" t="t" r="r" b="b"/>
            <a:pathLst>
              <a:path w="3695700" h="1457325">
                <a:moveTo>
                  <a:pt x="76204" y="0"/>
                </a:moveTo>
                <a:lnTo>
                  <a:pt x="3619496" y="0"/>
                </a:lnTo>
                <a:cubicBezTo>
                  <a:pt x="3661583" y="0"/>
                  <a:pt x="3695700" y="34117"/>
                  <a:pt x="3695700" y="76204"/>
                </a:cubicBezTo>
                <a:lnTo>
                  <a:pt x="3695700" y="1381121"/>
                </a:lnTo>
                <a:cubicBezTo>
                  <a:pt x="3695700" y="1423208"/>
                  <a:pt x="3661583" y="1457325"/>
                  <a:pt x="3619496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88300" y="3457575"/>
            <a:ext cx="353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9738" y="3990975"/>
            <a:ext cx="339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跨模态切换损耗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64500" y="429577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原生一体化设计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4881563"/>
            <a:ext cx="11420475" cy="771525"/>
          </a:xfrm>
          <a:custGeom>
            <a:avLst/>
            <a:gdLst/>
            <a:ahLst/>
            <a:cxnLst/>
            <a:rect l="l" t="t" r="r" b="b"/>
            <a:pathLst>
              <a:path w="11420475" h="771525">
                <a:moveTo>
                  <a:pt x="76204" y="0"/>
                </a:moveTo>
                <a:lnTo>
                  <a:pt x="11344271" y="0"/>
                </a:lnTo>
                <a:cubicBezTo>
                  <a:pt x="11386358" y="0"/>
                  <a:pt x="11420475" y="34117"/>
                  <a:pt x="11420475" y="76204"/>
                </a:cubicBezTo>
                <a:lnTo>
                  <a:pt x="11420475" y="695321"/>
                </a:lnTo>
                <a:cubicBezTo>
                  <a:pt x="11420475" y="737408"/>
                  <a:pt x="11386358" y="771525"/>
                  <a:pt x="113442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34393" y="51530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9" name="Text 47"/>
          <p:cNvSpPr/>
          <p:nvPr/>
        </p:nvSpPr>
        <p:spPr>
          <a:xfrm>
            <a:off x="1691580" y="503872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原生融合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691580" y="53054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非插件式架构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89040" y="50768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Shape 50"/>
          <p:cNvSpPr/>
          <p:nvPr/>
        </p:nvSpPr>
        <p:spPr>
          <a:xfrm>
            <a:off x="5524426" y="515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5895901" y="503872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统一表征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95901" y="53054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共享语义空间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93360" y="50768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Shape 54"/>
          <p:cNvSpPr/>
          <p:nvPr/>
        </p:nvSpPr>
        <p:spPr>
          <a:xfrm>
            <a:off x="9728746" y="5153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7" name="Text 55"/>
          <p:cNvSpPr/>
          <p:nvPr/>
        </p:nvSpPr>
        <p:spPr>
          <a:xfrm>
            <a:off x="10100221" y="503872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动态路由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00221" y="530542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智能模态选择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spc="57" kern="0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企业级安全防护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151717"/>
            <a:ext cx="1155315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安全是 NovalClaw 的基因，Rust 内存安全 + 六层纵深防御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410" y="1552118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874" y="170058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Shape 5"/>
          <p:cNvSpPr/>
          <p:nvPr/>
        </p:nvSpPr>
        <p:spPr>
          <a:xfrm>
            <a:off x="634344" y="1799557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40490" y="30368"/>
                </a:moveTo>
                <a:lnTo>
                  <a:pt x="40490" y="50613"/>
                </a:lnTo>
                <a:lnTo>
                  <a:pt x="80980" y="50613"/>
                </a:lnTo>
                <a:lnTo>
                  <a:pt x="80980" y="30368"/>
                </a:lnTo>
                <a:cubicBezTo>
                  <a:pt x="80980" y="19201"/>
                  <a:pt x="71901" y="10123"/>
                  <a:pt x="60735" y="10123"/>
                </a:cubicBezTo>
                <a:cubicBezTo>
                  <a:pt x="49569" y="10123"/>
                  <a:pt x="40490" y="19201"/>
                  <a:pt x="40490" y="30368"/>
                </a:cubicBezTo>
                <a:close/>
                <a:moveTo>
                  <a:pt x="20245" y="50613"/>
                </a:moveTo>
                <a:lnTo>
                  <a:pt x="20245" y="30368"/>
                </a:lnTo>
                <a:cubicBezTo>
                  <a:pt x="20245" y="8003"/>
                  <a:pt x="38371" y="-10123"/>
                  <a:pt x="60735" y="-10123"/>
                </a:cubicBezTo>
                <a:cubicBezTo>
                  <a:pt x="83099" y="-10123"/>
                  <a:pt x="101225" y="8003"/>
                  <a:pt x="101225" y="30368"/>
                </a:cubicBezTo>
                <a:lnTo>
                  <a:pt x="101225" y="50613"/>
                </a:lnTo>
                <a:cubicBezTo>
                  <a:pt x="112391" y="50613"/>
                  <a:pt x="121470" y="59691"/>
                  <a:pt x="121470" y="70858"/>
                </a:cubicBezTo>
                <a:lnTo>
                  <a:pt x="121470" y="141715"/>
                </a:lnTo>
                <a:cubicBezTo>
                  <a:pt x="121470" y="152882"/>
                  <a:pt x="112391" y="161960"/>
                  <a:pt x="101225" y="161960"/>
                </a:cubicBezTo>
                <a:lnTo>
                  <a:pt x="20245" y="161960"/>
                </a:lnTo>
                <a:cubicBezTo>
                  <a:pt x="9079" y="161960"/>
                  <a:pt x="0" y="152882"/>
                  <a:pt x="0" y="141715"/>
                </a:cubicBezTo>
                <a:lnTo>
                  <a:pt x="0" y="70858"/>
                </a:lnTo>
                <a:cubicBezTo>
                  <a:pt x="0" y="59691"/>
                  <a:pt x="9079" y="50613"/>
                  <a:pt x="20245" y="506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980759" y="1754568"/>
            <a:ext cx="125969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874" y="2168466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编译期安全，彻底杜绝内存漏洞，历史零 CVE 记录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4410" y="2667844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874" y="281630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099" y="2915283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80158" y="917"/>
                </a:moveTo>
                <a:cubicBezTo>
                  <a:pt x="78829" y="316"/>
                  <a:pt x="77406" y="0"/>
                  <a:pt x="75919" y="0"/>
                </a:cubicBezTo>
                <a:cubicBezTo>
                  <a:pt x="74432" y="0"/>
                  <a:pt x="73009" y="316"/>
                  <a:pt x="71680" y="917"/>
                </a:cubicBezTo>
                <a:lnTo>
                  <a:pt x="12115" y="26192"/>
                </a:lnTo>
                <a:cubicBezTo>
                  <a:pt x="5156" y="29134"/>
                  <a:pt x="-32" y="35998"/>
                  <a:pt x="0" y="44286"/>
                </a:cubicBezTo>
                <a:cubicBezTo>
                  <a:pt x="158" y="75666"/>
                  <a:pt x="13064" y="133079"/>
                  <a:pt x="67568" y="159176"/>
                </a:cubicBezTo>
                <a:cubicBezTo>
                  <a:pt x="72850" y="161707"/>
                  <a:pt x="78987" y="161707"/>
                  <a:pt x="84270" y="159176"/>
                </a:cubicBezTo>
                <a:cubicBezTo>
                  <a:pt x="138805" y="133079"/>
                  <a:pt x="151711" y="75666"/>
                  <a:pt x="151838" y="44286"/>
                </a:cubicBezTo>
                <a:cubicBezTo>
                  <a:pt x="151869" y="35998"/>
                  <a:pt x="146681" y="29134"/>
                  <a:pt x="139722" y="26192"/>
                </a:cubicBezTo>
                <a:lnTo>
                  <a:pt x="80158" y="917"/>
                </a:lnTo>
                <a:close/>
                <a:moveTo>
                  <a:pt x="75919" y="40490"/>
                </a:moveTo>
                <a:cubicBezTo>
                  <a:pt x="80126" y="40490"/>
                  <a:pt x="83511" y="43875"/>
                  <a:pt x="83511" y="48082"/>
                </a:cubicBezTo>
                <a:cubicBezTo>
                  <a:pt x="83511" y="55326"/>
                  <a:pt x="92273" y="58964"/>
                  <a:pt x="97398" y="53839"/>
                </a:cubicBezTo>
                <a:cubicBezTo>
                  <a:pt x="100371" y="50866"/>
                  <a:pt x="105179" y="50866"/>
                  <a:pt x="108121" y="53839"/>
                </a:cubicBezTo>
                <a:cubicBezTo>
                  <a:pt x="111063" y="56813"/>
                  <a:pt x="111095" y="61621"/>
                  <a:pt x="108121" y="64563"/>
                </a:cubicBezTo>
                <a:cubicBezTo>
                  <a:pt x="102997" y="69687"/>
                  <a:pt x="106634" y="78449"/>
                  <a:pt x="113878" y="78449"/>
                </a:cubicBezTo>
                <a:cubicBezTo>
                  <a:pt x="118085" y="78449"/>
                  <a:pt x="121470" y="81834"/>
                  <a:pt x="121470" y="86041"/>
                </a:cubicBezTo>
                <a:cubicBezTo>
                  <a:pt x="121470" y="90248"/>
                  <a:pt x="118085" y="93633"/>
                  <a:pt x="113878" y="93633"/>
                </a:cubicBezTo>
                <a:cubicBezTo>
                  <a:pt x="106634" y="93633"/>
                  <a:pt x="102997" y="102396"/>
                  <a:pt x="108121" y="107520"/>
                </a:cubicBezTo>
                <a:cubicBezTo>
                  <a:pt x="111095" y="110494"/>
                  <a:pt x="111095" y="115302"/>
                  <a:pt x="108121" y="118244"/>
                </a:cubicBezTo>
                <a:cubicBezTo>
                  <a:pt x="105148" y="121185"/>
                  <a:pt x="100339" y="121217"/>
                  <a:pt x="97398" y="118244"/>
                </a:cubicBezTo>
                <a:cubicBezTo>
                  <a:pt x="92273" y="113119"/>
                  <a:pt x="83511" y="116757"/>
                  <a:pt x="83511" y="124001"/>
                </a:cubicBezTo>
                <a:cubicBezTo>
                  <a:pt x="83511" y="128208"/>
                  <a:pt x="80126" y="131593"/>
                  <a:pt x="75919" y="131593"/>
                </a:cubicBezTo>
                <a:cubicBezTo>
                  <a:pt x="71712" y="131593"/>
                  <a:pt x="68327" y="128208"/>
                  <a:pt x="68327" y="124001"/>
                </a:cubicBezTo>
                <a:cubicBezTo>
                  <a:pt x="68327" y="116757"/>
                  <a:pt x="59565" y="113119"/>
                  <a:pt x="54440" y="118244"/>
                </a:cubicBezTo>
                <a:cubicBezTo>
                  <a:pt x="51467" y="121217"/>
                  <a:pt x="46658" y="121217"/>
                  <a:pt x="43717" y="118244"/>
                </a:cubicBezTo>
                <a:cubicBezTo>
                  <a:pt x="40775" y="115270"/>
                  <a:pt x="40743" y="110462"/>
                  <a:pt x="43717" y="107520"/>
                </a:cubicBezTo>
                <a:cubicBezTo>
                  <a:pt x="48841" y="102396"/>
                  <a:pt x="45203" y="93633"/>
                  <a:pt x="37959" y="93633"/>
                </a:cubicBezTo>
                <a:cubicBezTo>
                  <a:pt x="33752" y="93633"/>
                  <a:pt x="30368" y="90248"/>
                  <a:pt x="30368" y="86041"/>
                </a:cubicBezTo>
                <a:cubicBezTo>
                  <a:pt x="30368" y="81834"/>
                  <a:pt x="33752" y="78449"/>
                  <a:pt x="37959" y="78449"/>
                </a:cubicBezTo>
                <a:cubicBezTo>
                  <a:pt x="45203" y="78449"/>
                  <a:pt x="48841" y="69687"/>
                  <a:pt x="43717" y="64563"/>
                </a:cubicBezTo>
                <a:cubicBezTo>
                  <a:pt x="40743" y="61589"/>
                  <a:pt x="40743" y="56781"/>
                  <a:pt x="43717" y="53839"/>
                </a:cubicBezTo>
                <a:cubicBezTo>
                  <a:pt x="46690" y="50897"/>
                  <a:pt x="51498" y="50866"/>
                  <a:pt x="54440" y="53839"/>
                </a:cubicBezTo>
                <a:cubicBezTo>
                  <a:pt x="59565" y="58964"/>
                  <a:pt x="68327" y="55326"/>
                  <a:pt x="68327" y="48082"/>
                </a:cubicBezTo>
                <a:cubicBezTo>
                  <a:pt x="68327" y="43875"/>
                  <a:pt x="71712" y="40490"/>
                  <a:pt x="75919" y="40490"/>
                </a:cubicBezTo>
                <a:close/>
                <a:moveTo>
                  <a:pt x="65796" y="83511"/>
                </a:moveTo>
                <a:cubicBezTo>
                  <a:pt x="69986" y="83511"/>
                  <a:pt x="73388" y="80109"/>
                  <a:pt x="73388" y="75919"/>
                </a:cubicBezTo>
                <a:cubicBezTo>
                  <a:pt x="73388" y="71729"/>
                  <a:pt x="69986" y="68327"/>
                  <a:pt x="65796" y="68327"/>
                </a:cubicBezTo>
                <a:cubicBezTo>
                  <a:pt x="61606" y="68327"/>
                  <a:pt x="58204" y="71729"/>
                  <a:pt x="58204" y="75919"/>
                </a:cubicBezTo>
                <a:cubicBezTo>
                  <a:pt x="58204" y="80109"/>
                  <a:pt x="61606" y="83511"/>
                  <a:pt x="65796" y="83511"/>
                </a:cubicBezTo>
                <a:close/>
                <a:moveTo>
                  <a:pt x="93633" y="96164"/>
                </a:moveTo>
                <a:cubicBezTo>
                  <a:pt x="93633" y="91974"/>
                  <a:pt x="90231" y="88572"/>
                  <a:pt x="86041" y="88572"/>
                </a:cubicBezTo>
                <a:cubicBezTo>
                  <a:pt x="81851" y="88572"/>
                  <a:pt x="78449" y="91974"/>
                  <a:pt x="78449" y="96164"/>
                </a:cubicBezTo>
                <a:cubicBezTo>
                  <a:pt x="78449" y="100354"/>
                  <a:pt x="81851" y="103756"/>
                  <a:pt x="86041" y="103756"/>
                </a:cubicBezTo>
                <a:cubicBezTo>
                  <a:pt x="90231" y="103756"/>
                  <a:pt x="93633" y="100354"/>
                  <a:pt x="93633" y="961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980759" y="2870294"/>
            <a:ext cx="149363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注入防护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874" y="3284192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多层过滤检测恶意输入，实时识别并阻断攻击尝试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4410" y="3783569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874" y="393203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221" y="4031008"/>
            <a:ext cx="141715" cy="161960"/>
          </a:xfrm>
          <a:custGeom>
            <a:avLst/>
            <a:gdLst/>
            <a:ahLst/>
            <a:cxnLst/>
            <a:rect l="l" t="t" r="r" b="b"/>
            <a:pathLst>
              <a:path w="141715" h="161960">
                <a:moveTo>
                  <a:pt x="116852" y="40490"/>
                </a:moveTo>
                <a:lnTo>
                  <a:pt x="106002" y="25306"/>
                </a:lnTo>
                <a:lnTo>
                  <a:pt x="35745" y="25306"/>
                </a:lnTo>
                <a:lnTo>
                  <a:pt x="24895" y="40490"/>
                </a:lnTo>
                <a:lnTo>
                  <a:pt x="116852" y="40490"/>
                </a:lnTo>
                <a:close/>
                <a:moveTo>
                  <a:pt x="0" y="46975"/>
                </a:moveTo>
                <a:cubicBezTo>
                  <a:pt x="0" y="42768"/>
                  <a:pt x="1329" y="38655"/>
                  <a:pt x="3764" y="35207"/>
                </a:cubicBezTo>
                <a:lnTo>
                  <a:pt x="19264" y="13539"/>
                </a:lnTo>
                <a:cubicBezTo>
                  <a:pt x="23060" y="8225"/>
                  <a:pt x="29197" y="5061"/>
                  <a:pt x="35713" y="5061"/>
                </a:cubicBezTo>
                <a:lnTo>
                  <a:pt x="105970" y="5061"/>
                </a:lnTo>
                <a:cubicBezTo>
                  <a:pt x="112518" y="5061"/>
                  <a:pt x="118655" y="8225"/>
                  <a:pt x="122451" y="13539"/>
                </a:cubicBezTo>
                <a:lnTo>
                  <a:pt x="137919" y="35207"/>
                </a:lnTo>
                <a:cubicBezTo>
                  <a:pt x="140387" y="38655"/>
                  <a:pt x="141683" y="42768"/>
                  <a:pt x="141683" y="46975"/>
                </a:cubicBezTo>
                <a:lnTo>
                  <a:pt x="141715" y="131593"/>
                </a:lnTo>
                <a:cubicBezTo>
                  <a:pt x="141715" y="142759"/>
                  <a:pt x="132637" y="151838"/>
                  <a:pt x="121470" y="151838"/>
                </a:cubicBezTo>
                <a:lnTo>
                  <a:pt x="20245" y="151838"/>
                </a:lnTo>
                <a:cubicBezTo>
                  <a:pt x="9079" y="151838"/>
                  <a:pt x="0" y="142759"/>
                  <a:pt x="0" y="131593"/>
                </a:cubicBezTo>
                <a:lnTo>
                  <a:pt x="0" y="4697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980759" y="3986019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数据沙箱隔离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874" y="4399917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智能体独立沙箱运行，数据隔离保护，防止横向渗透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4410" y="4899294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874" y="504775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099" y="5146734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06286" y="111348"/>
                </a:moveTo>
                <a:cubicBezTo>
                  <a:pt x="137033" y="111348"/>
                  <a:pt x="161960" y="86421"/>
                  <a:pt x="161960" y="55674"/>
                </a:cubicBezTo>
                <a:cubicBezTo>
                  <a:pt x="161960" y="24927"/>
                  <a:pt x="137033" y="0"/>
                  <a:pt x="106286" y="0"/>
                </a:cubicBezTo>
                <a:cubicBezTo>
                  <a:pt x="75539" y="0"/>
                  <a:pt x="50613" y="24927"/>
                  <a:pt x="50613" y="55674"/>
                </a:cubicBezTo>
                <a:cubicBezTo>
                  <a:pt x="50613" y="61589"/>
                  <a:pt x="51530" y="67315"/>
                  <a:pt x="53238" y="72661"/>
                </a:cubicBezTo>
                <a:lnTo>
                  <a:pt x="2214" y="123684"/>
                </a:lnTo>
                <a:cubicBezTo>
                  <a:pt x="791" y="125108"/>
                  <a:pt x="0" y="127037"/>
                  <a:pt x="0" y="129062"/>
                </a:cubicBezTo>
                <a:lnTo>
                  <a:pt x="0" y="154368"/>
                </a:lnTo>
                <a:cubicBezTo>
                  <a:pt x="0" y="158575"/>
                  <a:pt x="3385" y="161960"/>
                  <a:pt x="7592" y="161960"/>
                </a:cubicBezTo>
                <a:lnTo>
                  <a:pt x="32898" y="161960"/>
                </a:lnTo>
                <a:cubicBezTo>
                  <a:pt x="37105" y="161960"/>
                  <a:pt x="40490" y="158575"/>
                  <a:pt x="40490" y="154368"/>
                </a:cubicBezTo>
                <a:lnTo>
                  <a:pt x="40490" y="141715"/>
                </a:lnTo>
                <a:lnTo>
                  <a:pt x="53143" y="141715"/>
                </a:lnTo>
                <a:cubicBezTo>
                  <a:pt x="57350" y="141715"/>
                  <a:pt x="60735" y="138330"/>
                  <a:pt x="60735" y="134123"/>
                </a:cubicBezTo>
                <a:lnTo>
                  <a:pt x="60735" y="121470"/>
                </a:lnTo>
                <a:lnTo>
                  <a:pt x="73388" y="121470"/>
                </a:lnTo>
                <a:cubicBezTo>
                  <a:pt x="75413" y="121470"/>
                  <a:pt x="77342" y="120679"/>
                  <a:pt x="78766" y="119256"/>
                </a:cubicBezTo>
                <a:lnTo>
                  <a:pt x="89300" y="108722"/>
                </a:lnTo>
                <a:cubicBezTo>
                  <a:pt x="94645" y="110430"/>
                  <a:pt x="100371" y="111348"/>
                  <a:pt x="106286" y="111348"/>
                </a:cubicBezTo>
                <a:close/>
                <a:moveTo>
                  <a:pt x="118939" y="30368"/>
                </a:moveTo>
                <a:cubicBezTo>
                  <a:pt x="125923" y="30368"/>
                  <a:pt x="131593" y="36037"/>
                  <a:pt x="131593" y="43021"/>
                </a:cubicBezTo>
                <a:cubicBezTo>
                  <a:pt x="131593" y="50004"/>
                  <a:pt x="125923" y="55674"/>
                  <a:pt x="118939" y="55674"/>
                </a:cubicBezTo>
                <a:cubicBezTo>
                  <a:pt x="111956" y="55674"/>
                  <a:pt x="106286" y="50004"/>
                  <a:pt x="106286" y="43021"/>
                </a:cubicBezTo>
                <a:cubicBezTo>
                  <a:pt x="106286" y="36037"/>
                  <a:pt x="111956" y="30368"/>
                  <a:pt x="118939" y="3036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980759" y="5101745"/>
            <a:ext cx="98975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端到端加密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874" y="5515643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TLS 1.3 + AES-256 全链路加密，确保数据传输安全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0935" y="1552118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3577" y="1664590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6247416" y="1952520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SOC2 Type II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51915" y="2168466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服务组织控制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56201" y="1552118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18914" y="1664590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9132682" y="1952520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ISO27001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7181" y="2168466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信息安全管理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0935" y="2577866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3577" y="2690338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247416" y="2978267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等保三级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1915" y="3194214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等级保护认证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6201" y="2577866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18914" y="2690338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9132682" y="2978267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GDPR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37181" y="3194214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数据隐私合规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0935" y="3603613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9398" y="375207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3" name="Shape 41"/>
          <p:cNvSpPr/>
          <p:nvPr/>
        </p:nvSpPr>
        <p:spPr>
          <a:xfrm>
            <a:off x="6410501" y="3851052"/>
            <a:ext cx="182205" cy="161960"/>
          </a:xfrm>
          <a:custGeom>
            <a:avLst/>
            <a:gdLst/>
            <a:ahLst/>
            <a:cxnLst/>
            <a:rect l="l" t="t" r="r" b="b"/>
            <a:pathLst>
              <a:path w="182205" h="161960">
                <a:moveTo>
                  <a:pt x="70858" y="78449"/>
                </a:moveTo>
                <a:cubicBezTo>
                  <a:pt x="91808" y="78449"/>
                  <a:pt x="108817" y="61440"/>
                  <a:pt x="108817" y="40490"/>
                </a:cubicBezTo>
                <a:cubicBezTo>
                  <a:pt x="108817" y="19540"/>
                  <a:pt x="91808" y="2531"/>
                  <a:pt x="70858" y="2531"/>
                </a:cubicBezTo>
                <a:cubicBezTo>
                  <a:pt x="49907" y="2531"/>
                  <a:pt x="32898" y="19540"/>
                  <a:pt x="32898" y="40490"/>
                </a:cubicBezTo>
                <a:cubicBezTo>
                  <a:pt x="32898" y="61440"/>
                  <a:pt x="49907" y="78449"/>
                  <a:pt x="70858" y="78449"/>
                </a:cubicBezTo>
                <a:close/>
                <a:moveTo>
                  <a:pt x="61463" y="96164"/>
                </a:moveTo>
                <a:cubicBezTo>
                  <a:pt x="30304" y="96164"/>
                  <a:pt x="5061" y="121407"/>
                  <a:pt x="5061" y="152565"/>
                </a:cubicBezTo>
                <a:cubicBezTo>
                  <a:pt x="5061" y="157753"/>
                  <a:pt x="9268" y="161960"/>
                  <a:pt x="14456" y="161960"/>
                </a:cubicBezTo>
                <a:lnTo>
                  <a:pt x="94013" y="161960"/>
                </a:lnTo>
                <a:cubicBezTo>
                  <a:pt x="82562" y="148485"/>
                  <a:pt x="75919" y="131118"/>
                  <a:pt x="75919" y="112739"/>
                </a:cubicBezTo>
                <a:lnTo>
                  <a:pt x="75919" y="102902"/>
                </a:lnTo>
                <a:cubicBezTo>
                  <a:pt x="75919" y="100592"/>
                  <a:pt x="76235" y="98315"/>
                  <a:pt x="76836" y="96164"/>
                </a:cubicBezTo>
                <a:lnTo>
                  <a:pt x="61463" y="96164"/>
                </a:lnTo>
                <a:close/>
                <a:moveTo>
                  <a:pt x="140861" y="154526"/>
                </a:moveTo>
                <a:lnTo>
                  <a:pt x="136654" y="156519"/>
                </a:lnTo>
                <a:lnTo>
                  <a:pt x="136654" y="97018"/>
                </a:lnTo>
                <a:lnTo>
                  <a:pt x="167021" y="107140"/>
                </a:lnTo>
                <a:lnTo>
                  <a:pt x="167021" y="113340"/>
                </a:lnTo>
                <a:cubicBezTo>
                  <a:pt x="167021" y="130992"/>
                  <a:pt x="156836" y="147029"/>
                  <a:pt x="140861" y="154558"/>
                </a:cubicBezTo>
                <a:close/>
                <a:moveTo>
                  <a:pt x="133459" y="82087"/>
                </a:moveTo>
                <a:lnTo>
                  <a:pt x="98030" y="93886"/>
                </a:lnTo>
                <a:cubicBezTo>
                  <a:pt x="93886" y="95278"/>
                  <a:pt x="91103" y="99137"/>
                  <a:pt x="91103" y="103503"/>
                </a:cubicBezTo>
                <a:lnTo>
                  <a:pt x="91103" y="113340"/>
                </a:lnTo>
                <a:cubicBezTo>
                  <a:pt x="91103" y="136875"/>
                  <a:pt x="104705" y="158291"/>
                  <a:pt x="125962" y="168287"/>
                </a:cubicBezTo>
                <a:lnTo>
                  <a:pt x="131814" y="171039"/>
                </a:lnTo>
                <a:cubicBezTo>
                  <a:pt x="133332" y="171735"/>
                  <a:pt x="134977" y="172114"/>
                  <a:pt x="136622" y="172114"/>
                </a:cubicBezTo>
                <a:cubicBezTo>
                  <a:pt x="138267" y="172114"/>
                  <a:pt x="139944" y="171735"/>
                  <a:pt x="141430" y="171039"/>
                </a:cubicBezTo>
                <a:lnTo>
                  <a:pt x="147283" y="168287"/>
                </a:lnTo>
                <a:cubicBezTo>
                  <a:pt x="168603" y="158259"/>
                  <a:pt x="182205" y="136844"/>
                  <a:pt x="182205" y="113309"/>
                </a:cubicBezTo>
                <a:lnTo>
                  <a:pt x="182205" y="103471"/>
                </a:lnTo>
                <a:cubicBezTo>
                  <a:pt x="182205" y="99106"/>
                  <a:pt x="179421" y="95246"/>
                  <a:pt x="175278" y="93855"/>
                </a:cubicBezTo>
                <a:lnTo>
                  <a:pt x="139849" y="82056"/>
                </a:lnTo>
                <a:cubicBezTo>
                  <a:pt x="137761" y="81360"/>
                  <a:pt x="135515" y="81360"/>
                  <a:pt x="133459" y="8205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6787283" y="3806063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越狱防御系统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19398" y="4219962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深度语义识别绕过攻击，多维度检测异常行为模式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0935" y="4719339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9398" y="486780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0868" y="4966778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98505" y="10123"/>
                </a:moveTo>
                <a:lnTo>
                  <a:pt x="101225" y="10123"/>
                </a:lnTo>
                <a:cubicBezTo>
                  <a:pt x="112391" y="10123"/>
                  <a:pt x="121470" y="19201"/>
                  <a:pt x="121470" y="30368"/>
                </a:cubicBezTo>
                <a:lnTo>
                  <a:pt x="121470" y="141715"/>
                </a:lnTo>
                <a:cubicBezTo>
                  <a:pt x="121470" y="152882"/>
                  <a:pt x="112391" y="161960"/>
                  <a:pt x="101225" y="161960"/>
                </a:cubicBezTo>
                <a:lnTo>
                  <a:pt x="20245" y="161960"/>
                </a:lnTo>
                <a:cubicBezTo>
                  <a:pt x="9079" y="161960"/>
                  <a:pt x="0" y="152882"/>
                  <a:pt x="0" y="141715"/>
                </a:cubicBezTo>
                <a:lnTo>
                  <a:pt x="0" y="30368"/>
                </a:lnTo>
                <a:cubicBezTo>
                  <a:pt x="0" y="19201"/>
                  <a:pt x="9079" y="10123"/>
                  <a:pt x="20245" y="10123"/>
                </a:cubicBezTo>
                <a:lnTo>
                  <a:pt x="22965" y="10123"/>
                </a:lnTo>
                <a:cubicBezTo>
                  <a:pt x="26445" y="4081"/>
                  <a:pt x="32993" y="0"/>
                  <a:pt x="40490" y="0"/>
                </a:cubicBezTo>
                <a:lnTo>
                  <a:pt x="80980" y="0"/>
                </a:lnTo>
                <a:cubicBezTo>
                  <a:pt x="88477" y="0"/>
                  <a:pt x="95025" y="4081"/>
                  <a:pt x="98505" y="10123"/>
                </a:cubicBezTo>
                <a:close/>
                <a:moveTo>
                  <a:pt x="78449" y="35429"/>
                </a:moveTo>
                <a:cubicBezTo>
                  <a:pt x="82657" y="35429"/>
                  <a:pt x="86041" y="32044"/>
                  <a:pt x="86041" y="27837"/>
                </a:cubicBezTo>
                <a:cubicBezTo>
                  <a:pt x="86041" y="23630"/>
                  <a:pt x="82657" y="20245"/>
                  <a:pt x="78449" y="20245"/>
                </a:cubicBezTo>
                <a:lnTo>
                  <a:pt x="43021" y="20245"/>
                </a:lnTo>
                <a:cubicBezTo>
                  <a:pt x="38813" y="20245"/>
                  <a:pt x="35429" y="23630"/>
                  <a:pt x="35429" y="27837"/>
                </a:cubicBezTo>
                <a:cubicBezTo>
                  <a:pt x="35429" y="32044"/>
                  <a:pt x="38813" y="35429"/>
                  <a:pt x="43021" y="35429"/>
                </a:cubicBezTo>
                <a:lnTo>
                  <a:pt x="78449" y="35429"/>
                </a:lnTo>
                <a:close/>
                <a:moveTo>
                  <a:pt x="87433" y="82467"/>
                </a:moveTo>
                <a:cubicBezTo>
                  <a:pt x="89647" y="78924"/>
                  <a:pt x="88572" y="74242"/>
                  <a:pt x="85029" y="71996"/>
                </a:cubicBezTo>
                <a:cubicBezTo>
                  <a:pt x="81486" y="69750"/>
                  <a:pt x="76805" y="70858"/>
                  <a:pt x="74559" y="74400"/>
                </a:cubicBezTo>
                <a:lnTo>
                  <a:pt x="55136" y="105496"/>
                </a:lnTo>
                <a:lnTo>
                  <a:pt x="46595" y="94108"/>
                </a:lnTo>
                <a:cubicBezTo>
                  <a:pt x="44065" y="90755"/>
                  <a:pt x="39320" y="90059"/>
                  <a:pt x="35967" y="92589"/>
                </a:cubicBezTo>
                <a:cubicBezTo>
                  <a:pt x="32613" y="95120"/>
                  <a:pt x="31918" y="99865"/>
                  <a:pt x="34448" y="103218"/>
                </a:cubicBezTo>
                <a:lnTo>
                  <a:pt x="49632" y="123463"/>
                </a:lnTo>
                <a:cubicBezTo>
                  <a:pt x="51119" y="125456"/>
                  <a:pt x="53523" y="126595"/>
                  <a:pt x="56022" y="126500"/>
                </a:cubicBezTo>
                <a:cubicBezTo>
                  <a:pt x="58521" y="126405"/>
                  <a:pt x="60798" y="125076"/>
                  <a:pt x="62127" y="122925"/>
                </a:cubicBezTo>
                <a:lnTo>
                  <a:pt x="87433" y="8243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6787283" y="4921789"/>
            <a:ext cx="80980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审计追踪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19398" y="5335687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全量操作日志记录，满足合规审计要求，可追溯可审查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4410" y="6015020"/>
            <a:ext cx="11463179" cy="476883"/>
          </a:xfrm>
          <a:custGeom>
            <a:avLst/>
            <a:gdLst/>
            <a:ahLst/>
            <a:cxnLst/>
            <a:rect l="l" t="t" r="r" b="b"/>
            <a:pathLst>
              <a:path w="11463179" h="476883">
                <a:moveTo>
                  <a:pt x="71981" y="0"/>
                </a:moveTo>
                <a:lnTo>
                  <a:pt x="11391199" y="0"/>
                </a:lnTo>
                <a:cubicBezTo>
                  <a:pt x="11430952" y="0"/>
                  <a:pt x="11463179" y="32227"/>
                  <a:pt x="11463179" y="71981"/>
                </a:cubicBezTo>
                <a:lnTo>
                  <a:pt x="11463179" y="404902"/>
                </a:lnTo>
                <a:cubicBezTo>
                  <a:pt x="11463179" y="444656"/>
                  <a:pt x="11430952" y="476883"/>
                  <a:pt x="11391199" y="476883"/>
                </a:cubicBezTo>
                <a:lnTo>
                  <a:pt x="71981" y="476883"/>
                </a:lnTo>
                <a:cubicBezTo>
                  <a:pt x="32253" y="476883"/>
                  <a:pt x="0" y="444629"/>
                  <a:pt x="0" y="404902"/>
                </a:cubicBezTo>
                <a:lnTo>
                  <a:pt x="0" y="71981"/>
                </a:lnTo>
                <a:cubicBezTo>
                  <a:pt x="0" y="32253"/>
                  <a:pt x="32253" y="0"/>
                  <a:pt x="7198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87475" y="614548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09914" y="0"/>
                  <a:pt x="111854" y="422"/>
                  <a:pt x="113625" y="1223"/>
                </a:cubicBezTo>
                <a:lnTo>
                  <a:pt x="193087" y="34923"/>
                </a:lnTo>
                <a:cubicBezTo>
                  <a:pt x="202366" y="38845"/>
                  <a:pt x="209283" y="47998"/>
                  <a:pt x="209241" y="59048"/>
                </a:cubicBezTo>
                <a:cubicBezTo>
                  <a:pt x="209030" y="100888"/>
                  <a:pt x="191822" y="177439"/>
                  <a:pt x="119150" y="212235"/>
                </a:cubicBezTo>
                <a:cubicBezTo>
                  <a:pt x="112107" y="215609"/>
                  <a:pt x="103924" y="215609"/>
                  <a:pt x="96881" y="212235"/>
                </a:cubicBezTo>
                <a:cubicBezTo>
                  <a:pt x="24167" y="177439"/>
                  <a:pt x="7001" y="100888"/>
                  <a:pt x="6791" y="59048"/>
                </a:cubicBezTo>
                <a:cubicBezTo>
                  <a:pt x="6748" y="47998"/>
                  <a:pt x="13665" y="38845"/>
                  <a:pt x="22944" y="34923"/>
                </a:cubicBezTo>
                <a:lnTo>
                  <a:pt x="102364" y="1223"/>
                </a:lnTo>
                <a:cubicBezTo>
                  <a:pt x="104135" y="422"/>
                  <a:pt x="106033" y="0"/>
                  <a:pt x="107973" y="0"/>
                </a:cubicBezTo>
                <a:close/>
                <a:moveTo>
                  <a:pt x="107973" y="28174"/>
                </a:moveTo>
                <a:lnTo>
                  <a:pt x="107973" y="187646"/>
                </a:lnTo>
                <a:cubicBezTo>
                  <a:pt x="166178" y="159472"/>
                  <a:pt x="181826" y="97050"/>
                  <a:pt x="182205" y="59681"/>
                </a:cubicBezTo>
                <a:lnTo>
                  <a:pt x="107973" y="28216"/>
                </a:lnTo>
                <a:lnTo>
                  <a:pt x="107973" y="2821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3993400" y="6127492"/>
            <a:ext cx="152962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六层纵深防御体系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550017" y="6145488"/>
            <a:ext cx="989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677111" y="6127492"/>
            <a:ext cx="14036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 CVE 漏洞记录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07618" y="6145488"/>
            <a:ext cx="989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234712" y="6127492"/>
            <a:ext cx="134067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合规认证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spc="55" kern="0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99038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7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NovalClaw vs OpenClaw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116" y="1126770"/>
            <a:ext cx="1156699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全面对比，优势一目了然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517" y="1518498"/>
            <a:ext cx="11478966" cy="4119752"/>
          </a:xfrm>
          <a:custGeom>
            <a:avLst/>
            <a:gdLst/>
            <a:ahLst/>
            <a:cxnLst/>
            <a:rect l="l" t="t" r="r" b="b"/>
            <a:pathLst>
              <a:path w="11478966" h="4119752">
                <a:moveTo>
                  <a:pt x="70407" y="0"/>
                </a:moveTo>
                <a:lnTo>
                  <a:pt x="11408560" y="0"/>
                </a:lnTo>
                <a:cubicBezTo>
                  <a:pt x="11447444" y="0"/>
                  <a:pt x="11478966" y="31522"/>
                  <a:pt x="11478966" y="70407"/>
                </a:cubicBezTo>
                <a:lnTo>
                  <a:pt x="11478966" y="4049345"/>
                </a:lnTo>
                <a:cubicBezTo>
                  <a:pt x="11478966" y="4088230"/>
                  <a:pt x="11447444" y="4119752"/>
                  <a:pt x="11408560" y="4119752"/>
                </a:cubicBezTo>
                <a:lnTo>
                  <a:pt x="70407" y="4119752"/>
                </a:lnTo>
                <a:cubicBezTo>
                  <a:pt x="31522" y="4119752"/>
                  <a:pt x="0" y="4088230"/>
                  <a:pt x="0" y="4049345"/>
                </a:cubicBezTo>
                <a:lnTo>
                  <a:pt x="0" y="70407"/>
                </a:lnTo>
                <a:cubicBezTo>
                  <a:pt x="0" y="31522"/>
                  <a:pt x="31522" y="0"/>
                  <a:pt x="704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0918" y="1522900"/>
          <a:ext cx="11470163" cy="4110949"/>
        </p:xfrm>
        <a:graphic>
          <a:graphicData uri="http://schemas.openxmlformats.org/drawingml/2006/table">
            <a:tbl>
              <a:tblPr/>
              <a:tblGrid>
                <a:gridCol w="2605655"/>
                <a:gridCol w="4947223"/>
                <a:gridCol w="3917285"/>
              </a:tblGrid>
              <a:tr h="456772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C8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NovalClaw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C8C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OpenClaw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C8C">
                        <a:alpha val="30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核心语言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Python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推理性能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1x 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记忆系统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三层分级记忆架构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固定上下文窗口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内存安全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编译期保障，零 CVE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运行时检查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多模态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模态原生融合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文本为主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并发模型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百万级异步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线程池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冷启动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3ms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200ms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0E6F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安全防护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5E8B7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六层纵深防御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基础防护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6C8C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6517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531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5743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63396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07410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42622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记忆容量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0274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4289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67x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49500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启动加速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77153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1168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6x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56379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模态融合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量化金融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更快的底层架构，让金融分析和交易决策领先一步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1400175"/>
          </a:xfrm>
          <a:custGeom>
            <a:avLst/>
            <a:gdLst/>
            <a:ahLst/>
            <a:cxnLst/>
            <a:rect l="l" t="t" r="r" b="b"/>
            <a:pathLst>
              <a:path w="5610225" h="140017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323977"/>
                </a:lnTo>
                <a:cubicBezTo>
                  <a:pt x="5610225" y="1366060"/>
                  <a:pt x="5576110" y="1400175"/>
                  <a:pt x="553402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8192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亚毫秒级推理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原生推理引擎提供亚毫秒级延迟，在高频交易中每微秒意味着收益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543175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&lt;0.5ms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16125" y="26193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交易决策延迟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1670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3343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942975" y="33242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705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财报、K线、新闻一体化分析，全方位洞察市场动态与投资机会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338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" y="4410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" y="4391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7720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持久化海量市场数据与交易模式，从历史中学习优化策略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1643063"/>
            <a:ext cx="5610225" cy="2124075"/>
          </a:xfrm>
          <a:custGeom>
            <a:avLst/>
            <a:gdLst/>
            <a:ahLst/>
            <a:cxnLst/>
            <a:rect l="l" t="t" r="r" b="b"/>
            <a:pathLst>
              <a:path w="5610225" h="212407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2047884"/>
                </a:lnTo>
                <a:cubicBezTo>
                  <a:pt x="5610225" y="2089935"/>
                  <a:pt x="5576085" y="2124075"/>
                  <a:pt x="5534034" y="2124075"/>
                </a:cubicBezTo>
                <a:lnTo>
                  <a:pt x="76191" y="2124075"/>
                </a:lnTo>
                <a:cubicBezTo>
                  <a:pt x="34140" y="2124075"/>
                  <a:pt x="0" y="2089935"/>
                  <a:pt x="0" y="20478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6988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6591300" y="18002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3175" y="22574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交易决策延迟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51431" y="221932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&lt;0.5ms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3175" y="2638425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3175" y="28003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回测速度提升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8240" y="276225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31813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53175" y="33432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46978" y="3305175"/>
            <a:ext cx="81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99.9%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38909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1750" y="4067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6753225" y="40481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金融级安全合规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3175" y="44291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满足金融监管审计要求，端到端加密，全量审计日志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4953000"/>
            <a:ext cx="2752725" cy="657225"/>
          </a:xfrm>
          <a:custGeom>
            <a:avLst/>
            <a:gdLst/>
            <a:ahLst/>
            <a:cxnLst/>
            <a:rect l="l" t="t" r="r" b="b"/>
            <a:pathLst>
              <a:path w="2752725" h="657225">
                <a:moveTo>
                  <a:pt x="38099" y="0"/>
                </a:moveTo>
                <a:lnTo>
                  <a:pt x="2714626" y="0"/>
                </a:lnTo>
                <a:cubicBezTo>
                  <a:pt x="2735667" y="0"/>
                  <a:pt x="2752725" y="17058"/>
                  <a:pt x="2752725" y="38099"/>
                </a:cubicBezTo>
                <a:lnTo>
                  <a:pt x="2752725" y="619126"/>
                </a:lnTo>
                <a:cubicBezTo>
                  <a:pt x="2752725" y="640167"/>
                  <a:pt x="2735667" y="657225"/>
                  <a:pt x="2714626" y="657225"/>
                </a:cubicBezTo>
                <a:lnTo>
                  <a:pt x="38099" y="657225"/>
                </a:lnTo>
                <a:cubicBezTo>
                  <a:pt x="17058" y="657225"/>
                  <a:pt x="0" y="640167"/>
                  <a:pt x="0" y="6191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72363" y="5072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272213" y="530066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交易所级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8275" y="4953000"/>
            <a:ext cx="2752725" cy="657225"/>
          </a:xfrm>
          <a:custGeom>
            <a:avLst/>
            <a:gdLst/>
            <a:ahLst/>
            <a:cxnLst/>
            <a:rect l="l" t="t" r="r" b="b"/>
            <a:pathLst>
              <a:path w="2752725" h="657225">
                <a:moveTo>
                  <a:pt x="38099" y="0"/>
                </a:moveTo>
                <a:lnTo>
                  <a:pt x="2714626" y="0"/>
                </a:lnTo>
                <a:cubicBezTo>
                  <a:pt x="2735667" y="0"/>
                  <a:pt x="2752725" y="17058"/>
                  <a:pt x="2752725" y="38099"/>
                </a:cubicBezTo>
                <a:lnTo>
                  <a:pt x="2752725" y="619126"/>
                </a:lnTo>
                <a:cubicBezTo>
                  <a:pt x="2752725" y="640167"/>
                  <a:pt x="2735667" y="657225"/>
                  <a:pt x="2714626" y="657225"/>
                </a:cubicBezTo>
                <a:lnTo>
                  <a:pt x="38099" y="657225"/>
                </a:lnTo>
                <a:cubicBezTo>
                  <a:pt x="17058" y="657225"/>
                  <a:pt x="0" y="640167"/>
                  <a:pt x="0" y="6191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315575" y="50720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9139238" y="530066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合规认证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92803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spc="52" kern="0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CYBERSEC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99197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网络安全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1065240"/>
            <a:ext cx="1160112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速度更快更智能，自动化渗透测试的终极武器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48" y="1435577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331" y="1589537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9933" y="124833"/>
                </a:moveTo>
                <a:lnTo>
                  <a:pt x="9558" y="124833"/>
                </a:lnTo>
                <a:cubicBezTo>
                  <a:pt x="-156" y="124833"/>
                  <a:pt x="-6125" y="114261"/>
                  <a:pt x="-1131" y="105913"/>
                </a:cubicBezTo>
                <a:lnTo>
                  <a:pt x="19505" y="71506"/>
                </a:lnTo>
                <a:cubicBezTo>
                  <a:pt x="22899" y="65849"/>
                  <a:pt x="28985" y="62416"/>
                  <a:pt x="35577" y="62416"/>
                </a:cubicBezTo>
                <a:lnTo>
                  <a:pt x="72637" y="62416"/>
                </a:lnTo>
                <a:cubicBezTo>
                  <a:pt x="102324" y="12132"/>
                  <a:pt x="146600" y="9597"/>
                  <a:pt x="176209" y="13927"/>
                </a:cubicBezTo>
                <a:cubicBezTo>
                  <a:pt x="181203" y="14668"/>
                  <a:pt x="185104" y="18569"/>
                  <a:pt x="185806" y="23523"/>
                </a:cubicBezTo>
                <a:cubicBezTo>
                  <a:pt x="190136" y="53132"/>
                  <a:pt x="187600" y="97409"/>
                  <a:pt x="137316" y="127095"/>
                </a:cubicBezTo>
                <a:lnTo>
                  <a:pt x="137316" y="164155"/>
                </a:lnTo>
                <a:cubicBezTo>
                  <a:pt x="137316" y="170748"/>
                  <a:pt x="133883" y="176833"/>
                  <a:pt x="128227" y="180227"/>
                </a:cubicBezTo>
                <a:lnTo>
                  <a:pt x="93820" y="200864"/>
                </a:lnTo>
                <a:cubicBezTo>
                  <a:pt x="85510" y="205857"/>
                  <a:pt x="74900" y="199849"/>
                  <a:pt x="74900" y="190175"/>
                </a:cubicBezTo>
                <a:lnTo>
                  <a:pt x="74900" y="149799"/>
                </a:lnTo>
                <a:cubicBezTo>
                  <a:pt x="74900" y="136029"/>
                  <a:pt x="63704" y="124833"/>
                  <a:pt x="49933" y="124833"/>
                </a:cubicBezTo>
                <a:lnTo>
                  <a:pt x="49894" y="124833"/>
                </a:lnTo>
                <a:close/>
                <a:moveTo>
                  <a:pt x="156041" y="62416"/>
                </a:moveTo>
                <a:cubicBezTo>
                  <a:pt x="156041" y="52082"/>
                  <a:pt x="147651" y="43691"/>
                  <a:pt x="137316" y="43691"/>
                </a:cubicBezTo>
                <a:cubicBezTo>
                  <a:pt x="126981" y="43691"/>
                  <a:pt x="118591" y="52082"/>
                  <a:pt x="118591" y="62416"/>
                </a:cubicBezTo>
                <a:cubicBezTo>
                  <a:pt x="118591" y="72751"/>
                  <a:pt x="126981" y="81141"/>
                  <a:pt x="137316" y="81141"/>
                </a:cubicBezTo>
                <a:cubicBezTo>
                  <a:pt x="147651" y="81141"/>
                  <a:pt x="156041" y="72751"/>
                  <a:pt x="156041" y="6241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23896" y="1572893"/>
            <a:ext cx="116510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 扫描速度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4365" y="1905780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比传统方案快 100 倍的扫描引擎，大规模资产秒级发现，快速定位潜在威胁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048" y="2367661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848" y="2521622"/>
            <a:ext cx="224699" cy="199732"/>
          </a:xfrm>
          <a:custGeom>
            <a:avLst/>
            <a:gdLst/>
            <a:ahLst/>
            <a:cxnLst/>
            <a:rect l="l" t="t" r="r" b="b"/>
            <a:pathLst>
              <a:path w="224699" h="199732">
                <a:moveTo>
                  <a:pt x="112349" y="12483"/>
                </a:moveTo>
                <a:cubicBezTo>
                  <a:pt x="80829" y="12483"/>
                  <a:pt x="55590" y="26839"/>
                  <a:pt x="37216" y="43926"/>
                </a:cubicBezTo>
                <a:cubicBezTo>
                  <a:pt x="18959" y="60895"/>
                  <a:pt x="6749" y="81141"/>
                  <a:pt x="936" y="95068"/>
                </a:cubicBezTo>
                <a:cubicBezTo>
                  <a:pt x="-351" y="98150"/>
                  <a:pt x="-351" y="101583"/>
                  <a:pt x="936" y="104664"/>
                </a:cubicBezTo>
                <a:cubicBezTo>
                  <a:pt x="6749" y="118591"/>
                  <a:pt x="18959" y="138876"/>
                  <a:pt x="37216" y="155807"/>
                </a:cubicBezTo>
                <a:cubicBezTo>
                  <a:pt x="55590" y="172854"/>
                  <a:pt x="80829" y="187249"/>
                  <a:pt x="112349" y="187249"/>
                </a:cubicBezTo>
                <a:cubicBezTo>
                  <a:pt x="143870" y="187249"/>
                  <a:pt x="169109" y="172893"/>
                  <a:pt x="187483" y="155807"/>
                </a:cubicBezTo>
                <a:cubicBezTo>
                  <a:pt x="205740" y="138837"/>
                  <a:pt x="217950" y="118591"/>
                  <a:pt x="223763" y="104664"/>
                </a:cubicBezTo>
                <a:cubicBezTo>
                  <a:pt x="225050" y="101583"/>
                  <a:pt x="225050" y="98150"/>
                  <a:pt x="223763" y="95068"/>
                </a:cubicBezTo>
                <a:cubicBezTo>
                  <a:pt x="217950" y="81141"/>
                  <a:pt x="205740" y="60856"/>
                  <a:pt x="187483" y="43926"/>
                </a:cubicBezTo>
                <a:cubicBezTo>
                  <a:pt x="169109" y="26878"/>
                  <a:pt x="143870" y="12483"/>
                  <a:pt x="112349" y="12483"/>
                </a:cubicBezTo>
                <a:close/>
                <a:moveTo>
                  <a:pt x="56175" y="99866"/>
                </a:moveTo>
                <a:cubicBezTo>
                  <a:pt x="56175" y="68863"/>
                  <a:pt x="81346" y="43691"/>
                  <a:pt x="112349" y="43691"/>
                </a:cubicBezTo>
                <a:cubicBezTo>
                  <a:pt x="143353" y="43691"/>
                  <a:pt x="168524" y="68863"/>
                  <a:pt x="168524" y="99866"/>
                </a:cubicBezTo>
                <a:cubicBezTo>
                  <a:pt x="168524" y="130870"/>
                  <a:pt x="143353" y="156041"/>
                  <a:pt x="112349" y="156041"/>
                </a:cubicBezTo>
                <a:cubicBezTo>
                  <a:pt x="81346" y="156041"/>
                  <a:pt x="56175" y="130870"/>
                  <a:pt x="56175" y="99866"/>
                </a:cubicBezTo>
                <a:close/>
                <a:moveTo>
                  <a:pt x="112349" y="74900"/>
                </a:moveTo>
                <a:cubicBezTo>
                  <a:pt x="112349" y="88670"/>
                  <a:pt x="101154" y="99866"/>
                  <a:pt x="87383" y="99866"/>
                </a:cubicBezTo>
                <a:cubicBezTo>
                  <a:pt x="82897" y="99866"/>
                  <a:pt x="78684" y="98696"/>
                  <a:pt x="75017" y="96589"/>
                </a:cubicBezTo>
                <a:cubicBezTo>
                  <a:pt x="74627" y="100841"/>
                  <a:pt x="74978" y="105211"/>
                  <a:pt x="76148" y="109541"/>
                </a:cubicBezTo>
                <a:cubicBezTo>
                  <a:pt x="81492" y="129514"/>
                  <a:pt x="102051" y="141373"/>
                  <a:pt x="122024" y="136029"/>
                </a:cubicBezTo>
                <a:cubicBezTo>
                  <a:pt x="141997" y="130684"/>
                  <a:pt x="153856" y="110126"/>
                  <a:pt x="148512" y="90153"/>
                </a:cubicBezTo>
                <a:cubicBezTo>
                  <a:pt x="143753" y="72325"/>
                  <a:pt x="126861" y="60973"/>
                  <a:pt x="109073" y="62533"/>
                </a:cubicBezTo>
                <a:cubicBezTo>
                  <a:pt x="111140" y="66161"/>
                  <a:pt x="112349" y="70374"/>
                  <a:pt x="112349" y="749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823896" y="2504977"/>
            <a:ext cx="124832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多模态威胁分析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365" y="2837865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同时分析网络流量、系统日志和屏幕截图，多维度联动检测威胁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048" y="3299746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331" y="3453706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6812" y="21846"/>
                </a:moveTo>
                <a:cubicBezTo>
                  <a:pt x="46812" y="9792"/>
                  <a:pt x="56604" y="0"/>
                  <a:pt x="68658" y="0"/>
                </a:cubicBezTo>
                <a:lnTo>
                  <a:pt x="78020" y="0"/>
                </a:lnTo>
                <a:cubicBezTo>
                  <a:pt x="84925" y="0"/>
                  <a:pt x="90504" y="5578"/>
                  <a:pt x="90504" y="12483"/>
                </a:cubicBezTo>
                <a:lnTo>
                  <a:pt x="90504" y="187249"/>
                </a:lnTo>
                <a:cubicBezTo>
                  <a:pt x="90504" y="194154"/>
                  <a:pt x="84925" y="199732"/>
                  <a:pt x="78020" y="199732"/>
                </a:cubicBezTo>
                <a:lnTo>
                  <a:pt x="65537" y="199732"/>
                </a:lnTo>
                <a:cubicBezTo>
                  <a:pt x="53912" y="199732"/>
                  <a:pt x="44121" y="191774"/>
                  <a:pt x="41351" y="181008"/>
                </a:cubicBezTo>
                <a:cubicBezTo>
                  <a:pt x="41078" y="181008"/>
                  <a:pt x="40844" y="181008"/>
                  <a:pt x="40571" y="181008"/>
                </a:cubicBezTo>
                <a:cubicBezTo>
                  <a:pt x="23328" y="181008"/>
                  <a:pt x="9362" y="167042"/>
                  <a:pt x="9362" y="149799"/>
                </a:cubicBezTo>
                <a:cubicBezTo>
                  <a:pt x="9362" y="142777"/>
                  <a:pt x="11703" y="136302"/>
                  <a:pt x="15604" y="131074"/>
                </a:cubicBezTo>
                <a:cubicBezTo>
                  <a:pt x="8036" y="125379"/>
                  <a:pt x="3121" y="116329"/>
                  <a:pt x="3121" y="106108"/>
                </a:cubicBezTo>
                <a:cubicBezTo>
                  <a:pt x="3121" y="94054"/>
                  <a:pt x="9987" y="83560"/>
                  <a:pt x="19973" y="78372"/>
                </a:cubicBezTo>
                <a:cubicBezTo>
                  <a:pt x="17204" y="73690"/>
                  <a:pt x="15604" y="68229"/>
                  <a:pt x="15604" y="62416"/>
                </a:cubicBezTo>
                <a:cubicBezTo>
                  <a:pt x="15604" y="45174"/>
                  <a:pt x="29570" y="31208"/>
                  <a:pt x="46812" y="31208"/>
                </a:cubicBezTo>
                <a:lnTo>
                  <a:pt x="46812" y="21846"/>
                </a:lnTo>
                <a:close/>
                <a:moveTo>
                  <a:pt x="152920" y="21846"/>
                </a:moveTo>
                <a:lnTo>
                  <a:pt x="152920" y="31208"/>
                </a:lnTo>
                <a:cubicBezTo>
                  <a:pt x="170163" y="31208"/>
                  <a:pt x="184128" y="45174"/>
                  <a:pt x="184128" y="62416"/>
                </a:cubicBezTo>
                <a:cubicBezTo>
                  <a:pt x="184128" y="68268"/>
                  <a:pt x="182529" y="73729"/>
                  <a:pt x="179759" y="78372"/>
                </a:cubicBezTo>
                <a:cubicBezTo>
                  <a:pt x="189785" y="83560"/>
                  <a:pt x="196612" y="94015"/>
                  <a:pt x="196612" y="106108"/>
                </a:cubicBezTo>
                <a:cubicBezTo>
                  <a:pt x="196612" y="116329"/>
                  <a:pt x="191696" y="125379"/>
                  <a:pt x="184128" y="131074"/>
                </a:cubicBezTo>
                <a:cubicBezTo>
                  <a:pt x="188029" y="136302"/>
                  <a:pt x="190370" y="142777"/>
                  <a:pt x="190370" y="149799"/>
                </a:cubicBezTo>
                <a:cubicBezTo>
                  <a:pt x="190370" y="167042"/>
                  <a:pt x="176404" y="181008"/>
                  <a:pt x="159162" y="181008"/>
                </a:cubicBezTo>
                <a:cubicBezTo>
                  <a:pt x="158889" y="181008"/>
                  <a:pt x="158655" y="181008"/>
                  <a:pt x="158382" y="181008"/>
                </a:cubicBezTo>
                <a:cubicBezTo>
                  <a:pt x="155612" y="191774"/>
                  <a:pt x="145820" y="199732"/>
                  <a:pt x="134195" y="199732"/>
                </a:cubicBezTo>
                <a:lnTo>
                  <a:pt x="121712" y="199732"/>
                </a:lnTo>
                <a:cubicBezTo>
                  <a:pt x="114807" y="199732"/>
                  <a:pt x="109229" y="194154"/>
                  <a:pt x="109229" y="187249"/>
                </a:cubicBezTo>
                <a:lnTo>
                  <a:pt x="109229" y="12483"/>
                </a:lnTo>
                <a:cubicBezTo>
                  <a:pt x="109229" y="5578"/>
                  <a:pt x="114807" y="0"/>
                  <a:pt x="121712" y="0"/>
                </a:cubicBezTo>
                <a:lnTo>
                  <a:pt x="131074" y="0"/>
                </a:lnTo>
                <a:cubicBezTo>
                  <a:pt x="143129" y="0"/>
                  <a:pt x="152920" y="9792"/>
                  <a:pt x="152920" y="218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96" y="3437062"/>
            <a:ext cx="1081884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记忆系统积累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4365" y="3769949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完整记录渗透路径与漏洞特征，构建知识库，越用越强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09318" y="1435577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5090" y="1606182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2473" y="2172090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扫描速度提升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6634" y="2438400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大规模资产秒级发现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9318" y="2916926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5090" y="3087530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2473" y="3653439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自身 CVE 漏洞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46634" y="3919749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内存安全保障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9318" y="4398274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5090" y="4568879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7×24h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42473" y="5134788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持续自动化测试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6634" y="5401098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全天候威胁监测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7048" y="5879623"/>
            <a:ext cx="11517903" cy="640808"/>
          </a:xfrm>
          <a:custGeom>
            <a:avLst/>
            <a:gdLst/>
            <a:ahLst/>
            <a:cxnLst/>
            <a:rect l="l" t="t" r="r" b="b"/>
            <a:pathLst>
              <a:path w="11517903" h="640808">
                <a:moveTo>
                  <a:pt x="66580" y="0"/>
                </a:moveTo>
                <a:lnTo>
                  <a:pt x="11451323" y="0"/>
                </a:lnTo>
                <a:cubicBezTo>
                  <a:pt x="11488094" y="0"/>
                  <a:pt x="11517903" y="29809"/>
                  <a:pt x="11517903" y="66580"/>
                </a:cubicBezTo>
                <a:lnTo>
                  <a:pt x="11517903" y="574228"/>
                </a:lnTo>
                <a:cubicBezTo>
                  <a:pt x="11517903" y="610999"/>
                  <a:pt x="11488094" y="640808"/>
                  <a:pt x="11451323" y="640808"/>
                </a:cubicBezTo>
                <a:lnTo>
                  <a:pt x="66580" y="640808"/>
                </a:lnTo>
                <a:cubicBezTo>
                  <a:pt x="29809" y="640808"/>
                  <a:pt x="0" y="610999"/>
                  <a:pt x="0" y="574228"/>
                </a:cubicBezTo>
                <a:lnTo>
                  <a:pt x="0" y="66580"/>
                </a:lnTo>
                <a:cubicBezTo>
                  <a:pt x="0" y="29809"/>
                  <a:pt x="29809" y="0"/>
                  <a:pt x="66580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9950" y="6116805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62416" y="31208"/>
                </a:moveTo>
                <a:cubicBezTo>
                  <a:pt x="62416" y="13979"/>
                  <a:pt x="76395" y="0"/>
                  <a:pt x="93625" y="0"/>
                </a:cubicBezTo>
                <a:cubicBezTo>
                  <a:pt x="110854" y="0"/>
                  <a:pt x="124833" y="13979"/>
                  <a:pt x="124833" y="31208"/>
                </a:cubicBezTo>
                <a:lnTo>
                  <a:pt x="124833" y="32378"/>
                </a:lnTo>
                <a:cubicBezTo>
                  <a:pt x="124833" y="37482"/>
                  <a:pt x="120704" y="41611"/>
                  <a:pt x="115600" y="41611"/>
                </a:cubicBezTo>
                <a:lnTo>
                  <a:pt x="71681" y="41611"/>
                </a:lnTo>
                <a:cubicBezTo>
                  <a:pt x="66577" y="41611"/>
                  <a:pt x="62449" y="37482"/>
                  <a:pt x="62449" y="32378"/>
                </a:cubicBezTo>
                <a:lnTo>
                  <a:pt x="62449" y="31208"/>
                </a:lnTo>
                <a:close/>
                <a:moveTo>
                  <a:pt x="174766" y="35369"/>
                </a:moveTo>
                <a:cubicBezTo>
                  <a:pt x="178212" y="39953"/>
                  <a:pt x="177269" y="46487"/>
                  <a:pt x="172685" y="49933"/>
                </a:cubicBezTo>
                <a:lnTo>
                  <a:pt x="140892" y="73762"/>
                </a:lnTo>
                <a:cubicBezTo>
                  <a:pt x="142615" y="76655"/>
                  <a:pt x="143915" y="79841"/>
                  <a:pt x="144728" y="83222"/>
                </a:cubicBezTo>
                <a:lnTo>
                  <a:pt x="176846" y="83222"/>
                </a:lnTo>
                <a:cubicBezTo>
                  <a:pt x="182600" y="83222"/>
                  <a:pt x="187249" y="87871"/>
                  <a:pt x="187249" y="93625"/>
                </a:cubicBezTo>
                <a:cubicBezTo>
                  <a:pt x="187249" y="99379"/>
                  <a:pt x="182600" y="104027"/>
                  <a:pt x="176846" y="104027"/>
                </a:cubicBezTo>
                <a:lnTo>
                  <a:pt x="145638" y="104027"/>
                </a:lnTo>
                <a:lnTo>
                  <a:pt x="145638" y="114430"/>
                </a:lnTo>
                <a:cubicBezTo>
                  <a:pt x="145638" y="115275"/>
                  <a:pt x="145606" y="116153"/>
                  <a:pt x="145573" y="116998"/>
                </a:cubicBezTo>
                <a:lnTo>
                  <a:pt x="172685" y="137316"/>
                </a:lnTo>
                <a:cubicBezTo>
                  <a:pt x="177269" y="140762"/>
                  <a:pt x="178212" y="147296"/>
                  <a:pt x="174766" y="151880"/>
                </a:cubicBezTo>
                <a:cubicBezTo>
                  <a:pt x="171320" y="156464"/>
                  <a:pt x="164786" y="157406"/>
                  <a:pt x="160202" y="153960"/>
                </a:cubicBezTo>
                <a:lnTo>
                  <a:pt x="139689" y="138584"/>
                </a:lnTo>
                <a:cubicBezTo>
                  <a:pt x="132147" y="152953"/>
                  <a:pt x="118071" y="163355"/>
                  <a:pt x="101427" y="165859"/>
                </a:cubicBezTo>
                <a:lnTo>
                  <a:pt x="101427" y="91024"/>
                </a:lnTo>
                <a:cubicBezTo>
                  <a:pt x="101427" y="86700"/>
                  <a:pt x="97948" y="83222"/>
                  <a:pt x="93625" y="83222"/>
                </a:cubicBezTo>
                <a:cubicBezTo>
                  <a:pt x="89301" y="83222"/>
                  <a:pt x="85823" y="86700"/>
                  <a:pt x="85823" y="91024"/>
                </a:cubicBezTo>
                <a:lnTo>
                  <a:pt x="85823" y="165859"/>
                </a:lnTo>
                <a:cubicBezTo>
                  <a:pt x="69178" y="163355"/>
                  <a:pt x="55102" y="152953"/>
                  <a:pt x="47560" y="138584"/>
                </a:cubicBezTo>
                <a:lnTo>
                  <a:pt x="27047" y="153960"/>
                </a:lnTo>
                <a:cubicBezTo>
                  <a:pt x="22463" y="157406"/>
                  <a:pt x="15929" y="156464"/>
                  <a:pt x="12483" y="151880"/>
                </a:cubicBezTo>
                <a:cubicBezTo>
                  <a:pt x="9037" y="147296"/>
                  <a:pt x="9980" y="140762"/>
                  <a:pt x="14564" y="137316"/>
                </a:cubicBezTo>
                <a:lnTo>
                  <a:pt x="41676" y="116998"/>
                </a:lnTo>
                <a:cubicBezTo>
                  <a:pt x="41643" y="116153"/>
                  <a:pt x="41611" y="115308"/>
                  <a:pt x="41611" y="114430"/>
                </a:cubicBezTo>
                <a:lnTo>
                  <a:pt x="41611" y="104027"/>
                </a:lnTo>
                <a:lnTo>
                  <a:pt x="10403" y="104027"/>
                </a:lnTo>
                <a:cubicBezTo>
                  <a:pt x="4649" y="104027"/>
                  <a:pt x="0" y="99379"/>
                  <a:pt x="0" y="93625"/>
                </a:cubicBezTo>
                <a:cubicBezTo>
                  <a:pt x="0" y="87871"/>
                  <a:pt x="4649" y="83222"/>
                  <a:pt x="10403" y="83222"/>
                </a:cubicBezTo>
                <a:lnTo>
                  <a:pt x="42521" y="83222"/>
                </a:lnTo>
                <a:cubicBezTo>
                  <a:pt x="43334" y="79841"/>
                  <a:pt x="44634" y="76655"/>
                  <a:pt x="46357" y="73762"/>
                </a:cubicBezTo>
                <a:lnTo>
                  <a:pt x="14564" y="49933"/>
                </a:lnTo>
                <a:cubicBezTo>
                  <a:pt x="9980" y="46487"/>
                  <a:pt x="9037" y="39953"/>
                  <a:pt x="12483" y="35369"/>
                </a:cubicBezTo>
                <a:cubicBezTo>
                  <a:pt x="15929" y="30786"/>
                  <a:pt x="22463" y="29843"/>
                  <a:pt x="27047" y="33289"/>
                </a:cubicBezTo>
                <a:lnTo>
                  <a:pt x="62416" y="59816"/>
                </a:lnTo>
                <a:cubicBezTo>
                  <a:pt x="66415" y="58158"/>
                  <a:pt x="70804" y="57215"/>
                  <a:pt x="75420" y="57215"/>
                </a:cubicBezTo>
                <a:lnTo>
                  <a:pt x="111829" y="57215"/>
                </a:lnTo>
                <a:cubicBezTo>
                  <a:pt x="116446" y="57215"/>
                  <a:pt x="120834" y="58125"/>
                  <a:pt x="124833" y="59816"/>
                </a:cubicBezTo>
                <a:lnTo>
                  <a:pt x="160202" y="33289"/>
                </a:lnTo>
                <a:cubicBezTo>
                  <a:pt x="164786" y="29843"/>
                  <a:pt x="171320" y="30786"/>
                  <a:pt x="174766" y="3536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1287468" y="6016939"/>
            <a:ext cx="88215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漏洞扫描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7468" y="6216672"/>
            <a:ext cx="87382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自动化资产发现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13472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52965" y="611680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35235" y="67618"/>
                </a:moveTo>
                <a:cubicBezTo>
                  <a:pt x="135235" y="82539"/>
                  <a:pt x="130392" y="96323"/>
                  <a:pt x="122232" y="107506"/>
                </a:cubicBezTo>
                <a:lnTo>
                  <a:pt x="163388" y="148694"/>
                </a:lnTo>
                <a:cubicBezTo>
                  <a:pt x="167451" y="152758"/>
                  <a:pt x="167451" y="159357"/>
                  <a:pt x="163388" y="163420"/>
                </a:cubicBezTo>
                <a:cubicBezTo>
                  <a:pt x="159324" y="167484"/>
                  <a:pt x="152725" y="167484"/>
                  <a:pt x="148662" y="163420"/>
                </a:cubicBezTo>
                <a:lnTo>
                  <a:pt x="107506" y="122232"/>
                </a:lnTo>
                <a:cubicBezTo>
                  <a:pt x="96323" y="130392"/>
                  <a:pt x="82539" y="135235"/>
                  <a:pt x="67618" y="135235"/>
                </a:cubicBezTo>
                <a:cubicBezTo>
                  <a:pt x="30265" y="135235"/>
                  <a:pt x="0" y="104970"/>
                  <a:pt x="0" y="67618"/>
                </a:cubicBezTo>
                <a:cubicBezTo>
                  <a:pt x="0" y="30265"/>
                  <a:pt x="30265" y="0"/>
                  <a:pt x="67618" y="0"/>
                </a:cubicBezTo>
                <a:cubicBezTo>
                  <a:pt x="104970" y="0"/>
                  <a:pt x="135235" y="30265"/>
                  <a:pt x="135235" y="67618"/>
                </a:cubicBezTo>
                <a:close/>
                <a:moveTo>
                  <a:pt x="67618" y="114430"/>
                </a:moveTo>
                <a:cubicBezTo>
                  <a:pt x="93454" y="114430"/>
                  <a:pt x="114430" y="93454"/>
                  <a:pt x="114430" y="67618"/>
                </a:cubicBezTo>
                <a:cubicBezTo>
                  <a:pt x="114430" y="41781"/>
                  <a:pt x="93454" y="20805"/>
                  <a:pt x="67618" y="20805"/>
                </a:cubicBezTo>
                <a:cubicBezTo>
                  <a:pt x="41781" y="20805"/>
                  <a:pt x="20805" y="41781"/>
                  <a:pt x="20805" y="67618"/>
                </a:cubicBezTo>
                <a:cubicBezTo>
                  <a:pt x="20805" y="93454"/>
                  <a:pt x="41781" y="114430"/>
                  <a:pt x="67618" y="11443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080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渗透测试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0080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智能攻击路径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49574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7189132" y="611680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88001" y="0"/>
                  <a:pt x="92389" y="2633"/>
                  <a:pt x="94665" y="6827"/>
                </a:cubicBezTo>
                <a:lnTo>
                  <a:pt x="164883" y="136861"/>
                </a:lnTo>
                <a:cubicBezTo>
                  <a:pt x="167061" y="140892"/>
                  <a:pt x="166964" y="145768"/>
                  <a:pt x="164623" y="149702"/>
                </a:cubicBezTo>
                <a:cubicBezTo>
                  <a:pt x="162283" y="153635"/>
                  <a:pt x="158024" y="156041"/>
                  <a:pt x="153440" y="156041"/>
                </a:cubicBezTo>
                <a:lnTo>
                  <a:pt x="13003" y="156041"/>
                </a:lnTo>
                <a:cubicBezTo>
                  <a:pt x="8420" y="156041"/>
                  <a:pt x="4194" y="153635"/>
                  <a:pt x="1820" y="149702"/>
                </a:cubicBezTo>
                <a:cubicBezTo>
                  <a:pt x="-553" y="145768"/>
                  <a:pt x="-618" y="140892"/>
                  <a:pt x="1560" y="136861"/>
                </a:cubicBezTo>
                <a:lnTo>
                  <a:pt x="71779" y="6827"/>
                </a:lnTo>
                <a:cubicBezTo>
                  <a:pt x="74054" y="2633"/>
                  <a:pt x="78443" y="0"/>
                  <a:pt x="83222" y="0"/>
                </a:cubicBezTo>
                <a:close/>
                <a:moveTo>
                  <a:pt x="83222" y="54614"/>
                </a:moveTo>
                <a:cubicBezTo>
                  <a:pt x="78898" y="54614"/>
                  <a:pt x="75420" y="58093"/>
                  <a:pt x="75420" y="62416"/>
                </a:cubicBezTo>
                <a:lnTo>
                  <a:pt x="75420" y="98826"/>
                </a:lnTo>
                <a:cubicBezTo>
                  <a:pt x="75420" y="103150"/>
                  <a:pt x="78898" y="106628"/>
                  <a:pt x="83222" y="106628"/>
                </a:cubicBezTo>
                <a:cubicBezTo>
                  <a:pt x="87545" y="106628"/>
                  <a:pt x="91024" y="103150"/>
                  <a:pt x="91024" y="98826"/>
                </a:cubicBezTo>
                <a:lnTo>
                  <a:pt x="91024" y="62416"/>
                </a:lnTo>
                <a:cubicBezTo>
                  <a:pt x="91024" y="58093"/>
                  <a:pt x="87545" y="54614"/>
                  <a:pt x="83222" y="54614"/>
                </a:cubicBezTo>
                <a:close/>
                <a:moveTo>
                  <a:pt x="91902" y="124833"/>
                </a:moveTo>
                <a:cubicBezTo>
                  <a:pt x="92099" y="121611"/>
                  <a:pt x="90492" y="118546"/>
                  <a:pt x="87730" y="116875"/>
                </a:cubicBezTo>
                <a:cubicBezTo>
                  <a:pt x="84969" y="115204"/>
                  <a:pt x="81508" y="115204"/>
                  <a:pt x="78746" y="116875"/>
                </a:cubicBezTo>
                <a:cubicBezTo>
                  <a:pt x="75984" y="118546"/>
                  <a:pt x="74377" y="121611"/>
                  <a:pt x="74575" y="124833"/>
                </a:cubicBezTo>
                <a:cubicBezTo>
                  <a:pt x="74377" y="128055"/>
                  <a:pt x="75984" y="131120"/>
                  <a:pt x="78746" y="132791"/>
                </a:cubicBezTo>
                <a:cubicBezTo>
                  <a:pt x="81508" y="134461"/>
                  <a:pt x="84969" y="134461"/>
                  <a:pt x="87730" y="132791"/>
                </a:cubicBezTo>
                <a:cubicBezTo>
                  <a:pt x="90492" y="131120"/>
                  <a:pt x="92099" y="128055"/>
                  <a:pt x="91902" y="12483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7476247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威胁检测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76247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实时异常识别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85741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46039" y="6116805"/>
            <a:ext cx="124833" cy="166444"/>
          </a:xfrm>
          <a:custGeom>
            <a:avLst/>
            <a:gdLst/>
            <a:ahLst/>
            <a:cxnLst/>
            <a:rect l="l" t="t" r="r" b="b"/>
            <a:pathLst>
              <a:path w="124833" h="166444">
                <a:moveTo>
                  <a:pt x="0" y="20805"/>
                </a:moveTo>
                <a:cubicBezTo>
                  <a:pt x="0" y="9330"/>
                  <a:pt x="9330" y="0"/>
                  <a:pt x="20805" y="0"/>
                </a:cubicBezTo>
                <a:lnTo>
                  <a:pt x="69406" y="0"/>
                </a:lnTo>
                <a:cubicBezTo>
                  <a:pt x="74932" y="0"/>
                  <a:pt x="80231" y="2178"/>
                  <a:pt x="84132" y="6079"/>
                </a:cubicBezTo>
                <a:lnTo>
                  <a:pt x="118754" y="40733"/>
                </a:lnTo>
                <a:cubicBezTo>
                  <a:pt x="122655" y="44634"/>
                  <a:pt x="124833" y="49933"/>
                  <a:pt x="124833" y="55460"/>
                </a:cubicBezTo>
                <a:lnTo>
                  <a:pt x="124833" y="145638"/>
                </a:lnTo>
                <a:cubicBezTo>
                  <a:pt x="124833" y="157114"/>
                  <a:pt x="115503" y="166444"/>
                  <a:pt x="104027" y="166444"/>
                </a:cubicBezTo>
                <a:lnTo>
                  <a:pt x="20805" y="166444"/>
                </a:lnTo>
                <a:cubicBezTo>
                  <a:pt x="9330" y="166444"/>
                  <a:pt x="0" y="157114"/>
                  <a:pt x="0" y="145638"/>
                </a:cubicBezTo>
                <a:lnTo>
                  <a:pt x="0" y="20805"/>
                </a:lnTo>
                <a:close/>
                <a:moveTo>
                  <a:pt x="67618" y="19017"/>
                </a:moveTo>
                <a:lnTo>
                  <a:pt x="67618" y="49413"/>
                </a:lnTo>
                <a:cubicBezTo>
                  <a:pt x="67618" y="53737"/>
                  <a:pt x="71096" y="57215"/>
                  <a:pt x="75420" y="57215"/>
                </a:cubicBezTo>
                <a:lnTo>
                  <a:pt x="105815" y="57215"/>
                </a:lnTo>
                <a:lnTo>
                  <a:pt x="67618" y="19017"/>
                </a:lnTo>
                <a:close/>
                <a:moveTo>
                  <a:pt x="39010" y="83222"/>
                </a:moveTo>
                <a:cubicBezTo>
                  <a:pt x="34687" y="83222"/>
                  <a:pt x="31208" y="86700"/>
                  <a:pt x="31208" y="91024"/>
                </a:cubicBezTo>
                <a:cubicBezTo>
                  <a:pt x="31208" y="95348"/>
                  <a:pt x="34687" y="98826"/>
                  <a:pt x="39010" y="98826"/>
                </a:cubicBezTo>
                <a:lnTo>
                  <a:pt x="85823" y="98826"/>
                </a:lnTo>
                <a:cubicBezTo>
                  <a:pt x="90146" y="98826"/>
                  <a:pt x="93625" y="95348"/>
                  <a:pt x="93625" y="91024"/>
                </a:cubicBezTo>
                <a:cubicBezTo>
                  <a:pt x="93625" y="86700"/>
                  <a:pt x="90146" y="83222"/>
                  <a:pt x="85823" y="83222"/>
                </a:cubicBezTo>
                <a:lnTo>
                  <a:pt x="39010" y="83222"/>
                </a:lnTo>
                <a:close/>
                <a:moveTo>
                  <a:pt x="39010" y="114430"/>
                </a:moveTo>
                <a:cubicBezTo>
                  <a:pt x="34687" y="114430"/>
                  <a:pt x="31208" y="117908"/>
                  <a:pt x="31208" y="122232"/>
                </a:cubicBezTo>
                <a:cubicBezTo>
                  <a:pt x="31208" y="126556"/>
                  <a:pt x="34687" y="130034"/>
                  <a:pt x="39010" y="130034"/>
                </a:cubicBezTo>
                <a:lnTo>
                  <a:pt x="85823" y="130034"/>
                </a:lnTo>
                <a:cubicBezTo>
                  <a:pt x="90146" y="130034"/>
                  <a:pt x="93625" y="126556"/>
                  <a:pt x="93625" y="122232"/>
                </a:cubicBezTo>
                <a:cubicBezTo>
                  <a:pt x="93625" y="117908"/>
                  <a:pt x="90146" y="114430"/>
                  <a:pt x="85823" y="114430"/>
                </a:cubicBezTo>
                <a:lnTo>
                  <a:pt x="39010" y="11443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2349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合规审计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12349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全量日志记录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EMOTION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配备情感计算引擎，每一次交互都有温度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819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情感计算引擎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内置情感计算引擎，实时感知用户情绪变化，理解情感需求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7098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2886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9485" y="134"/>
                </a:moveTo>
                <a:cubicBezTo>
                  <a:pt x="165512" y="670"/>
                  <a:pt x="161806" y="2902"/>
                  <a:pt x="159484" y="6429"/>
                </a:cubicBezTo>
                <a:cubicBezTo>
                  <a:pt x="156448" y="11073"/>
                  <a:pt x="156359" y="17190"/>
                  <a:pt x="159306" y="21878"/>
                </a:cubicBezTo>
                <a:cubicBezTo>
                  <a:pt x="161806" y="25851"/>
                  <a:pt x="166226" y="27548"/>
                  <a:pt x="169932" y="30138"/>
                </a:cubicBezTo>
                <a:cubicBezTo>
                  <a:pt x="173281" y="32459"/>
                  <a:pt x="177790" y="36031"/>
                  <a:pt x="182300" y="40943"/>
                </a:cubicBezTo>
                <a:cubicBezTo>
                  <a:pt x="191229" y="50631"/>
                  <a:pt x="199936" y="65187"/>
                  <a:pt x="199936" y="85725"/>
                </a:cubicBezTo>
                <a:cubicBezTo>
                  <a:pt x="199936" y="93628"/>
                  <a:pt x="206320" y="100013"/>
                  <a:pt x="214223" y="100013"/>
                </a:cubicBezTo>
                <a:cubicBezTo>
                  <a:pt x="222126" y="100013"/>
                  <a:pt x="228511" y="93628"/>
                  <a:pt x="228511" y="85725"/>
                </a:cubicBezTo>
                <a:cubicBezTo>
                  <a:pt x="228511" y="56257"/>
                  <a:pt x="215786" y="35094"/>
                  <a:pt x="203284" y="21565"/>
                </a:cubicBezTo>
                <a:cubicBezTo>
                  <a:pt x="197078" y="14823"/>
                  <a:pt x="190872" y="9912"/>
                  <a:pt x="186184" y="6697"/>
                </a:cubicBezTo>
                <a:cubicBezTo>
                  <a:pt x="181273" y="3304"/>
                  <a:pt x="175692" y="-714"/>
                  <a:pt x="169396" y="134"/>
                </a:cubicBezTo>
                <a:close/>
                <a:moveTo>
                  <a:pt x="107156" y="57150"/>
                </a:moveTo>
                <a:cubicBezTo>
                  <a:pt x="81439" y="57150"/>
                  <a:pt x="60231" y="76617"/>
                  <a:pt x="57463" y="101575"/>
                </a:cubicBezTo>
                <a:cubicBezTo>
                  <a:pt x="56614" y="109433"/>
                  <a:pt x="49515" y="115059"/>
                  <a:pt x="41702" y="114211"/>
                </a:cubicBezTo>
                <a:cubicBezTo>
                  <a:pt x="33888" y="113362"/>
                  <a:pt x="28218" y="106263"/>
                  <a:pt x="29066" y="98450"/>
                </a:cubicBezTo>
                <a:cubicBezTo>
                  <a:pt x="33397" y="59159"/>
                  <a:pt x="66705" y="28575"/>
                  <a:pt x="107156" y="28575"/>
                </a:cubicBezTo>
                <a:cubicBezTo>
                  <a:pt x="150555" y="28575"/>
                  <a:pt x="185738" y="63758"/>
                  <a:pt x="185738" y="107156"/>
                </a:cubicBezTo>
                <a:cubicBezTo>
                  <a:pt x="185738" y="127695"/>
                  <a:pt x="177835" y="146402"/>
                  <a:pt x="164931" y="160422"/>
                </a:cubicBezTo>
                <a:cubicBezTo>
                  <a:pt x="159574" y="166226"/>
                  <a:pt x="157163" y="171495"/>
                  <a:pt x="157163" y="175915"/>
                </a:cubicBezTo>
                <a:lnTo>
                  <a:pt x="157163" y="178638"/>
                </a:lnTo>
                <a:cubicBezTo>
                  <a:pt x="157163" y="206276"/>
                  <a:pt x="134794" y="228645"/>
                  <a:pt x="107156" y="228645"/>
                </a:cubicBezTo>
                <a:cubicBezTo>
                  <a:pt x="99253" y="228645"/>
                  <a:pt x="92869" y="222260"/>
                  <a:pt x="92869" y="214357"/>
                </a:cubicBezTo>
                <a:cubicBezTo>
                  <a:pt x="92869" y="206454"/>
                  <a:pt x="99253" y="200070"/>
                  <a:pt x="107156" y="200070"/>
                </a:cubicBezTo>
                <a:cubicBezTo>
                  <a:pt x="118988" y="200070"/>
                  <a:pt x="128588" y="190470"/>
                  <a:pt x="128588" y="178638"/>
                </a:cubicBezTo>
                <a:lnTo>
                  <a:pt x="128588" y="175915"/>
                </a:lnTo>
                <a:cubicBezTo>
                  <a:pt x="128588" y="161226"/>
                  <a:pt x="136356" y="149304"/>
                  <a:pt x="143947" y="141089"/>
                </a:cubicBezTo>
                <a:cubicBezTo>
                  <a:pt x="152162" y="132159"/>
                  <a:pt x="157163" y="120283"/>
                  <a:pt x="157163" y="107201"/>
                </a:cubicBezTo>
                <a:cubicBezTo>
                  <a:pt x="157163" y="79564"/>
                  <a:pt x="134794" y="57195"/>
                  <a:pt x="107156" y="57195"/>
                </a:cubicBezTo>
                <a:close/>
                <a:moveTo>
                  <a:pt x="0" y="214313"/>
                </a:moveTo>
                <a:cubicBezTo>
                  <a:pt x="0" y="206427"/>
                  <a:pt x="6402" y="200025"/>
                  <a:pt x="14287" y="200025"/>
                </a:cubicBezTo>
                <a:cubicBezTo>
                  <a:pt x="22173" y="200025"/>
                  <a:pt x="28575" y="206427"/>
                  <a:pt x="28575" y="214313"/>
                </a:cubicBezTo>
                <a:cubicBezTo>
                  <a:pt x="28575" y="222198"/>
                  <a:pt x="22173" y="228600"/>
                  <a:pt x="14288" y="228600"/>
                </a:cubicBezTo>
                <a:cubicBezTo>
                  <a:pt x="6402" y="228600"/>
                  <a:pt x="0" y="222198"/>
                  <a:pt x="0" y="214313"/>
                </a:cubicBezTo>
                <a:close/>
                <a:moveTo>
                  <a:pt x="71438" y="171450"/>
                </a:moveTo>
                <a:cubicBezTo>
                  <a:pt x="79323" y="171450"/>
                  <a:pt x="85725" y="165048"/>
                  <a:pt x="85725" y="157163"/>
                </a:cubicBezTo>
                <a:cubicBezTo>
                  <a:pt x="85725" y="149277"/>
                  <a:pt x="79323" y="142875"/>
                  <a:pt x="71438" y="142875"/>
                </a:cubicBezTo>
                <a:cubicBezTo>
                  <a:pt x="63552" y="142875"/>
                  <a:pt x="57150" y="149277"/>
                  <a:pt x="57150" y="157163"/>
                </a:cubicBezTo>
                <a:cubicBezTo>
                  <a:pt x="57150" y="165048"/>
                  <a:pt x="63552" y="171450"/>
                  <a:pt x="71438" y="171450"/>
                </a:cubicBezTo>
                <a:close/>
                <a:moveTo>
                  <a:pt x="38666" y="161359"/>
                </a:moveTo>
                <a:cubicBezTo>
                  <a:pt x="33084" y="155778"/>
                  <a:pt x="24021" y="155778"/>
                  <a:pt x="18440" y="161359"/>
                </a:cubicBezTo>
                <a:cubicBezTo>
                  <a:pt x="12859" y="166941"/>
                  <a:pt x="12859" y="176004"/>
                  <a:pt x="18440" y="181585"/>
                </a:cubicBezTo>
                <a:lnTo>
                  <a:pt x="47015" y="210160"/>
                </a:lnTo>
                <a:cubicBezTo>
                  <a:pt x="52596" y="215741"/>
                  <a:pt x="61659" y="215741"/>
                  <a:pt x="67241" y="210160"/>
                </a:cubicBezTo>
                <a:cubicBezTo>
                  <a:pt x="72822" y="204579"/>
                  <a:pt x="72822" y="195516"/>
                  <a:pt x="67241" y="189934"/>
                </a:cubicBezTo>
                <a:lnTo>
                  <a:pt x="38666" y="161359"/>
                </a:lnTo>
                <a:close/>
                <a:moveTo>
                  <a:pt x="107156" y="92869"/>
                </a:moveTo>
                <a:cubicBezTo>
                  <a:pt x="99253" y="92869"/>
                  <a:pt x="92869" y="99253"/>
                  <a:pt x="92869" y="107156"/>
                </a:cubicBezTo>
                <a:cubicBezTo>
                  <a:pt x="92869" y="113094"/>
                  <a:pt x="88091" y="117872"/>
                  <a:pt x="82153" y="117872"/>
                </a:cubicBezTo>
                <a:cubicBezTo>
                  <a:pt x="76215" y="117872"/>
                  <a:pt x="71438" y="113094"/>
                  <a:pt x="71438" y="107156"/>
                </a:cubicBezTo>
                <a:cubicBezTo>
                  <a:pt x="71438" y="87422"/>
                  <a:pt x="87422" y="71438"/>
                  <a:pt x="107156" y="71438"/>
                </a:cubicBezTo>
                <a:cubicBezTo>
                  <a:pt x="126891" y="71438"/>
                  <a:pt x="142875" y="87422"/>
                  <a:pt x="142875" y="107156"/>
                </a:cubicBezTo>
                <a:cubicBezTo>
                  <a:pt x="142875" y="113094"/>
                  <a:pt x="138098" y="117872"/>
                  <a:pt x="132159" y="117872"/>
                </a:cubicBezTo>
                <a:cubicBezTo>
                  <a:pt x="126221" y="117872"/>
                  <a:pt x="121444" y="113094"/>
                  <a:pt x="121444" y="107156"/>
                </a:cubicBezTo>
                <a:cubicBezTo>
                  <a:pt x="121444" y="99253"/>
                  <a:pt x="115059" y="92869"/>
                  <a:pt x="107156" y="9286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" y="28670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多模态感知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32480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"听"语气、"看"表情、"懂"文字，六模态融合感知情感信号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766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>
                  <a:alpha val="30000"/>
                </a:srgbClr>
              </a:gs>
              <a:gs pos="100000">
                <a:srgbClr val="8D99AE">
                  <a:alpha val="10000"/>
                </a:srgbClr>
              </a:gs>
            </a:gsLst>
            <a:lin ang="2700000" scaled="1"/>
          </a:gradFill>
          <a:ln w="12700">
            <a:solidFill>
              <a:srgbClr val="8D99AE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213" y="3952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3572"/>
                </a:move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lose/>
                <a:moveTo>
                  <a:pt x="86752" y="135731"/>
                </a:moveTo>
                <a:lnTo>
                  <a:pt x="113273" y="135731"/>
                </a:lnTo>
                <a:cubicBezTo>
                  <a:pt x="115014" y="135731"/>
                  <a:pt x="116800" y="135776"/>
                  <a:pt x="118542" y="135910"/>
                </a:cubicBezTo>
                <a:cubicBezTo>
                  <a:pt x="111309" y="148501"/>
                  <a:pt x="107156" y="163056"/>
                  <a:pt x="107156" y="178594"/>
                </a:cubicBezTo>
                <a:cubicBezTo>
                  <a:pt x="107156" y="197257"/>
                  <a:pt x="113139" y="214536"/>
                  <a:pt x="123230" y="228600"/>
                </a:cubicBezTo>
                <a:lnTo>
                  <a:pt x="20404" y="228600"/>
                </a:lnTo>
                <a:cubicBezTo>
                  <a:pt x="13082" y="228600"/>
                  <a:pt x="7144" y="222662"/>
                  <a:pt x="7144" y="215339"/>
                </a:cubicBezTo>
                <a:cubicBezTo>
                  <a:pt x="7144" y="171361"/>
                  <a:pt x="42773" y="135731"/>
                  <a:pt x="86752" y="135731"/>
                </a:cubicBezTo>
                <a:close/>
                <a:moveTo>
                  <a:pt x="128588" y="178594"/>
                </a:moveTo>
                <a:cubicBezTo>
                  <a:pt x="128588" y="143109"/>
                  <a:pt x="157397" y="114300"/>
                  <a:pt x="192881" y="114300"/>
                </a:cubicBezTo>
                <a:cubicBezTo>
                  <a:pt x="228366" y="114300"/>
                  <a:pt x="257175" y="143109"/>
                  <a:pt x="257175" y="178594"/>
                </a:cubicBezTo>
                <a:cubicBezTo>
                  <a:pt x="257175" y="214078"/>
                  <a:pt x="228366" y="242888"/>
                  <a:pt x="192881" y="242888"/>
                </a:cubicBezTo>
                <a:cubicBezTo>
                  <a:pt x="157397" y="242888"/>
                  <a:pt x="128588" y="214078"/>
                  <a:pt x="128588" y="178594"/>
                </a:cubicBezTo>
                <a:close/>
                <a:moveTo>
                  <a:pt x="192881" y="142875"/>
                </a:moveTo>
                <a:cubicBezTo>
                  <a:pt x="188952" y="142875"/>
                  <a:pt x="185738" y="146090"/>
                  <a:pt x="185738" y="150019"/>
                </a:cubicBezTo>
                <a:lnTo>
                  <a:pt x="185738" y="178594"/>
                </a:lnTo>
                <a:cubicBezTo>
                  <a:pt x="185738" y="182523"/>
                  <a:pt x="188952" y="185738"/>
                  <a:pt x="192881" y="185738"/>
                </a:cubicBezTo>
                <a:lnTo>
                  <a:pt x="214313" y="185738"/>
                </a:lnTo>
                <a:cubicBezTo>
                  <a:pt x="218242" y="185738"/>
                  <a:pt x="221456" y="182523"/>
                  <a:pt x="221456" y="178594"/>
                </a:cubicBezTo>
                <a:cubicBezTo>
                  <a:pt x="221456" y="174665"/>
                  <a:pt x="218242" y="171450"/>
                  <a:pt x="214313" y="171450"/>
                </a:cubicBezTo>
                <a:lnTo>
                  <a:pt x="200025" y="171450"/>
                </a:lnTo>
                <a:lnTo>
                  <a:pt x="200025" y="150019"/>
                </a:lnTo>
                <a:cubicBezTo>
                  <a:pt x="200025" y="146090"/>
                  <a:pt x="196810" y="142875"/>
                  <a:pt x="192881" y="14287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39338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43148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记住每个人的故事与偏好，构建真实情感连接，有温度的陪伴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6013" y="1643063"/>
            <a:ext cx="5610225" cy="2124075"/>
          </a:xfrm>
          <a:custGeom>
            <a:avLst/>
            <a:gdLst/>
            <a:ahLst/>
            <a:cxnLst/>
            <a:rect l="l" t="t" r="r" b="b"/>
            <a:pathLst>
              <a:path w="5610225" h="212407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2047884"/>
                </a:lnTo>
                <a:cubicBezTo>
                  <a:pt x="5610225" y="2089935"/>
                  <a:pt x="5576085" y="2124075"/>
                  <a:pt x="5534034" y="2124075"/>
                </a:cubicBezTo>
                <a:lnTo>
                  <a:pt x="76191" y="2124075"/>
                </a:lnTo>
                <a:cubicBezTo>
                  <a:pt x="34140" y="2124075"/>
                  <a:pt x="0" y="2089935"/>
                  <a:pt x="0" y="20478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6988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91300" y="18002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3175" y="22574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情绪识别准确率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47003" y="2219325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3175" y="2638425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53175" y="28003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用户记忆深度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22484" y="27622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3175" y="31813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3175" y="33432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情感模态融合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11855" y="330517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38909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7463" y="40671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6753225" y="40481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多轮深度对话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3175" y="44291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支持长时间连续对话，理解上下文，主动关怀，真正懂你的AI伙伴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97675" y="50482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78683" y="10883"/>
                </a:moveTo>
                <a:cubicBezTo>
                  <a:pt x="175234" y="8070"/>
                  <a:pt x="170178" y="8606"/>
                  <a:pt x="167365" y="12055"/>
                </a:cubicBezTo>
                <a:cubicBezTo>
                  <a:pt x="164552" y="15504"/>
                  <a:pt x="165088" y="20561"/>
                  <a:pt x="168537" y="23373"/>
                </a:cubicBezTo>
                <a:cubicBezTo>
                  <a:pt x="186686" y="38107"/>
                  <a:pt x="198239" y="60543"/>
                  <a:pt x="198239" y="85725"/>
                </a:cubicBezTo>
                <a:cubicBezTo>
                  <a:pt x="198239" y="110907"/>
                  <a:pt x="186686" y="133343"/>
                  <a:pt x="168537" y="148110"/>
                </a:cubicBezTo>
                <a:cubicBezTo>
                  <a:pt x="165088" y="150923"/>
                  <a:pt x="164585" y="155979"/>
                  <a:pt x="167365" y="159428"/>
                </a:cubicBezTo>
                <a:cubicBezTo>
                  <a:pt x="170144" y="162878"/>
                  <a:pt x="175234" y="163380"/>
                  <a:pt x="178683" y="160600"/>
                </a:cubicBezTo>
                <a:cubicBezTo>
                  <a:pt x="200416" y="142886"/>
                  <a:pt x="214313" y="115930"/>
                  <a:pt x="214313" y="85725"/>
                </a:cubicBezTo>
                <a:cubicBezTo>
                  <a:pt x="214313" y="55520"/>
                  <a:pt x="200416" y="28530"/>
                  <a:pt x="178683" y="10883"/>
                </a:cubicBezTo>
                <a:close/>
                <a:moveTo>
                  <a:pt x="158424" y="35830"/>
                </a:moveTo>
                <a:cubicBezTo>
                  <a:pt x="154975" y="33018"/>
                  <a:pt x="149918" y="33553"/>
                  <a:pt x="147105" y="37002"/>
                </a:cubicBezTo>
                <a:cubicBezTo>
                  <a:pt x="144293" y="40451"/>
                  <a:pt x="144828" y="45508"/>
                  <a:pt x="148277" y="48321"/>
                </a:cubicBezTo>
                <a:cubicBezTo>
                  <a:pt x="159161" y="57161"/>
                  <a:pt x="166092" y="70623"/>
                  <a:pt x="166092" y="85725"/>
                </a:cubicBezTo>
                <a:cubicBezTo>
                  <a:pt x="166092" y="100827"/>
                  <a:pt x="159161" y="114289"/>
                  <a:pt x="148277" y="123163"/>
                </a:cubicBezTo>
                <a:cubicBezTo>
                  <a:pt x="144828" y="125976"/>
                  <a:pt x="144326" y="131032"/>
                  <a:pt x="147105" y="134481"/>
                </a:cubicBezTo>
                <a:cubicBezTo>
                  <a:pt x="149885" y="137930"/>
                  <a:pt x="154975" y="138432"/>
                  <a:pt x="158424" y="135653"/>
                </a:cubicBezTo>
                <a:cubicBezTo>
                  <a:pt x="172890" y="123866"/>
                  <a:pt x="182166" y="105884"/>
                  <a:pt x="182166" y="85758"/>
                </a:cubicBezTo>
                <a:cubicBezTo>
                  <a:pt x="182166" y="65633"/>
                  <a:pt x="172890" y="47651"/>
                  <a:pt x="158424" y="35864"/>
                </a:cubicBezTo>
                <a:close/>
                <a:moveTo>
                  <a:pt x="138165" y="60778"/>
                </a:moveTo>
                <a:cubicBezTo>
                  <a:pt x="134715" y="57965"/>
                  <a:pt x="129659" y="58501"/>
                  <a:pt x="126846" y="61950"/>
                </a:cubicBezTo>
                <a:cubicBezTo>
                  <a:pt x="124033" y="65399"/>
                  <a:pt x="124569" y="70455"/>
                  <a:pt x="128018" y="73268"/>
                </a:cubicBezTo>
                <a:cubicBezTo>
                  <a:pt x="131635" y="76215"/>
                  <a:pt x="133945" y="80702"/>
                  <a:pt x="133945" y="85725"/>
                </a:cubicBezTo>
                <a:cubicBezTo>
                  <a:pt x="133945" y="90748"/>
                  <a:pt x="131635" y="95235"/>
                  <a:pt x="128018" y="98215"/>
                </a:cubicBezTo>
                <a:cubicBezTo>
                  <a:pt x="124569" y="101028"/>
                  <a:pt x="124067" y="106085"/>
                  <a:pt x="126846" y="109534"/>
                </a:cubicBezTo>
                <a:cubicBezTo>
                  <a:pt x="129626" y="112983"/>
                  <a:pt x="134715" y="113485"/>
                  <a:pt x="138165" y="110706"/>
                </a:cubicBezTo>
                <a:cubicBezTo>
                  <a:pt x="145364" y="104779"/>
                  <a:pt x="150019" y="95804"/>
                  <a:pt x="150019" y="85725"/>
                </a:cubicBezTo>
                <a:cubicBezTo>
                  <a:pt x="150019" y="75646"/>
                  <a:pt x="145364" y="66671"/>
                  <a:pt x="138165" y="60778"/>
                </a:cubicBezTo>
                <a:close/>
                <a:moveTo>
                  <a:pt x="26789" y="117872"/>
                </a:moveTo>
                <a:lnTo>
                  <a:pt x="42863" y="117872"/>
                </a:lnTo>
                <a:lnTo>
                  <a:pt x="87768" y="157788"/>
                </a:lnTo>
                <a:cubicBezTo>
                  <a:pt x="89911" y="159696"/>
                  <a:pt x="92657" y="160734"/>
                  <a:pt x="95503" y="160734"/>
                </a:cubicBezTo>
                <a:cubicBezTo>
                  <a:pt x="101932" y="160734"/>
                  <a:pt x="107156" y="155511"/>
                  <a:pt x="107156" y="149081"/>
                </a:cubicBezTo>
                <a:lnTo>
                  <a:pt x="107156" y="22369"/>
                </a:lnTo>
                <a:cubicBezTo>
                  <a:pt x="107156" y="15939"/>
                  <a:pt x="101932" y="10716"/>
                  <a:pt x="95503" y="10716"/>
                </a:cubicBezTo>
                <a:cubicBezTo>
                  <a:pt x="92657" y="10716"/>
                  <a:pt x="89911" y="11754"/>
                  <a:pt x="87768" y="13662"/>
                </a:cubicBezTo>
                <a:lnTo>
                  <a:pt x="42863" y="53578"/>
                </a:lnTo>
                <a:lnTo>
                  <a:pt x="26789" y="53578"/>
                </a:lnTo>
                <a:cubicBezTo>
                  <a:pt x="17915" y="53578"/>
                  <a:pt x="10716" y="60778"/>
                  <a:pt x="10716" y="69652"/>
                </a:cubicBezTo>
                <a:lnTo>
                  <a:pt x="10716" y="101798"/>
                </a:lnTo>
                <a:cubicBezTo>
                  <a:pt x="10716" y="110672"/>
                  <a:pt x="17915" y="117872"/>
                  <a:pt x="26789" y="11787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6238875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语音语调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89850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17707" y="504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48220" y="69652"/>
                </a:moveTo>
                <a:cubicBezTo>
                  <a:pt x="48220" y="63737"/>
                  <a:pt x="53022" y="58936"/>
                  <a:pt x="58936" y="58936"/>
                </a:cubicBezTo>
                <a:cubicBezTo>
                  <a:pt x="64850" y="58936"/>
                  <a:pt x="69652" y="63737"/>
                  <a:pt x="69652" y="69652"/>
                </a:cubicBezTo>
                <a:cubicBezTo>
                  <a:pt x="69652" y="75566"/>
                  <a:pt x="64850" y="80367"/>
                  <a:pt x="58936" y="80367"/>
                </a:cubicBezTo>
                <a:cubicBezTo>
                  <a:pt x="53022" y="80367"/>
                  <a:pt x="48220" y="75566"/>
                  <a:pt x="48220" y="69652"/>
                </a:cubicBezTo>
                <a:close/>
                <a:moveTo>
                  <a:pt x="112514" y="58936"/>
                </a:moveTo>
                <a:cubicBezTo>
                  <a:pt x="118428" y="58936"/>
                  <a:pt x="123230" y="63737"/>
                  <a:pt x="123230" y="69652"/>
                </a:cubicBezTo>
                <a:cubicBezTo>
                  <a:pt x="123230" y="75566"/>
                  <a:pt x="118428" y="80367"/>
                  <a:pt x="112514" y="80367"/>
                </a:cubicBezTo>
                <a:cubicBezTo>
                  <a:pt x="106600" y="80367"/>
                  <a:pt x="101798" y="75566"/>
                  <a:pt x="101798" y="69652"/>
                </a:cubicBezTo>
                <a:cubicBezTo>
                  <a:pt x="101798" y="63737"/>
                  <a:pt x="106600" y="58936"/>
                  <a:pt x="112514" y="589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8137475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面部表情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88525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16382" y="504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17872"/>
                </a:moveTo>
                <a:lnTo>
                  <a:pt x="0" y="42863"/>
                </a:lnTo>
                <a:cubicBezTo>
                  <a:pt x="0" y="25115"/>
                  <a:pt x="14399" y="10716"/>
                  <a:pt x="32147" y="10716"/>
                </a:cubicBezTo>
                <a:lnTo>
                  <a:pt x="139303" y="10716"/>
                </a:lnTo>
                <a:cubicBezTo>
                  <a:pt x="157051" y="10716"/>
                  <a:pt x="171450" y="25115"/>
                  <a:pt x="171450" y="42863"/>
                </a:cubicBezTo>
                <a:lnTo>
                  <a:pt x="171450" y="117872"/>
                </a:lnTo>
                <a:cubicBezTo>
                  <a:pt x="171450" y="135620"/>
                  <a:pt x="157051" y="150019"/>
                  <a:pt x="139303" y="150019"/>
                </a:cubicBezTo>
                <a:lnTo>
                  <a:pt x="99120" y="150019"/>
                </a:lnTo>
                <a:cubicBezTo>
                  <a:pt x="97378" y="150019"/>
                  <a:pt x="95704" y="150588"/>
                  <a:pt x="94298" y="151626"/>
                </a:cubicBezTo>
                <a:lnTo>
                  <a:pt x="55721" y="180558"/>
                </a:lnTo>
                <a:cubicBezTo>
                  <a:pt x="54315" y="181596"/>
                  <a:pt x="52641" y="182166"/>
                  <a:pt x="50899" y="182166"/>
                </a:cubicBezTo>
                <a:cubicBezTo>
                  <a:pt x="46446" y="182166"/>
                  <a:pt x="42863" y="178583"/>
                  <a:pt x="42863" y="174129"/>
                </a:cubicBezTo>
                <a:lnTo>
                  <a:pt x="42863" y="150019"/>
                </a:lnTo>
                <a:lnTo>
                  <a:pt x="32147" y="150019"/>
                </a:lnTo>
                <a:cubicBezTo>
                  <a:pt x="14399" y="150019"/>
                  <a:pt x="0" y="135620"/>
                  <a:pt x="0" y="11787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10036150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文本语义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stmtoreu5k32/novalclaw_final_bg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5804" y="12287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75" kern="0" dirty="0">
                <a:solidFill>
                  <a:srgbClr val="5E8B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READY FOR PRODUCTION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20554" y="1609725"/>
            <a:ext cx="475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6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 100x 的飞跃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34000" y="23336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4"/>
          <p:cNvSpPr/>
          <p:nvPr/>
        </p:nvSpPr>
        <p:spPr>
          <a:xfrm>
            <a:off x="3806279" y="2600325"/>
            <a:ext cx="458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三行代码启动企业级安全智能体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19922" y="3138488"/>
            <a:ext cx="4152900" cy="1914525"/>
          </a:xfrm>
          <a:custGeom>
            <a:avLst/>
            <a:gdLst/>
            <a:ahLst/>
            <a:cxnLst/>
            <a:rect l="l" t="t" r="r" b="b"/>
            <a:pathLst>
              <a:path w="4152900" h="1914525">
                <a:moveTo>
                  <a:pt x="76198" y="0"/>
                </a:moveTo>
                <a:lnTo>
                  <a:pt x="4076702" y="0"/>
                </a:lnTo>
                <a:cubicBezTo>
                  <a:pt x="4118785" y="0"/>
                  <a:pt x="4152900" y="34115"/>
                  <a:pt x="4152900" y="76198"/>
                </a:cubicBezTo>
                <a:lnTo>
                  <a:pt x="4152900" y="1838327"/>
                </a:lnTo>
                <a:cubicBezTo>
                  <a:pt x="4152900" y="1880410"/>
                  <a:pt x="4118785" y="1914525"/>
                  <a:pt x="4076702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77097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7"/>
          <p:cNvSpPr/>
          <p:nvPr/>
        </p:nvSpPr>
        <p:spPr>
          <a:xfrm>
            <a:off x="4558085" y="337185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github.com/Superagentsys/novalclaw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53285" y="3752850"/>
            <a:ext cx="3686175" cy="1066800"/>
          </a:xfrm>
          <a:custGeom>
            <a:avLst/>
            <a:gdLst/>
            <a:ahLst/>
            <a:cxnLst/>
            <a:rect l="l" t="t" r="r" b="b"/>
            <a:pathLst>
              <a:path w="3686175" h="1066800">
                <a:moveTo>
                  <a:pt x="76202" y="0"/>
                </a:moveTo>
                <a:lnTo>
                  <a:pt x="3609973" y="0"/>
                </a:lnTo>
                <a:cubicBezTo>
                  <a:pt x="3652058" y="0"/>
                  <a:pt x="3686175" y="34117"/>
                  <a:pt x="3686175" y="76202"/>
                </a:cubicBezTo>
                <a:lnTo>
                  <a:pt x="3686175" y="990598"/>
                </a:lnTo>
                <a:cubicBezTo>
                  <a:pt x="3686175" y="1032683"/>
                  <a:pt x="3652058" y="1066800"/>
                  <a:pt x="36099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405685" y="3905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pip install novalclaw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05685" y="41719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novalclaw init my-agent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05685" y="44386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novalclaw deploy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11228" y="54102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3"/>
          <p:cNvSpPr/>
          <p:nvPr/>
        </p:nvSpPr>
        <p:spPr>
          <a:xfrm>
            <a:off x="3724349" y="536257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 性能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57601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5"/>
          <p:cNvSpPr/>
          <p:nvPr/>
        </p:nvSpPr>
        <p:spPr>
          <a:xfrm>
            <a:off x="5081439" y="5362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10164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7"/>
          <p:cNvSpPr/>
          <p:nvPr/>
        </p:nvSpPr>
        <p:spPr>
          <a:xfrm>
            <a:off x="6534001" y="53625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91276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19"/>
          <p:cNvSpPr/>
          <p:nvPr/>
        </p:nvSpPr>
        <p:spPr>
          <a:xfrm>
            <a:off x="7815114" y="5362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原生多模态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spc="57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企业级安全防护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151717"/>
            <a:ext cx="1155315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安全是 NovalClaw 的基因，Rust 内存安全 + 六层纵深防御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410" y="1552118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874" y="170058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634344" y="1799557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40490" y="30368"/>
                </a:moveTo>
                <a:lnTo>
                  <a:pt x="40490" y="50613"/>
                </a:lnTo>
                <a:lnTo>
                  <a:pt x="80980" y="50613"/>
                </a:lnTo>
                <a:lnTo>
                  <a:pt x="80980" y="30368"/>
                </a:lnTo>
                <a:cubicBezTo>
                  <a:pt x="80980" y="19201"/>
                  <a:pt x="71901" y="10123"/>
                  <a:pt x="60735" y="10123"/>
                </a:cubicBezTo>
                <a:cubicBezTo>
                  <a:pt x="49569" y="10123"/>
                  <a:pt x="40490" y="19201"/>
                  <a:pt x="40490" y="30368"/>
                </a:cubicBezTo>
                <a:close/>
                <a:moveTo>
                  <a:pt x="20245" y="50613"/>
                </a:moveTo>
                <a:lnTo>
                  <a:pt x="20245" y="30368"/>
                </a:lnTo>
                <a:cubicBezTo>
                  <a:pt x="20245" y="8003"/>
                  <a:pt x="38371" y="-10123"/>
                  <a:pt x="60735" y="-10123"/>
                </a:cubicBezTo>
                <a:cubicBezTo>
                  <a:pt x="83099" y="-10123"/>
                  <a:pt x="101225" y="8003"/>
                  <a:pt x="101225" y="30368"/>
                </a:cubicBezTo>
                <a:lnTo>
                  <a:pt x="101225" y="50613"/>
                </a:lnTo>
                <a:cubicBezTo>
                  <a:pt x="112391" y="50613"/>
                  <a:pt x="121470" y="59691"/>
                  <a:pt x="121470" y="70858"/>
                </a:cubicBezTo>
                <a:lnTo>
                  <a:pt x="121470" y="141715"/>
                </a:lnTo>
                <a:cubicBezTo>
                  <a:pt x="121470" y="152882"/>
                  <a:pt x="112391" y="161960"/>
                  <a:pt x="101225" y="161960"/>
                </a:cubicBezTo>
                <a:lnTo>
                  <a:pt x="20245" y="161960"/>
                </a:lnTo>
                <a:cubicBezTo>
                  <a:pt x="9079" y="161960"/>
                  <a:pt x="0" y="152882"/>
                  <a:pt x="0" y="141715"/>
                </a:cubicBezTo>
                <a:lnTo>
                  <a:pt x="0" y="70858"/>
                </a:lnTo>
                <a:cubicBezTo>
                  <a:pt x="0" y="59691"/>
                  <a:pt x="9079" y="50613"/>
                  <a:pt x="20245" y="50613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8" name="Text 6"/>
          <p:cNvSpPr/>
          <p:nvPr/>
        </p:nvSpPr>
        <p:spPr>
          <a:xfrm>
            <a:off x="980759" y="1754568"/>
            <a:ext cx="125969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874" y="2168466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编译期安全，彻底杜绝内存漏洞，历史零 CVE 记录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4410" y="2667844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874" y="281630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099" y="2915283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80158" y="917"/>
                </a:moveTo>
                <a:cubicBezTo>
                  <a:pt x="78829" y="316"/>
                  <a:pt x="77406" y="0"/>
                  <a:pt x="75919" y="0"/>
                </a:cubicBezTo>
                <a:cubicBezTo>
                  <a:pt x="74432" y="0"/>
                  <a:pt x="73009" y="316"/>
                  <a:pt x="71680" y="917"/>
                </a:cubicBezTo>
                <a:lnTo>
                  <a:pt x="12115" y="26192"/>
                </a:lnTo>
                <a:cubicBezTo>
                  <a:pt x="5156" y="29134"/>
                  <a:pt x="-32" y="35998"/>
                  <a:pt x="0" y="44286"/>
                </a:cubicBezTo>
                <a:cubicBezTo>
                  <a:pt x="158" y="75666"/>
                  <a:pt x="13064" y="133079"/>
                  <a:pt x="67568" y="159176"/>
                </a:cubicBezTo>
                <a:cubicBezTo>
                  <a:pt x="72850" y="161707"/>
                  <a:pt x="78987" y="161707"/>
                  <a:pt x="84270" y="159176"/>
                </a:cubicBezTo>
                <a:cubicBezTo>
                  <a:pt x="138805" y="133079"/>
                  <a:pt x="151711" y="75666"/>
                  <a:pt x="151838" y="44286"/>
                </a:cubicBezTo>
                <a:cubicBezTo>
                  <a:pt x="151869" y="35998"/>
                  <a:pt x="146681" y="29134"/>
                  <a:pt x="139722" y="26192"/>
                </a:cubicBezTo>
                <a:lnTo>
                  <a:pt x="80158" y="917"/>
                </a:lnTo>
                <a:close/>
                <a:moveTo>
                  <a:pt x="75919" y="40490"/>
                </a:moveTo>
                <a:cubicBezTo>
                  <a:pt x="80126" y="40490"/>
                  <a:pt x="83511" y="43875"/>
                  <a:pt x="83511" y="48082"/>
                </a:cubicBezTo>
                <a:cubicBezTo>
                  <a:pt x="83511" y="55326"/>
                  <a:pt x="92273" y="58964"/>
                  <a:pt x="97398" y="53839"/>
                </a:cubicBezTo>
                <a:cubicBezTo>
                  <a:pt x="100371" y="50866"/>
                  <a:pt x="105179" y="50866"/>
                  <a:pt x="108121" y="53839"/>
                </a:cubicBezTo>
                <a:cubicBezTo>
                  <a:pt x="111063" y="56813"/>
                  <a:pt x="111095" y="61621"/>
                  <a:pt x="108121" y="64563"/>
                </a:cubicBezTo>
                <a:cubicBezTo>
                  <a:pt x="102997" y="69687"/>
                  <a:pt x="106634" y="78449"/>
                  <a:pt x="113878" y="78449"/>
                </a:cubicBezTo>
                <a:cubicBezTo>
                  <a:pt x="118085" y="78449"/>
                  <a:pt x="121470" y="81834"/>
                  <a:pt x="121470" y="86041"/>
                </a:cubicBezTo>
                <a:cubicBezTo>
                  <a:pt x="121470" y="90248"/>
                  <a:pt x="118085" y="93633"/>
                  <a:pt x="113878" y="93633"/>
                </a:cubicBezTo>
                <a:cubicBezTo>
                  <a:pt x="106634" y="93633"/>
                  <a:pt x="102997" y="102396"/>
                  <a:pt x="108121" y="107520"/>
                </a:cubicBezTo>
                <a:cubicBezTo>
                  <a:pt x="111095" y="110494"/>
                  <a:pt x="111095" y="115302"/>
                  <a:pt x="108121" y="118244"/>
                </a:cubicBezTo>
                <a:cubicBezTo>
                  <a:pt x="105148" y="121185"/>
                  <a:pt x="100339" y="121217"/>
                  <a:pt x="97398" y="118244"/>
                </a:cubicBezTo>
                <a:cubicBezTo>
                  <a:pt x="92273" y="113119"/>
                  <a:pt x="83511" y="116757"/>
                  <a:pt x="83511" y="124001"/>
                </a:cubicBezTo>
                <a:cubicBezTo>
                  <a:pt x="83511" y="128208"/>
                  <a:pt x="80126" y="131593"/>
                  <a:pt x="75919" y="131593"/>
                </a:cubicBezTo>
                <a:cubicBezTo>
                  <a:pt x="71712" y="131593"/>
                  <a:pt x="68327" y="128208"/>
                  <a:pt x="68327" y="124001"/>
                </a:cubicBezTo>
                <a:cubicBezTo>
                  <a:pt x="68327" y="116757"/>
                  <a:pt x="59565" y="113119"/>
                  <a:pt x="54440" y="118244"/>
                </a:cubicBezTo>
                <a:cubicBezTo>
                  <a:pt x="51467" y="121217"/>
                  <a:pt x="46658" y="121217"/>
                  <a:pt x="43717" y="118244"/>
                </a:cubicBezTo>
                <a:cubicBezTo>
                  <a:pt x="40775" y="115270"/>
                  <a:pt x="40743" y="110462"/>
                  <a:pt x="43717" y="107520"/>
                </a:cubicBezTo>
                <a:cubicBezTo>
                  <a:pt x="48841" y="102396"/>
                  <a:pt x="45203" y="93633"/>
                  <a:pt x="37959" y="93633"/>
                </a:cubicBezTo>
                <a:cubicBezTo>
                  <a:pt x="33752" y="93633"/>
                  <a:pt x="30368" y="90248"/>
                  <a:pt x="30368" y="86041"/>
                </a:cubicBezTo>
                <a:cubicBezTo>
                  <a:pt x="30368" y="81834"/>
                  <a:pt x="33752" y="78449"/>
                  <a:pt x="37959" y="78449"/>
                </a:cubicBezTo>
                <a:cubicBezTo>
                  <a:pt x="45203" y="78449"/>
                  <a:pt x="48841" y="69687"/>
                  <a:pt x="43717" y="64563"/>
                </a:cubicBezTo>
                <a:cubicBezTo>
                  <a:pt x="40743" y="61589"/>
                  <a:pt x="40743" y="56781"/>
                  <a:pt x="43717" y="53839"/>
                </a:cubicBezTo>
                <a:cubicBezTo>
                  <a:pt x="46690" y="50897"/>
                  <a:pt x="51498" y="50866"/>
                  <a:pt x="54440" y="53839"/>
                </a:cubicBezTo>
                <a:cubicBezTo>
                  <a:pt x="59565" y="58964"/>
                  <a:pt x="68327" y="55326"/>
                  <a:pt x="68327" y="48082"/>
                </a:cubicBezTo>
                <a:cubicBezTo>
                  <a:pt x="68327" y="43875"/>
                  <a:pt x="71712" y="40490"/>
                  <a:pt x="75919" y="40490"/>
                </a:cubicBezTo>
                <a:close/>
                <a:moveTo>
                  <a:pt x="65796" y="83511"/>
                </a:moveTo>
                <a:cubicBezTo>
                  <a:pt x="69986" y="83511"/>
                  <a:pt x="73388" y="80109"/>
                  <a:pt x="73388" y="75919"/>
                </a:cubicBezTo>
                <a:cubicBezTo>
                  <a:pt x="73388" y="71729"/>
                  <a:pt x="69986" y="68327"/>
                  <a:pt x="65796" y="68327"/>
                </a:cubicBezTo>
                <a:cubicBezTo>
                  <a:pt x="61606" y="68327"/>
                  <a:pt x="58204" y="71729"/>
                  <a:pt x="58204" y="75919"/>
                </a:cubicBezTo>
                <a:cubicBezTo>
                  <a:pt x="58204" y="80109"/>
                  <a:pt x="61606" y="83511"/>
                  <a:pt x="65796" y="83511"/>
                </a:cubicBezTo>
                <a:close/>
                <a:moveTo>
                  <a:pt x="93633" y="96164"/>
                </a:moveTo>
                <a:cubicBezTo>
                  <a:pt x="93633" y="91974"/>
                  <a:pt x="90231" y="88572"/>
                  <a:pt x="86041" y="88572"/>
                </a:cubicBezTo>
                <a:cubicBezTo>
                  <a:pt x="81851" y="88572"/>
                  <a:pt x="78449" y="91974"/>
                  <a:pt x="78449" y="96164"/>
                </a:cubicBezTo>
                <a:cubicBezTo>
                  <a:pt x="78449" y="100354"/>
                  <a:pt x="81851" y="103756"/>
                  <a:pt x="86041" y="103756"/>
                </a:cubicBezTo>
                <a:cubicBezTo>
                  <a:pt x="90231" y="103756"/>
                  <a:pt x="93633" y="100354"/>
                  <a:pt x="93633" y="96164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3" name="Text 11"/>
          <p:cNvSpPr/>
          <p:nvPr/>
        </p:nvSpPr>
        <p:spPr>
          <a:xfrm>
            <a:off x="980759" y="2870294"/>
            <a:ext cx="149363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注入防护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874" y="3284192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多层过滤检测恶意输入，实时识别并阻断攻击尝试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4410" y="3783569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874" y="393203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221" y="4031008"/>
            <a:ext cx="141715" cy="161960"/>
          </a:xfrm>
          <a:custGeom>
            <a:avLst/>
            <a:gdLst/>
            <a:ahLst/>
            <a:cxnLst/>
            <a:rect l="l" t="t" r="r" b="b"/>
            <a:pathLst>
              <a:path w="141715" h="161960">
                <a:moveTo>
                  <a:pt x="116852" y="40490"/>
                </a:moveTo>
                <a:lnTo>
                  <a:pt x="106002" y="25306"/>
                </a:lnTo>
                <a:lnTo>
                  <a:pt x="35745" y="25306"/>
                </a:lnTo>
                <a:lnTo>
                  <a:pt x="24895" y="40490"/>
                </a:lnTo>
                <a:lnTo>
                  <a:pt x="116852" y="40490"/>
                </a:lnTo>
                <a:close/>
                <a:moveTo>
                  <a:pt x="0" y="46975"/>
                </a:moveTo>
                <a:cubicBezTo>
                  <a:pt x="0" y="42768"/>
                  <a:pt x="1329" y="38655"/>
                  <a:pt x="3764" y="35207"/>
                </a:cubicBezTo>
                <a:lnTo>
                  <a:pt x="19264" y="13539"/>
                </a:lnTo>
                <a:cubicBezTo>
                  <a:pt x="23060" y="8225"/>
                  <a:pt x="29197" y="5061"/>
                  <a:pt x="35713" y="5061"/>
                </a:cubicBezTo>
                <a:lnTo>
                  <a:pt x="105970" y="5061"/>
                </a:lnTo>
                <a:cubicBezTo>
                  <a:pt x="112518" y="5061"/>
                  <a:pt x="118655" y="8225"/>
                  <a:pt x="122451" y="13539"/>
                </a:cubicBezTo>
                <a:lnTo>
                  <a:pt x="137919" y="35207"/>
                </a:lnTo>
                <a:cubicBezTo>
                  <a:pt x="140387" y="38655"/>
                  <a:pt x="141683" y="42768"/>
                  <a:pt x="141683" y="46975"/>
                </a:cubicBezTo>
                <a:lnTo>
                  <a:pt x="141715" y="131593"/>
                </a:lnTo>
                <a:cubicBezTo>
                  <a:pt x="141715" y="142759"/>
                  <a:pt x="132637" y="151838"/>
                  <a:pt x="121470" y="151838"/>
                </a:cubicBezTo>
                <a:lnTo>
                  <a:pt x="20245" y="151838"/>
                </a:lnTo>
                <a:cubicBezTo>
                  <a:pt x="9079" y="151838"/>
                  <a:pt x="0" y="142759"/>
                  <a:pt x="0" y="131593"/>
                </a:cubicBezTo>
                <a:lnTo>
                  <a:pt x="0" y="46975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8" name="Text 16"/>
          <p:cNvSpPr/>
          <p:nvPr/>
        </p:nvSpPr>
        <p:spPr>
          <a:xfrm>
            <a:off x="980759" y="3986019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数据沙箱隔离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874" y="4399917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智能体独立沙箱运行，数据隔离保护，防止横向渗透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4410" y="4899294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874" y="504775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099" y="5146734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06286" y="111348"/>
                </a:moveTo>
                <a:cubicBezTo>
                  <a:pt x="137033" y="111348"/>
                  <a:pt x="161960" y="86421"/>
                  <a:pt x="161960" y="55674"/>
                </a:cubicBezTo>
                <a:cubicBezTo>
                  <a:pt x="161960" y="24927"/>
                  <a:pt x="137033" y="0"/>
                  <a:pt x="106286" y="0"/>
                </a:cubicBezTo>
                <a:cubicBezTo>
                  <a:pt x="75539" y="0"/>
                  <a:pt x="50613" y="24927"/>
                  <a:pt x="50613" y="55674"/>
                </a:cubicBezTo>
                <a:cubicBezTo>
                  <a:pt x="50613" y="61589"/>
                  <a:pt x="51530" y="67315"/>
                  <a:pt x="53238" y="72661"/>
                </a:cubicBezTo>
                <a:lnTo>
                  <a:pt x="2214" y="123684"/>
                </a:lnTo>
                <a:cubicBezTo>
                  <a:pt x="791" y="125108"/>
                  <a:pt x="0" y="127037"/>
                  <a:pt x="0" y="129062"/>
                </a:cubicBezTo>
                <a:lnTo>
                  <a:pt x="0" y="154368"/>
                </a:lnTo>
                <a:cubicBezTo>
                  <a:pt x="0" y="158575"/>
                  <a:pt x="3385" y="161960"/>
                  <a:pt x="7592" y="161960"/>
                </a:cubicBezTo>
                <a:lnTo>
                  <a:pt x="32898" y="161960"/>
                </a:lnTo>
                <a:cubicBezTo>
                  <a:pt x="37105" y="161960"/>
                  <a:pt x="40490" y="158575"/>
                  <a:pt x="40490" y="154368"/>
                </a:cubicBezTo>
                <a:lnTo>
                  <a:pt x="40490" y="141715"/>
                </a:lnTo>
                <a:lnTo>
                  <a:pt x="53143" y="141715"/>
                </a:lnTo>
                <a:cubicBezTo>
                  <a:pt x="57350" y="141715"/>
                  <a:pt x="60735" y="138330"/>
                  <a:pt x="60735" y="134123"/>
                </a:cubicBezTo>
                <a:lnTo>
                  <a:pt x="60735" y="121470"/>
                </a:lnTo>
                <a:lnTo>
                  <a:pt x="73388" y="121470"/>
                </a:lnTo>
                <a:cubicBezTo>
                  <a:pt x="75413" y="121470"/>
                  <a:pt x="77342" y="120679"/>
                  <a:pt x="78766" y="119256"/>
                </a:cubicBezTo>
                <a:lnTo>
                  <a:pt x="89300" y="108722"/>
                </a:lnTo>
                <a:cubicBezTo>
                  <a:pt x="94645" y="110430"/>
                  <a:pt x="100371" y="111348"/>
                  <a:pt x="106286" y="111348"/>
                </a:cubicBezTo>
                <a:close/>
                <a:moveTo>
                  <a:pt x="118939" y="30368"/>
                </a:moveTo>
                <a:cubicBezTo>
                  <a:pt x="125923" y="30368"/>
                  <a:pt x="131593" y="36037"/>
                  <a:pt x="131593" y="43021"/>
                </a:cubicBezTo>
                <a:cubicBezTo>
                  <a:pt x="131593" y="50004"/>
                  <a:pt x="125923" y="55674"/>
                  <a:pt x="118939" y="55674"/>
                </a:cubicBezTo>
                <a:cubicBezTo>
                  <a:pt x="111956" y="55674"/>
                  <a:pt x="106286" y="50004"/>
                  <a:pt x="106286" y="43021"/>
                </a:cubicBezTo>
                <a:cubicBezTo>
                  <a:pt x="106286" y="36037"/>
                  <a:pt x="111956" y="30368"/>
                  <a:pt x="118939" y="30368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3" name="Text 21"/>
          <p:cNvSpPr/>
          <p:nvPr/>
        </p:nvSpPr>
        <p:spPr>
          <a:xfrm>
            <a:off x="980759" y="5101745"/>
            <a:ext cx="98975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端到端加密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874" y="5515643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TLS 1.3 + AES-256 全链路加密，确保数据传输安全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0935" y="1552118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3577" y="1664590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247416" y="1952520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SOC2 Type II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51915" y="2168466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服务组织控制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56201" y="1552118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18914" y="1664590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9132682" y="1952520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ISO27001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7181" y="2168466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信息安全管理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0935" y="2577866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3577" y="2690338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247416" y="2978267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等保三级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1915" y="3194214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等级保护认证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6201" y="2577866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18914" y="2690338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9132682" y="2978267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GDPR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37181" y="3194214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数据隐私合规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0935" y="3603613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9398" y="375207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6410501" y="3851052"/>
            <a:ext cx="182205" cy="161960"/>
          </a:xfrm>
          <a:custGeom>
            <a:avLst/>
            <a:gdLst/>
            <a:ahLst/>
            <a:cxnLst/>
            <a:rect l="l" t="t" r="r" b="b"/>
            <a:pathLst>
              <a:path w="182205" h="161960">
                <a:moveTo>
                  <a:pt x="70858" y="78449"/>
                </a:moveTo>
                <a:cubicBezTo>
                  <a:pt x="91808" y="78449"/>
                  <a:pt x="108817" y="61440"/>
                  <a:pt x="108817" y="40490"/>
                </a:cubicBezTo>
                <a:cubicBezTo>
                  <a:pt x="108817" y="19540"/>
                  <a:pt x="91808" y="2531"/>
                  <a:pt x="70858" y="2531"/>
                </a:cubicBezTo>
                <a:cubicBezTo>
                  <a:pt x="49907" y="2531"/>
                  <a:pt x="32898" y="19540"/>
                  <a:pt x="32898" y="40490"/>
                </a:cubicBezTo>
                <a:cubicBezTo>
                  <a:pt x="32898" y="61440"/>
                  <a:pt x="49907" y="78449"/>
                  <a:pt x="70858" y="78449"/>
                </a:cubicBezTo>
                <a:close/>
                <a:moveTo>
                  <a:pt x="61463" y="96164"/>
                </a:moveTo>
                <a:cubicBezTo>
                  <a:pt x="30304" y="96164"/>
                  <a:pt x="5061" y="121407"/>
                  <a:pt x="5061" y="152565"/>
                </a:cubicBezTo>
                <a:cubicBezTo>
                  <a:pt x="5061" y="157753"/>
                  <a:pt x="9268" y="161960"/>
                  <a:pt x="14456" y="161960"/>
                </a:cubicBezTo>
                <a:lnTo>
                  <a:pt x="94013" y="161960"/>
                </a:lnTo>
                <a:cubicBezTo>
                  <a:pt x="82562" y="148485"/>
                  <a:pt x="75919" y="131118"/>
                  <a:pt x="75919" y="112739"/>
                </a:cubicBezTo>
                <a:lnTo>
                  <a:pt x="75919" y="102902"/>
                </a:lnTo>
                <a:cubicBezTo>
                  <a:pt x="75919" y="100592"/>
                  <a:pt x="76235" y="98315"/>
                  <a:pt x="76836" y="96164"/>
                </a:cubicBezTo>
                <a:lnTo>
                  <a:pt x="61463" y="96164"/>
                </a:lnTo>
                <a:close/>
                <a:moveTo>
                  <a:pt x="140861" y="154526"/>
                </a:moveTo>
                <a:lnTo>
                  <a:pt x="136654" y="156519"/>
                </a:lnTo>
                <a:lnTo>
                  <a:pt x="136654" y="97018"/>
                </a:lnTo>
                <a:lnTo>
                  <a:pt x="167021" y="107140"/>
                </a:lnTo>
                <a:lnTo>
                  <a:pt x="167021" y="113340"/>
                </a:lnTo>
                <a:cubicBezTo>
                  <a:pt x="167021" y="130992"/>
                  <a:pt x="156836" y="147029"/>
                  <a:pt x="140861" y="154558"/>
                </a:cubicBezTo>
                <a:close/>
                <a:moveTo>
                  <a:pt x="133459" y="82087"/>
                </a:moveTo>
                <a:lnTo>
                  <a:pt x="98030" y="93886"/>
                </a:lnTo>
                <a:cubicBezTo>
                  <a:pt x="93886" y="95278"/>
                  <a:pt x="91103" y="99137"/>
                  <a:pt x="91103" y="103503"/>
                </a:cubicBezTo>
                <a:lnTo>
                  <a:pt x="91103" y="113340"/>
                </a:lnTo>
                <a:cubicBezTo>
                  <a:pt x="91103" y="136875"/>
                  <a:pt x="104705" y="158291"/>
                  <a:pt x="125962" y="168287"/>
                </a:cubicBezTo>
                <a:lnTo>
                  <a:pt x="131814" y="171039"/>
                </a:lnTo>
                <a:cubicBezTo>
                  <a:pt x="133332" y="171735"/>
                  <a:pt x="134977" y="172114"/>
                  <a:pt x="136622" y="172114"/>
                </a:cubicBezTo>
                <a:cubicBezTo>
                  <a:pt x="138267" y="172114"/>
                  <a:pt x="139944" y="171735"/>
                  <a:pt x="141430" y="171039"/>
                </a:cubicBezTo>
                <a:lnTo>
                  <a:pt x="147283" y="168287"/>
                </a:lnTo>
                <a:cubicBezTo>
                  <a:pt x="168603" y="158259"/>
                  <a:pt x="182205" y="136844"/>
                  <a:pt x="182205" y="113309"/>
                </a:cubicBezTo>
                <a:lnTo>
                  <a:pt x="182205" y="103471"/>
                </a:lnTo>
                <a:cubicBezTo>
                  <a:pt x="182205" y="99106"/>
                  <a:pt x="179421" y="95246"/>
                  <a:pt x="175278" y="93855"/>
                </a:cubicBezTo>
                <a:lnTo>
                  <a:pt x="139849" y="82056"/>
                </a:lnTo>
                <a:cubicBezTo>
                  <a:pt x="137761" y="81360"/>
                  <a:pt x="135515" y="81360"/>
                  <a:pt x="133459" y="82056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44" name="Text 42"/>
          <p:cNvSpPr/>
          <p:nvPr/>
        </p:nvSpPr>
        <p:spPr>
          <a:xfrm>
            <a:off x="6787283" y="3806063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越狱防御系统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19398" y="4219962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深度语义识别绕过攻击，多维度检测异常行为模式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0935" y="4719339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9398" y="486780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0868" y="4966778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98505" y="10123"/>
                </a:moveTo>
                <a:lnTo>
                  <a:pt x="101225" y="10123"/>
                </a:lnTo>
                <a:cubicBezTo>
                  <a:pt x="112391" y="10123"/>
                  <a:pt x="121470" y="19201"/>
                  <a:pt x="121470" y="30368"/>
                </a:cubicBezTo>
                <a:lnTo>
                  <a:pt x="121470" y="141715"/>
                </a:lnTo>
                <a:cubicBezTo>
                  <a:pt x="121470" y="152882"/>
                  <a:pt x="112391" y="161960"/>
                  <a:pt x="101225" y="161960"/>
                </a:cubicBezTo>
                <a:lnTo>
                  <a:pt x="20245" y="161960"/>
                </a:lnTo>
                <a:cubicBezTo>
                  <a:pt x="9079" y="161960"/>
                  <a:pt x="0" y="152882"/>
                  <a:pt x="0" y="141715"/>
                </a:cubicBezTo>
                <a:lnTo>
                  <a:pt x="0" y="30368"/>
                </a:lnTo>
                <a:cubicBezTo>
                  <a:pt x="0" y="19201"/>
                  <a:pt x="9079" y="10123"/>
                  <a:pt x="20245" y="10123"/>
                </a:cubicBezTo>
                <a:lnTo>
                  <a:pt x="22965" y="10123"/>
                </a:lnTo>
                <a:cubicBezTo>
                  <a:pt x="26445" y="4081"/>
                  <a:pt x="32993" y="0"/>
                  <a:pt x="40490" y="0"/>
                </a:cubicBezTo>
                <a:lnTo>
                  <a:pt x="80980" y="0"/>
                </a:lnTo>
                <a:cubicBezTo>
                  <a:pt x="88477" y="0"/>
                  <a:pt x="95025" y="4081"/>
                  <a:pt x="98505" y="10123"/>
                </a:cubicBezTo>
                <a:close/>
                <a:moveTo>
                  <a:pt x="78449" y="35429"/>
                </a:moveTo>
                <a:cubicBezTo>
                  <a:pt x="82657" y="35429"/>
                  <a:pt x="86041" y="32044"/>
                  <a:pt x="86041" y="27837"/>
                </a:cubicBezTo>
                <a:cubicBezTo>
                  <a:pt x="86041" y="23630"/>
                  <a:pt x="82657" y="20245"/>
                  <a:pt x="78449" y="20245"/>
                </a:cubicBezTo>
                <a:lnTo>
                  <a:pt x="43021" y="20245"/>
                </a:lnTo>
                <a:cubicBezTo>
                  <a:pt x="38813" y="20245"/>
                  <a:pt x="35429" y="23630"/>
                  <a:pt x="35429" y="27837"/>
                </a:cubicBezTo>
                <a:cubicBezTo>
                  <a:pt x="35429" y="32044"/>
                  <a:pt x="38813" y="35429"/>
                  <a:pt x="43021" y="35429"/>
                </a:cubicBezTo>
                <a:lnTo>
                  <a:pt x="78449" y="35429"/>
                </a:lnTo>
                <a:close/>
                <a:moveTo>
                  <a:pt x="87433" y="82467"/>
                </a:moveTo>
                <a:cubicBezTo>
                  <a:pt x="89647" y="78924"/>
                  <a:pt x="88572" y="74242"/>
                  <a:pt x="85029" y="71996"/>
                </a:cubicBezTo>
                <a:cubicBezTo>
                  <a:pt x="81486" y="69750"/>
                  <a:pt x="76805" y="70858"/>
                  <a:pt x="74559" y="74400"/>
                </a:cubicBezTo>
                <a:lnTo>
                  <a:pt x="55136" y="105496"/>
                </a:lnTo>
                <a:lnTo>
                  <a:pt x="46595" y="94108"/>
                </a:lnTo>
                <a:cubicBezTo>
                  <a:pt x="44065" y="90755"/>
                  <a:pt x="39320" y="90059"/>
                  <a:pt x="35967" y="92589"/>
                </a:cubicBezTo>
                <a:cubicBezTo>
                  <a:pt x="32613" y="95120"/>
                  <a:pt x="31918" y="99865"/>
                  <a:pt x="34448" y="103218"/>
                </a:cubicBezTo>
                <a:lnTo>
                  <a:pt x="49632" y="123463"/>
                </a:lnTo>
                <a:cubicBezTo>
                  <a:pt x="51119" y="125456"/>
                  <a:pt x="53523" y="126595"/>
                  <a:pt x="56022" y="126500"/>
                </a:cubicBezTo>
                <a:cubicBezTo>
                  <a:pt x="58521" y="126405"/>
                  <a:pt x="60798" y="125076"/>
                  <a:pt x="62127" y="122925"/>
                </a:cubicBezTo>
                <a:lnTo>
                  <a:pt x="87433" y="82435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49" name="Text 47"/>
          <p:cNvSpPr/>
          <p:nvPr/>
        </p:nvSpPr>
        <p:spPr>
          <a:xfrm>
            <a:off x="6787283" y="4921789"/>
            <a:ext cx="80980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审计追踪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19398" y="5335687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全量操作日志记录，满足合规审计要求，可追溯可审查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4410" y="6015020"/>
            <a:ext cx="11463179" cy="476883"/>
          </a:xfrm>
          <a:custGeom>
            <a:avLst/>
            <a:gdLst/>
            <a:ahLst/>
            <a:cxnLst/>
            <a:rect l="l" t="t" r="r" b="b"/>
            <a:pathLst>
              <a:path w="11463179" h="476883">
                <a:moveTo>
                  <a:pt x="71981" y="0"/>
                </a:moveTo>
                <a:lnTo>
                  <a:pt x="11391199" y="0"/>
                </a:lnTo>
                <a:cubicBezTo>
                  <a:pt x="11430952" y="0"/>
                  <a:pt x="11463179" y="32227"/>
                  <a:pt x="11463179" y="71981"/>
                </a:cubicBezTo>
                <a:lnTo>
                  <a:pt x="11463179" y="404902"/>
                </a:lnTo>
                <a:cubicBezTo>
                  <a:pt x="11463179" y="444656"/>
                  <a:pt x="11430952" y="476883"/>
                  <a:pt x="11391199" y="476883"/>
                </a:cubicBezTo>
                <a:lnTo>
                  <a:pt x="71981" y="476883"/>
                </a:lnTo>
                <a:cubicBezTo>
                  <a:pt x="32253" y="476883"/>
                  <a:pt x="0" y="444629"/>
                  <a:pt x="0" y="404902"/>
                </a:cubicBezTo>
                <a:lnTo>
                  <a:pt x="0" y="71981"/>
                </a:lnTo>
                <a:cubicBezTo>
                  <a:pt x="0" y="32253"/>
                  <a:pt x="32253" y="0"/>
                  <a:pt x="71981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87475" y="614548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09914" y="0"/>
                  <a:pt x="111854" y="422"/>
                  <a:pt x="113625" y="1223"/>
                </a:cubicBezTo>
                <a:lnTo>
                  <a:pt x="193087" y="34923"/>
                </a:lnTo>
                <a:cubicBezTo>
                  <a:pt x="202366" y="38845"/>
                  <a:pt x="209283" y="47998"/>
                  <a:pt x="209241" y="59048"/>
                </a:cubicBezTo>
                <a:cubicBezTo>
                  <a:pt x="209030" y="100888"/>
                  <a:pt x="191822" y="177439"/>
                  <a:pt x="119150" y="212235"/>
                </a:cubicBezTo>
                <a:cubicBezTo>
                  <a:pt x="112107" y="215609"/>
                  <a:pt x="103924" y="215609"/>
                  <a:pt x="96881" y="212235"/>
                </a:cubicBezTo>
                <a:cubicBezTo>
                  <a:pt x="24167" y="177439"/>
                  <a:pt x="7001" y="100888"/>
                  <a:pt x="6791" y="59048"/>
                </a:cubicBezTo>
                <a:cubicBezTo>
                  <a:pt x="6748" y="47998"/>
                  <a:pt x="13665" y="38845"/>
                  <a:pt x="22944" y="34923"/>
                </a:cubicBezTo>
                <a:lnTo>
                  <a:pt x="102364" y="1223"/>
                </a:lnTo>
                <a:cubicBezTo>
                  <a:pt x="104135" y="422"/>
                  <a:pt x="106033" y="0"/>
                  <a:pt x="107973" y="0"/>
                </a:cubicBezTo>
                <a:close/>
                <a:moveTo>
                  <a:pt x="107973" y="28174"/>
                </a:moveTo>
                <a:lnTo>
                  <a:pt x="107973" y="187646"/>
                </a:lnTo>
                <a:cubicBezTo>
                  <a:pt x="166178" y="159472"/>
                  <a:pt x="181826" y="97050"/>
                  <a:pt x="182205" y="59681"/>
                </a:cubicBezTo>
                <a:lnTo>
                  <a:pt x="107973" y="28216"/>
                </a:lnTo>
                <a:lnTo>
                  <a:pt x="107973" y="2821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3993400" y="6127492"/>
            <a:ext cx="152962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六层纵深防御体系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550017" y="6145488"/>
            <a:ext cx="989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677111" y="6127492"/>
            <a:ext cx="14036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 CVE 漏洞记录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07618" y="6145488"/>
            <a:ext cx="989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234712" y="6127492"/>
            <a:ext cx="134067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合规认证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spc="55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99038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NovalClaw vs OpenClaw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116" y="1126770"/>
            <a:ext cx="1156699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全面对比，优势一目了然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517" y="1518498"/>
            <a:ext cx="11478966" cy="4119752"/>
          </a:xfrm>
          <a:custGeom>
            <a:avLst/>
            <a:gdLst/>
            <a:ahLst/>
            <a:cxnLst/>
            <a:rect l="l" t="t" r="r" b="b"/>
            <a:pathLst>
              <a:path w="11478966" h="4119752">
                <a:moveTo>
                  <a:pt x="70407" y="0"/>
                </a:moveTo>
                <a:lnTo>
                  <a:pt x="11408560" y="0"/>
                </a:lnTo>
                <a:cubicBezTo>
                  <a:pt x="11447444" y="0"/>
                  <a:pt x="11478966" y="31522"/>
                  <a:pt x="11478966" y="70407"/>
                </a:cubicBezTo>
                <a:lnTo>
                  <a:pt x="11478966" y="4049345"/>
                </a:lnTo>
                <a:cubicBezTo>
                  <a:pt x="11478966" y="4088230"/>
                  <a:pt x="11447444" y="4119752"/>
                  <a:pt x="11408560" y="4119752"/>
                </a:cubicBezTo>
                <a:lnTo>
                  <a:pt x="70407" y="4119752"/>
                </a:lnTo>
                <a:cubicBezTo>
                  <a:pt x="31522" y="4119752"/>
                  <a:pt x="0" y="4088230"/>
                  <a:pt x="0" y="4049345"/>
                </a:cubicBezTo>
                <a:lnTo>
                  <a:pt x="0" y="70407"/>
                </a:lnTo>
                <a:cubicBezTo>
                  <a:pt x="0" y="31522"/>
                  <a:pt x="31522" y="0"/>
                  <a:pt x="7040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0918" y="1522900"/>
          <a:ext cx="11470163" cy="4110949"/>
        </p:xfrm>
        <a:graphic>
          <a:graphicData uri="http://schemas.openxmlformats.org/drawingml/2006/table">
            <a:tbl>
              <a:tblPr/>
              <a:tblGrid>
                <a:gridCol w="2605655"/>
                <a:gridCol w="4947223"/>
                <a:gridCol w="3917285"/>
              </a:tblGrid>
              <a:tr h="456772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NovalClaw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OpenClaw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核心语言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Python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推理性能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1x 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记忆系统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三层分级记忆架构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固定上下文窗口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内存安全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编译期保障，零 CVE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运行时检查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多模态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模态原生融合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文本为主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并发模型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百万级异步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线程池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冷启动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3ms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200ms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安全防护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六层纵深防御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基础防护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6517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531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5743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63396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07410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42622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记忆容量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0274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4289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67x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49500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启动加速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77153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1168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6x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56379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模态融合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量化金融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更快的底层架构，让金融分析和交易决策领先一步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1400175"/>
          </a:xfrm>
          <a:custGeom>
            <a:avLst/>
            <a:gdLst/>
            <a:ahLst/>
            <a:cxnLst/>
            <a:rect l="l" t="t" r="r" b="b"/>
            <a:pathLst>
              <a:path w="5610225" h="140017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323977"/>
                </a:lnTo>
                <a:cubicBezTo>
                  <a:pt x="5610225" y="1366060"/>
                  <a:pt x="5576110" y="1400175"/>
                  <a:pt x="553402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8192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亚毫秒级推理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原生推理引擎提供亚毫秒级延迟，在高频交易中每微秒意味着收益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543175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&lt;0.5ms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16125" y="26193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交易决策延迟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1670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3343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942975" y="33242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705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财报、K线、新闻一体化分析，全方位洞察市场动态与投资机会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338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" y="4410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" y="4391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7720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持久化海量市场数据与交易模式，从历史中学习优化策略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1643063"/>
            <a:ext cx="5610225" cy="2124075"/>
          </a:xfrm>
          <a:custGeom>
            <a:avLst/>
            <a:gdLst/>
            <a:ahLst/>
            <a:cxnLst/>
            <a:rect l="l" t="t" r="r" b="b"/>
            <a:pathLst>
              <a:path w="5610225" h="212407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2047884"/>
                </a:lnTo>
                <a:cubicBezTo>
                  <a:pt x="5610225" y="2089935"/>
                  <a:pt x="5576085" y="2124075"/>
                  <a:pt x="5534034" y="2124075"/>
                </a:cubicBezTo>
                <a:lnTo>
                  <a:pt x="76191" y="2124075"/>
                </a:lnTo>
                <a:cubicBezTo>
                  <a:pt x="34140" y="2124075"/>
                  <a:pt x="0" y="2089935"/>
                  <a:pt x="0" y="20478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6988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1300" y="18002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3175" y="22574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交易决策延迟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51431" y="221932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&lt;0.5ms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3175" y="2638425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3175" y="28003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回测速度提升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8240" y="276225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31813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53175" y="33432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46978" y="3305175"/>
            <a:ext cx="81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99.9%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38909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1750" y="4067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753225" y="40481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金融级安全合规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3175" y="44291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满足金融监管审计要求，端到端加密，全量审计日志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4953000"/>
            <a:ext cx="2752725" cy="657225"/>
          </a:xfrm>
          <a:custGeom>
            <a:avLst/>
            <a:gdLst/>
            <a:ahLst/>
            <a:cxnLst/>
            <a:rect l="l" t="t" r="r" b="b"/>
            <a:pathLst>
              <a:path w="2752725" h="657225">
                <a:moveTo>
                  <a:pt x="38099" y="0"/>
                </a:moveTo>
                <a:lnTo>
                  <a:pt x="2714626" y="0"/>
                </a:lnTo>
                <a:cubicBezTo>
                  <a:pt x="2735667" y="0"/>
                  <a:pt x="2752725" y="17058"/>
                  <a:pt x="2752725" y="38099"/>
                </a:cubicBezTo>
                <a:lnTo>
                  <a:pt x="2752725" y="619126"/>
                </a:lnTo>
                <a:cubicBezTo>
                  <a:pt x="2752725" y="640167"/>
                  <a:pt x="2735667" y="657225"/>
                  <a:pt x="2714626" y="657225"/>
                </a:cubicBezTo>
                <a:lnTo>
                  <a:pt x="38099" y="657225"/>
                </a:lnTo>
                <a:cubicBezTo>
                  <a:pt x="17058" y="657225"/>
                  <a:pt x="0" y="640167"/>
                  <a:pt x="0" y="6191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72363" y="5072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272213" y="530066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交易所级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8275" y="4953000"/>
            <a:ext cx="2752725" cy="657225"/>
          </a:xfrm>
          <a:custGeom>
            <a:avLst/>
            <a:gdLst/>
            <a:ahLst/>
            <a:cxnLst/>
            <a:rect l="l" t="t" r="r" b="b"/>
            <a:pathLst>
              <a:path w="2752725" h="657225">
                <a:moveTo>
                  <a:pt x="38099" y="0"/>
                </a:moveTo>
                <a:lnTo>
                  <a:pt x="2714626" y="0"/>
                </a:lnTo>
                <a:cubicBezTo>
                  <a:pt x="2735667" y="0"/>
                  <a:pt x="2752725" y="17058"/>
                  <a:pt x="2752725" y="38099"/>
                </a:cubicBezTo>
                <a:lnTo>
                  <a:pt x="2752725" y="619126"/>
                </a:lnTo>
                <a:cubicBezTo>
                  <a:pt x="2752725" y="640167"/>
                  <a:pt x="2735667" y="657225"/>
                  <a:pt x="2714626" y="657225"/>
                </a:cubicBezTo>
                <a:lnTo>
                  <a:pt x="38099" y="657225"/>
                </a:lnTo>
                <a:cubicBezTo>
                  <a:pt x="17058" y="657225"/>
                  <a:pt x="0" y="640167"/>
                  <a:pt x="0" y="6191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315575" y="50720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9139238" y="530066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合规认证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92803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spc="52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CYBERSEC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99197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网络安全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1065240"/>
            <a:ext cx="1160112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速度更快更智能，自动化渗透测试的终极武器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48" y="1435577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331" y="1589537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9933" y="124833"/>
                </a:moveTo>
                <a:lnTo>
                  <a:pt x="9558" y="124833"/>
                </a:lnTo>
                <a:cubicBezTo>
                  <a:pt x="-156" y="124833"/>
                  <a:pt x="-6125" y="114261"/>
                  <a:pt x="-1131" y="105913"/>
                </a:cubicBezTo>
                <a:lnTo>
                  <a:pt x="19505" y="71506"/>
                </a:lnTo>
                <a:cubicBezTo>
                  <a:pt x="22899" y="65849"/>
                  <a:pt x="28985" y="62416"/>
                  <a:pt x="35577" y="62416"/>
                </a:cubicBezTo>
                <a:lnTo>
                  <a:pt x="72637" y="62416"/>
                </a:lnTo>
                <a:cubicBezTo>
                  <a:pt x="102324" y="12132"/>
                  <a:pt x="146600" y="9597"/>
                  <a:pt x="176209" y="13927"/>
                </a:cubicBezTo>
                <a:cubicBezTo>
                  <a:pt x="181203" y="14668"/>
                  <a:pt x="185104" y="18569"/>
                  <a:pt x="185806" y="23523"/>
                </a:cubicBezTo>
                <a:cubicBezTo>
                  <a:pt x="190136" y="53132"/>
                  <a:pt x="187600" y="97409"/>
                  <a:pt x="137316" y="127095"/>
                </a:cubicBezTo>
                <a:lnTo>
                  <a:pt x="137316" y="164155"/>
                </a:lnTo>
                <a:cubicBezTo>
                  <a:pt x="137316" y="170748"/>
                  <a:pt x="133883" y="176833"/>
                  <a:pt x="128227" y="180227"/>
                </a:cubicBezTo>
                <a:lnTo>
                  <a:pt x="93820" y="200864"/>
                </a:lnTo>
                <a:cubicBezTo>
                  <a:pt x="85510" y="205857"/>
                  <a:pt x="74900" y="199849"/>
                  <a:pt x="74900" y="190175"/>
                </a:cubicBezTo>
                <a:lnTo>
                  <a:pt x="74900" y="149799"/>
                </a:lnTo>
                <a:cubicBezTo>
                  <a:pt x="74900" y="136029"/>
                  <a:pt x="63704" y="124833"/>
                  <a:pt x="49933" y="124833"/>
                </a:cubicBezTo>
                <a:lnTo>
                  <a:pt x="49894" y="124833"/>
                </a:lnTo>
                <a:close/>
                <a:moveTo>
                  <a:pt x="156041" y="62416"/>
                </a:moveTo>
                <a:cubicBezTo>
                  <a:pt x="156041" y="52082"/>
                  <a:pt x="147651" y="43691"/>
                  <a:pt x="137316" y="43691"/>
                </a:cubicBezTo>
                <a:cubicBezTo>
                  <a:pt x="126981" y="43691"/>
                  <a:pt x="118591" y="52082"/>
                  <a:pt x="118591" y="62416"/>
                </a:cubicBezTo>
                <a:cubicBezTo>
                  <a:pt x="118591" y="72751"/>
                  <a:pt x="126981" y="81141"/>
                  <a:pt x="137316" y="81141"/>
                </a:cubicBezTo>
                <a:cubicBezTo>
                  <a:pt x="147651" y="81141"/>
                  <a:pt x="156041" y="72751"/>
                  <a:pt x="156041" y="6241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3896" y="1572893"/>
            <a:ext cx="116510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 扫描速度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4365" y="1905780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比传统方案快 100 倍的扫描引擎，大规模资产秒级发现，快速定位潜在威胁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048" y="2367661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848" y="2521622"/>
            <a:ext cx="224699" cy="199732"/>
          </a:xfrm>
          <a:custGeom>
            <a:avLst/>
            <a:gdLst/>
            <a:ahLst/>
            <a:cxnLst/>
            <a:rect l="l" t="t" r="r" b="b"/>
            <a:pathLst>
              <a:path w="224699" h="199732">
                <a:moveTo>
                  <a:pt x="112349" y="12483"/>
                </a:moveTo>
                <a:cubicBezTo>
                  <a:pt x="80829" y="12483"/>
                  <a:pt x="55590" y="26839"/>
                  <a:pt x="37216" y="43926"/>
                </a:cubicBezTo>
                <a:cubicBezTo>
                  <a:pt x="18959" y="60895"/>
                  <a:pt x="6749" y="81141"/>
                  <a:pt x="936" y="95068"/>
                </a:cubicBezTo>
                <a:cubicBezTo>
                  <a:pt x="-351" y="98150"/>
                  <a:pt x="-351" y="101583"/>
                  <a:pt x="936" y="104664"/>
                </a:cubicBezTo>
                <a:cubicBezTo>
                  <a:pt x="6749" y="118591"/>
                  <a:pt x="18959" y="138876"/>
                  <a:pt x="37216" y="155807"/>
                </a:cubicBezTo>
                <a:cubicBezTo>
                  <a:pt x="55590" y="172854"/>
                  <a:pt x="80829" y="187249"/>
                  <a:pt x="112349" y="187249"/>
                </a:cubicBezTo>
                <a:cubicBezTo>
                  <a:pt x="143870" y="187249"/>
                  <a:pt x="169109" y="172893"/>
                  <a:pt x="187483" y="155807"/>
                </a:cubicBezTo>
                <a:cubicBezTo>
                  <a:pt x="205740" y="138837"/>
                  <a:pt x="217950" y="118591"/>
                  <a:pt x="223763" y="104664"/>
                </a:cubicBezTo>
                <a:cubicBezTo>
                  <a:pt x="225050" y="101583"/>
                  <a:pt x="225050" y="98150"/>
                  <a:pt x="223763" y="95068"/>
                </a:cubicBezTo>
                <a:cubicBezTo>
                  <a:pt x="217950" y="81141"/>
                  <a:pt x="205740" y="60856"/>
                  <a:pt x="187483" y="43926"/>
                </a:cubicBezTo>
                <a:cubicBezTo>
                  <a:pt x="169109" y="26878"/>
                  <a:pt x="143870" y="12483"/>
                  <a:pt x="112349" y="12483"/>
                </a:cubicBezTo>
                <a:close/>
                <a:moveTo>
                  <a:pt x="56175" y="99866"/>
                </a:moveTo>
                <a:cubicBezTo>
                  <a:pt x="56175" y="68863"/>
                  <a:pt x="81346" y="43691"/>
                  <a:pt x="112349" y="43691"/>
                </a:cubicBezTo>
                <a:cubicBezTo>
                  <a:pt x="143353" y="43691"/>
                  <a:pt x="168524" y="68863"/>
                  <a:pt x="168524" y="99866"/>
                </a:cubicBezTo>
                <a:cubicBezTo>
                  <a:pt x="168524" y="130870"/>
                  <a:pt x="143353" y="156041"/>
                  <a:pt x="112349" y="156041"/>
                </a:cubicBezTo>
                <a:cubicBezTo>
                  <a:pt x="81346" y="156041"/>
                  <a:pt x="56175" y="130870"/>
                  <a:pt x="56175" y="99866"/>
                </a:cubicBezTo>
                <a:close/>
                <a:moveTo>
                  <a:pt x="112349" y="74900"/>
                </a:moveTo>
                <a:cubicBezTo>
                  <a:pt x="112349" y="88670"/>
                  <a:pt x="101154" y="99866"/>
                  <a:pt x="87383" y="99866"/>
                </a:cubicBezTo>
                <a:cubicBezTo>
                  <a:pt x="82897" y="99866"/>
                  <a:pt x="78684" y="98696"/>
                  <a:pt x="75017" y="96589"/>
                </a:cubicBezTo>
                <a:cubicBezTo>
                  <a:pt x="74627" y="100841"/>
                  <a:pt x="74978" y="105211"/>
                  <a:pt x="76148" y="109541"/>
                </a:cubicBezTo>
                <a:cubicBezTo>
                  <a:pt x="81492" y="129514"/>
                  <a:pt x="102051" y="141373"/>
                  <a:pt x="122024" y="136029"/>
                </a:cubicBezTo>
                <a:cubicBezTo>
                  <a:pt x="141997" y="130684"/>
                  <a:pt x="153856" y="110126"/>
                  <a:pt x="148512" y="90153"/>
                </a:cubicBezTo>
                <a:cubicBezTo>
                  <a:pt x="143753" y="72325"/>
                  <a:pt x="126861" y="60973"/>
                  <a:pt x="109073" y="62533"/>
                </a:cubicBezTo>
                <a:cubicBezTo>
                  <a:pt x="111140" y="66161"/>
                  <a:pt x="112349" y="70374"/>
                  <a:pt x="112349" y="749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23896" y="2504977"/>
            <a:ext cx="124832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多模态威胁分析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365" y="2837865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同时分析网络流量、系统日志和屏幕截图，多维度联动检测威胁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048" y="3299746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331" y="3453706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6812" y="21846"/>
                </a:moveTo>
                <a:cubicBezTo>
                  <a:pt x="46812" y="9792"/>
                  <a:pt x="56604" y="0"/>
                  <a:pt x="68658" y="0"/>
                </a:cubicBezTo>
                <a:lnTo>
                  <a:pt x="78020" y="0"/>
                </a:lnTo>
                <a:cubicBezTo>
                  <a:pt x="84925" y="0"/>
                  <a:pt x="90504" y="5578"/>
                  <a:pt x="90504" y="12483"/>
                </a:cubicBezTo>
                <a:lnTo>
                  <a:pt x="90504" y="187249"/>
                </a:lnTo>
                <a:cubicBezTo>
                  <a:pt x="90504" y="194154"/>
                  <a:pt x="84925" y="199732"/>
                  <a:pt x="78020" y="199732"/>
                </a:cubicBezTo>
                <a:lnTo>
                  <a:pt x="65537" y="199732"/>
                </a:lnTo>
                <a:cubicBezTo>
                  <a:pt x="53912" y="199732"/>
                  <a:pt x="44121" y="191774"/>
                  <a:pt x="41351" y="181008"/>
                </a:cubicBezTo>
                <a:cubicBezTo>
                  <a:pt x="41078" y="181008"/>
                  <a:pt x="40844" y="181008"/>
                  <a:pt x="40571" y="181008"/>
                </a:cubicBezTo>
                <a:cubicBezTo>
                  <a:pt x="23328" y="181008"/>
                  <a:pt x="9362" y="167042"/>
                  <a:pt x="9362" y="149799"/>
                </a:cubicBezTo>
                <a:cubicBezTo>
                  <a:pt x="9362" y="142777"/>
                  <a:pt x="11703" y="136302"/>
                  <a:pt x="15604" y="131074"/>
                </a:cubicBezTo>
                <a:cubicBezTo>
                  <a:pt x="8036" y="125379"/>
                  <a:pt x="3121" y="116329"/>
                  <a:pt x="3121" y="106108"/>
                </a:cubicBezTo>
                <a:cubicBezTo>
                  <a:pt x="3121" y="94054"/>
                  <a:pt x="9987" y="83560"/>
                  <a:pt x="19973" y="78372"/>
                </a:cubicBezTo>
                <a:cubicBezTo>
                  <a:pt x="17204" y="73690"/>
                  <a:pt x="15604" y="68229"/>
                  <a:pt x="15604" y="62416"/>
                </a:cubicBezTo>
                <a:cubicBezTo>
                  <a:pt x="15604" y="45174"/>
                  <a:pt x="29570" y="31208"/>
                  <a:pt x="46812" y="31208"/>
                </a:cubicBezTo>
                <a:lnTo>
                  <a:pt x="46812" y="21846"/>
                </a:lnTo>
                <a:close/>
                <a:moveTo>
                  <a:pt x="152920" y="21846"/>
                </a:moveTo>
                <a:lnTo>
                  <a:pt x="152920" y="31208"/>
                </a:lnTo>
                <a:cubicBezTo>
                  <a:pt x="170163" y="31208"/>
                  <a:pt x="184128" y="45174"/>
                  <a:pt x="184128" y="62416"/>
                </a:cubicBezTo>
                <a:cubicBezTo>
                  <a:pt x="184128" y="68268"/>
                  <a:pt x="182529" y="73729"/>
                  <a:pt x="179759" y="78372"/>
                </a:cubicBezTo>
                <a:cubicBezTo>
                  <a:pt x="189785" y="83560"/>
                  <a:pt x="196612" y="94015"/>
                  <a:pt x="196612" y="106108"/>
                </a:cubicBezTo>
                <a:cubicBezTo>
                  <a:pt x="196612" y="116329"/>
                  <a:pt x="191696" y="125379"/>
                  <a:pt x="184128" y="131074"/>
                </a:cubicBezTo>
                <a:cubicBezTo>
                  <a:pt x="188029" y="136302"/>
                  <a:pt x="190370" y="142777"/>
                  <a:pt x="190370" y="149799"/>
                </a:cubicBezTo>
                <a:cubicBezTo>
                  <a:pt x="190370" y="167042"/>
                  <a:pt x="176404" y="181008"/>
                  <a:pt x="159162" y="181008"/>
                </a:cubicBezTo>
                <a:cubicBezTo>
                  <a:pt x="158889" y="181008"/>
                  <a:pt x="158655" y="181008"/>
                  <a:pt x="158382" y="181008"/>
                </a:cubicBezTo>
                <a:cubicBezTo>
                  <a:pt x="155612" y="191774"/>
                  <a:pt x="145820" y="199732"/>
                  <a:pt x="134195" y="199732"/>
                </a:cubicBezTo>
                <a:lnTo>
                  <a:pt x="121712" y="199732"/>
                </a:lnTo>
                <a:cubicBezTo>
                  <a:pt x="114807" y="199732"/>
                  <a:pt x="109229" y="194154"/>
                  <a:pt x="109229" y="187249"/>
                </a:cubicBezTo>
                <a:lnTo>
                  <a:pt x="109229" y="12483"/>
                </a:lnTo>
                <a:cubicBezTo>
                  <a:pt x="109229" y="5578"/>
                  <a:pt x="114807" y="0"/>
                  <a:pt x="121712" y="0"/>
                </a:cubicBezTo>
                <a:lnTo>
                  <a:pt x="131074" y="0"/>
                </a:lnTo>
                <a:cubicBezTo>
                  <a:pt x="143129" y="0"/>
                  <a:pt x="152920" y="9792"/>
                  <a:pt x="152920" y="2184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96" y="3437062"/>
            <a:ext cx="1081884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记忆系统积累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4365" y="3769949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完整记录渗透路径与漏洞特征，构建知识库，越用越强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09318" y="1435577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5090" y="1606182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2473" y="2172090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扫描速度提升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6634" y="2438400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大规模资产秒级发现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9318" y="2916926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5090" y="3087530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2473" y="3653439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自身 CVE 漏洞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46634" y="3919749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内存安全保障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9318" y="4398274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5090" y="4568879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7×24h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42473" y="5134788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持续自动化测试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6634" y="5401098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全天候威胁监测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7048" y="5879623"/>
            <a:ext cx="11517903" cy="640808"/>
          </a:xfrm>
          <a:custGeom>
            <a:avLst/>
            <a:gdLst/>
            <a:ahLst/>
            <a:cxnLst/>
            <a:rect l="l" t="t" r="r" b="b"/>
            <a:pathLst>
              <a:path w="11517903" h="640808">
                <a:moveTo>
                  <a:pt x="66580" y="0"/>
                </a:moveTo>
                <a:lnTo>
                  <a:pt x="11451323" y="0"/>
                </a:lnTo>
                <a:cubicBezTo>
                  <a:pt x="11488094" y="0"/>
                  <a:pt x="11517903" y="29809"/>
                  <a:pt x="11517903" y="66580"/>
                </a:cubicBezTo>
                <a:lnTo>
                  <a:pt x="11517903" y="574228"/>
                </a:lnTo>
                <a:cubicBezTo>
                  <a:pt x="11517903" y="610999"/>
                  <a:pt x="11488094" y="640808"/>
                  <a:pt x="11451323" y="640808"/>
                </a:cubicBezTo>
                <a:lnTo>
                  <a:pt x="66580" y="640808"/>
                </a:lnTo>
                <a:cubicBezTo>
                  <a:pt x="29809" y="640808"/>
                  <a:pt x="0" y="610999"/>
                  <a:pt x="0" y="574228"/>
                </a:cubicBezTo>
                <a:lnTo>
                  <a:pt x="0" y="66580"/>
                </a:lnTo>
                <a:cubicBezTo>
                  <a:pt x="0" y="29809"/>
                  <a:pt x="29809" y="0"/>
                  <a:pt x="665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9950" y="6116805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62416" y="31208"/>
                </a:moveTo>
                <a:cubicBezTo>
                  <a:pt x="62416" y="13979"/>
                  <a:pt x="76395" y="0"/>
                  <a:pt x="93625" y="0"/>
                </a:cubicBezTo>
                <a:cubicBezTo>
                  <a:pt x="110854" y="0"/>
                  <a:pt x="124833" y="13979"/>
                  <a:pt x="124833" y="31208"/>
                </a:cubicBezTo>
                <a:lnTo>
                  <a:pt x="124833" y="32378"/>
                </a:lnTo>
                <a:cubicBezTo>
                  <a:pt x="124833" y="37482"/>
                  <a:pt x="120704" y="41611"/>
                  <a:pt x="115600" y="41611"/>
                </a:cubicBezTo>
                <a:lnTo>
                  <a:pt x="71681" y="41611"/>
                </a:lnTo>
                <a:cubicBezTo>
                  <a:pt x="66577" y="41611"/>
                  <a:pt x="62449" y="37482"/>
                  <a:pt x="62449" y="32378"/>
                </a:cubicBezTo>
                <a:lnTo>
                  <a:pt x="62449" y="31208"/>
                </a:lnTo>
                <a:close/>
                <a:moveTo>
                  <a:pt x="174766" y="35369"/>
                </a:moveTo>
                <a:cubicBezTo>
                  <a:pt x="178212" y="39953"/>
                  <a:pt x="177269" y="46487"/>
                  <a:pt x="172685" y="49933"/>
                </a:cubicBezTo>
                <a:lnTo>
                  <a:pt x="140892" y="73762"/>
                </a:lnTo>
                <a:cubicBezTo>
                  <a:pt x="142615" y="76655"/>
                  <a:pt x="143915" y="79841"/>
                  <a:pt x="144728" y="83222"/>
                </a:cubicBezTo>
                <a:lnTo>
                  <a:pt x="176846" y="83222"/>
                </a:lnTo>
                <a:cubicBezTo>
                  <a:pt x="182600" y="83222"/>
                  <a:pt x="187249" y="87871"/>
                  <a:pt x="187249" y="93625"/>
                </a:cubicBezTo>
                <a:cubicBezTo>
                  <a:pt x="187249" y="99379"/>
                  <a:pt x="182600" y="104027"/>
                  <a:pt x="176846" y="104027"/>
                </a:cubicBezTo>
                <a:lnTo>
                  <a:pt x="145638" y="104027"/>
                </a:lnTo>
                <a:lnTo>
                  <a:pt x="145638" y="114430"/>
                </a:lnTo>
                <a:cubicBezTo>
                  <a:pt x="145638" y="115275"/>
                  <a:pt x="145606" y="116153"/>
                  <a:pt x="145573" y="116998"/>
                </a:cubicBezTo>
                <a:lnTo>
                  <a:pt x="172685" y="137316"/>
                </a:lnTo>
                <a:cubicBezTo>
                  <a:pt x="177269" y="140762"/>
                  <a:pt x="178212" y="147296"/>
                  <a:pt x="174766" y="151880"/>
                </a:cubicBezTo>
                <a:cubicBezTo>
                  <a:pt x="171320" y="156464"/>
                  <a:pt x="164786" y="157406"/>
                  <a:pt x="160202" y="153960"/>
                </a:cubicBezTo>
                <a:lnTo>
                  <a:pt x="139689" y="138584"/>
                </a:lnTo>
                <a:cubicBezTo>
                  <a:pt x="132147" y="152953"/>
                  <a:pt x="118071" y="163355"/>
                  <a:pt x="101427" y="165859"/>
                </a:cubicBezTo>
                <a:lnTo>
                  <a:pt x="101427" y="91024"/>
                </a:lnTo>
                <a:cubicBezTo>
                  <a:pt x="101427" y="86700"/>
                  <a:pt x="97948" y="83222"/>
                  <a:pt x="93625" y="83222"/>
                </a:cubicBezTo>
                <a:cubicBezTo>
                  <a:pt x="89301" y="83222"/>
                  <a:pt x="85823" y="86700"/>
                  <a:pt x="85823" y="91024"/>
                </a:cubicBezTo>
                <a:lnTo>
                  <a:pt x="85823" y="165859"/>
                </a:lnTo>
                <a:cubicBezTo>
                  <a:pt x="69178" y="163355"/>
                  <a:pt x="55102" y="152953"/>
                  <a:pt x="47560" y="138584"/>
                </a:cubicBezTo>
                <a:lnTo>
                  <a:pt x="27047" y="153960"/>
                </a:lnTo>
                <a:cubicBezTo>
                  <a:pt x="22463" y="157406"/>
                  <a:pt x="15929" y="156464"/>
                  <a:pt x="12483" y="151880"/>
                </a:cubicBezTo>
                <a:cubicBezTo>
                  <a:pt x="9037" y="147296"/>
                  <a:pt x="9980" y="140762"/>
                  <a:pt x="14564" y="137316"/>
                </a:cubicBezTo>
                <a:lnTo>
                  <a:pt x="41676" y="116998"/>
                </a:lnTo>
                <a:cubicBezTo>
                  <a:pt x="41643" y="116153"/>
                  <a:pt x="41611" y="115308"/>
                  <a:pt x="41611" y="114430"/>
                </a:cubicBezTo>
                <a:lnTo>
                  <a:pt x="41611" y="104027"/>
                </a:lnTo>
                <a:lnTo>
                  <a:pt x="10403" y="104027"/>
                </a:lnTo>
                <a:cubicBezTo>
                  <a:pt x="4649" y="104027"/>
                  <a:pt x="0" y="99379"/>
                  <a:pt x="0" y="93625"/>
                </a:cubicBezTo>
                <a:cubicBezTo>
                  <a:pt x="0" y="87871"/>
                  <a:pt x="4649" y="83222"/>
                  <a:pt x="10403" y="83222"/>
                </a:cubicBezTo>
                <a:lnTo>
                  <a:pt x="42521" y="83222"/>
                </a:lnTo>
                <a:cubicBezTo>
                  <a:pt x="43334" y="79841"/>
                  <a:pt x="44634" y="76655"/>
                  <a:pt x="46357" y="73762"/>
                </a:cubicBezTo>
                <a:lnTo>
                  <a:pt x="14564" y="49933"/>
                </a:lnTo>
                <a:cubicBezTo>
                  <a:pt x="9980" y="46487"/>
                  <a:pt x="9037" y="39953"/>
                  <a:pt x="12483" y="35369"/>
                </a:cubicBezTo>
                <a:cubicBezTo>
                  <a:pt x="15929" y="30786"/>
                  <a:pt x="22463" y="29843"/>
                  <a:pt x="27047" y="33289"/>
                </a:cubicBezTo>
                <a:lnTo>
                  <a:pt x="62416" y="59816"/>
                </a:lnTo>
                <a:cubicBezTo>
                  <a:pt x="66415" y="58158"/>
                  <a:pt x="70804" y="57215"/>
                  <a:pt x="75420" y="57215"/>
                </a:cubicBezTo>
                <a:lnTo>
                  <a:pt x="111829" y="57215"/>
                </a:lnTo>
                <a:cubicBezTo>
                  <a:pt x="116446" y="57215"/>
                  <a:pt x="120834" y="58125"/>
                  <a:pt x="124833" y="59816"/>
                </a:cubicBezTo>
                <a:lnTo>
                  <a:pt x="160202" y="33289"/>
                </a:lnTo>
                <a:cubicBezTo>
                  <a:pt x="164786" y="29843"/>
                  <a:pt x="171320" y="30786"/>
                  <a:pt x="174766" y="3536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1287468" y="6016939"/>
            <a:ext cx="88215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漏洞扫描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7468" y="6216672"/>
            <a:ext cx="87382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自动化资产发现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13472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4152965" y="611680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35235" y="67618"/>
                </a:moveTo>
                <a:cubicBezTo>
                  <a:pt x="135235" y="82539"/>
                  <a:pt x="130392" y="96323"/>
                  <a:pt x="122232" y="107506"/>
                </a:cubicBezTo>
                <a:lnTo>
                  <a:pt x="163388" y="148694"/>
                </a:lnTo>
                <a:cubicBezTo>
                  <a:pt x="167451" y="152758"/>
                  <a:pt x="167451" y="159357"/>
                  <a:pt x="163388" y="163420"/>
                </a:cubicBezTo>
                <a:cubicBezTo>
                  <a:pt x="159324" y="167484"/>
                  <a:pt x="152725" y="167484"/>
                  <a:pt x="148662" y="163420"/>
                </a:cubicBezTo>
                <a:lnTo>
                  <a:pt x="107506" y="122232"/>
                </a:lnTo>
                <a:cubicBezTo>
                  <a:pt x="96323" y="130392"/>
                  <a:pt x="82539" y="135235"/>
                  <a:pt x="67618" y="135235"/>
                </a:cubicBezTo>
                <a:cubicBezTo>
                  <a:pt x="30265" y="135235"/>
                  <a:pt x="0" y="104970"/>
                  <a:pt x="0" y="67618"/>
                </a:cubicBezTo>
                <a:cubicBezTo>
                  <a:pt x="0" y="30265"/>
                  <a:pt x="30265" y="0"/>
                  <a:pt x="67618" y="0"/>
                </a:cubicBezTo>
                <a:cubicBezTo>
                  <a:pt x="104970" y="0"/>
                  <a:pt x="135235" y="30265"/>
                  <a:pt x="135235" y="67618"/>
                </a:cubicBezTo>
                <a:close/>
                <a:moveTo>
                  <a:pt x="67618" y="114430"/>
                </a:moveTo>
                <a:cubicBezTo>
                  <a:pt x="93454" y="114430"/>
                  <a:pt x="114430" y="93454"/>
                  <a:pt x="114430" y="67618"/>
                </a:cubicBezTo>
                <a:cubicBezTo>
                  <a:pt x="114430" y="41781"/>
                  <a:pt x="93454" y="20805"/>
                  <a:pt x="67618" y="20805"/>
                </a:cubicBezTo>
                <a:cubicBezTo>
                  <a:pt x="41781" y="20805"/>
                  <a:pt x="20805" y="41781"/>
                  <a:pt x="20805" y="67618"/>
                </a:cubicBezTo>
                <a:cubicBezTo>
                  <a:pt x="20805" y="93454"/>
                  <a:pt x="41781" y="114430"/>
                  <a:pt x="67618" y="11443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080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渗透测试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0080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智能攻击路径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49574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7189132" y="611680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88001" y="0"/>
                  <a:pt x="92389" y="2633"/>
                  <a:pt x="94665" y="6827"/>
                </a:cubicBezTo>
                <a:lnTo>
                  <a:pt x="164883" y="136861"/>
                </a:lnTo>
                <a:cubicBezTo>
                  <a:pt x="167061" y="140892"/>
                  <a:pt x="166964" y="145768"/>
                  <a:pt x="164623" y="149702"/>
                </a:cubicBezTo>
                <a:cubicBezTo>
                  <a:pt x="162283" y="153635"/>
                  <a:pt x="158024" y="156041"/>
                  <a:pt x="153440" y="156041"/>
                </a:cubicBezTo>
                <a:lnTo>
                  <a:pt x="13003" y="156041"/>
                </a:lnTo>
                <a:cubicBezTo>
                  <a:pt x="8420" y="156041"/>
                  <a:pt x="4194" y="153635"/>
                  <a:pt x="1820" y="149702"/>
                </a:cubicBezTo>
                <a:cubicBezTo>
                  <a:pt x="-553" y="145768"/>
                  <a:pt x="-618" y="140892"/>
                  <a:pt x="1560" y="136861"/>
                </a:cubicBezTo>
                <a:lnTo>
                  <a:pt x="71779" y="6827"/>
                </a:lnTo>
                <a:cubicBezTo>
                  <a:pt x="74054" y="2633"/>
                  <a:pt x="78443" y="0"/>
                  <a:pt x="83222" y="0"/>
                </a:cubicBezTo>
                <a:close/>
                <a:moveTo>
                  <a:pt x="83222" y="54614"/>
                </a:moveTo>
                <a:cubicBezTo>
                  <a:pt x="78898" y="54614"/>
                  <a:pt x="75420" y="58093"/>
                  <a:pt x="75420" y="62416"/>
                </a:cubicBezTo>
                <a:lnTo>
                  <a:pt x="75420" y="98826"/>
                </a:lnTo>
                <a:cubicBezTo>
                  <a:pt x="75420" y="103150"/>
                  <a:pt x="78898" y="106628"/>
                  <a:pt x="83222" y="106628"/>
                </a:cubicBezTo>
                <a:cubicBezTo>
                  <a:pt x="87545" y="106628"/>
                  <a:pt x="91024" y="103150"/>
                  <a:pt x="91024" y="98826"/>
                </a:cubicBezTo>
                <a:lnTo>
                  <a:pt x="91024" y="62416"/>
                </a:lnTo>
                <a:cubicBezTo>
                  <a:pt x="91024" y="58093"/>
                  <a:pt x="87545" y="54614"/>
                  <a:pt x="83222" y="54614"/>
                </a:cubicBezTo>
                <a:close/>
                <a:moveTo>
                  <a:pt x="91902" y="124833"/>
                </a:moveTo>
                <a:cubicBezTo>
                  <a:pt x="92099" y="121611"/>
                  <a:pt x="90492" y="118546"/>
                  <a:pt x="87730" y="116875"/>
                </a:cubicBezTo>
                <a:cubicBezTo>
                  <a:pt x="84969" y="115204"/>
                  <a:pt x="81508" y="115204"/>
                  <a:pt x="78746" y="116875"/>
                </a:cubicBezTo>
                <a:cubicBezTo>
                  <a:pt x="75984" y="118546"/>
                  <a:pt x="74377" y="121611"/>
                  <a:pt x="74575" y="124833"/>
                </a:cubicBezTo>
                <a:cubicBezTo>
                  <a:pt x="74377" y="128055"/>
                  <a:pt x="75984" y="131120"/>
                  <a:pt x="78746" y="132791"/>
                </a:cubicBezTo>
                <a:cubicBezTo>
                  <a:pt x="81508" y="134461"/>
                  <a:pt x="84969" y="134461"/>
                  <a:pt x="87730" y="132791"/>
                </a:cubicBezTo>
                <a:cubicBezTo>
                  <a:pt x="90492" y="131120"/>
                  <a:pt x="92099" y="128055"/>
                  <a:pt x="91902" y="12483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476247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威胁检测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76247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实时异常识别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85741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46039" y="6116805"/>
            <a:ext cx="124833" cy="166444"/>
          </a:xfrm>
          <a:custGeom>
            <a:avLst/>
            <a:gdLst/>
            <a:ahLst/>
            <a:cxnLst/>
            <a:rect l="l" t="t" r="r" b="b"/>
            <a:pathLst>
              <a:path w="124833" h="166444">
                <a:moveTo>
                  <a:pt x="0" y="20805"/>
                </a:moveTo>
                <a:cubicBezTo>
                  <a:pt x="0" y="9330"/>
                  <a:pt x="9330" y="0"/>
                  <a:pt x="20805" y="0"/>
                </a:cubicBezTo>
                <a:lnTo>
                  <a:pt x="69406" y="0"/>
                </a:lnTo>
                <a:cubicBezTo>
                  <a:pt x="74932" y="0"/>
                  <a:pt x="80231" y="2178"/>
                  <a:pt x="84132" y="6079"/>
                </a:cubicBezTo>
                <a:lnTo>
                  <a:pt x="118754" y="40733"/>
                </a:lnTo>
                <a:cubicBezTo>
                  <a:pt x="122655" y="44634"/>
                  <a:pt x="124833" y="49933"/>
                  <a:pt x="124833" y="55460"/>
                </a:cubicBezTo>
                <a:lnTo>
                  <a:pt x="124833" y="145638"/>
                </a:lnTo>
                <a:cubicBezTo>
                  <a:pt x="124833" y="157114"/>
                  <a:pt x="115503" y="166444"/>
                  <a:pt x="104027" y="166444"/>
                </a:cubicBezTo>
                <a:lnTo>
                  <a:pt x="20805" y="166444"/>
                </a:lnTo>
                <a:cubicBezTo>
                  <a:pt x="9330" y="166444"/>
                  <a:pt x="0" y="157114"/>
                  <a:pt x="0" y="145638"/>
                </a:cubicBezTo>
                <a:lnTo>
                  <a:pt x="0" y="20805"/>
                </a:lnTo>
                <a:close/>
                <a:moveTo>
                  <a:pt x="67618" y="19017"/>
                </a:moveTo>
                <a:lnTo>
                  <a:pt x="67618" y="49413"/>
                </a:lnTo>
                <a:cubicBezTo>
                  <a:pt x="67618" y="53737"/>
                  <a:pt x="71096" y="57215"/>
                  <a:pt x="75420" y="57215"/>
                </a:cubicBezTo>
                <a:lnTo>
                  <a:pt x="105815" y="57215"/>
                </a:lnTo>
                <a:lnTo>
                  <a:pt x="67618" y="19017"/>
                </a:lnTo>
                <a:close/>
                <a:moveTo>
                  <a:pt x="39010" y="83222"/>
                </a:moveTo>
                <a:cubicBezTo>
                  <a:pt x="34687" y="83222"/>
                  <a:pt x="31208" y="86700"/>
                  <a:pt x="31208" y="91024"/>
                </a:cubicBezTo>
                <a:cubicBezTo>
                  <a:pt x="31208" y="95348"/>
                  <a:pt x="34687" y="98826"/>
                  <a:pt x="39010" y="98826"/>
                </a:cubicBezTo>
                <a:lnTo>
                  <a:pt x="85823" y="98826"/>
                </a:lnTo>
                <a:cubicBezTo>
                  <a:pt x="90146" y="98826"/>
                  <a:pt x="93625" y="95348"/>
                  <a:pt x="93625" y="91024"/>
                </a:cubicBezTo>
                <a:cubicBezTo>
                  <a:pt x="93625" y="86700"/>
                  <a:pt x="90146" y="83222"/>
                  <a:pt x="85823" y="83222"/>
                </a:cubicBezTo>
                <a:lnTo>
                  <a:pt x="39010" y="83222"/>
                </a:lnTo>
                <a:close/>
                <a:moveTo>
                  <a:pt x="39010" y="114430"/>
                </a:moveTo>
                <a:cubicBezTo>
                  <a:pt x="34687" y="114430"/>
                  <a:pt x="31208" y="117908"/>
                  <a:pt x="31208" y="122232"/>
                </a:cubicBezTo>
                <a:cubicBezTo>
                  <a:pt x="31208" y="126556"/>
                  <a:pt x="34687" y="130034"/>
                  <a:pt x="39010" y="130034"/>
                </a:cubicBezTo>
                <a:lnTo>
                  <a:pt x="85823" y="130034"/>
                </a:lnTo>
                <a:cubicBezTo>
                  <a:pt x="90146" y="130034"/>
                  <a:pt x="93625" y="126556"/>
                  <a:pt x="93625" y="122232"/>
                </a:cubicBezTo>
                <a:cubicBezTo>
                  <a:pt x="93625" y="117908"/>
                  <a:pt x="90146" y="114430"/>
                  <a:pt x="85823" y="114430"/>
                </a:cubicBezTo>
                <a:lnTo>
                  <a:pt x="39010" y="11443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2349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合规审计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12349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全量日志记录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EMOTION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配备情感计算引擎，每一次交互都有温度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819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情感计算引擎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内置情感计算引擎，实时感知用户情绪变化，理解情感需求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7098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2886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9485" y="134"/>
                </a:moveTo>
                <a:cubicBezTo>
                  <a:pt x="165512" y="670"/>
                  <a:pt x="161806" y="2902"/>
                  <a:pt x="159484" y="6429"/>
                </a:cubicBezTo>
                <a:cubicBezTo>
                  <a:pt x="156448" y="11073"/>
                  <a:pt x="156359" y="17190"/>
                  <a:pt x="159306" y="21878"/>
                </a:cubicBezTo>
                <a:cubicBezTo>
                  <a:pt x="161806" y="25851"/>
                  <a:pt x="166226" y="27548"/>
                  <a:pt x="169932" y="30138"/>
                </a:cubicBezTo>
                <a:cubicBezTo>
                  <a:pt x="173281" y="32459"/>
                  <a:pt x="177790" y="36031"/>
                  <a:pt x="182300" y="40943"/>
                </a:cubicBezTo>
                <a:cubicBezTo>
                  <a:pt x="191229" y="50631"/>
                  <a:pt x="199936" y="65187"/>
                  <a:pt x="199936" y="85725"/>
                </a:cubicBezTo>
                <a:cubicBezTo>
                  <a:pt x="199936" y="93628"/>
                  <a:pt x="206320" y="100013"/>
                  <a:pt x="214223" y="100013"/>
                </a:cubicBezTo>
                <a:cubicBezTo>
                  <a:pt x="222126" y="100013"/>
                  <a:pt x="228511" y="93628"/>
                  <a:pt x="228511" y="85725"/>
                </a:cubicBezTo>
                <a:cubicBezTo>
                  <a:pt x="228511" y="56257"/>
                  <a:pt x="215786" y="35094"/>
                  <a:pt x="203284" y="21565"/>
                </a:cubicBezTo>
                <a:cubicBezTo>
                  <a:pt x="197078" y="14823"/>
                  <a:pt x="190872" y="9912"/>
                  <a:pt x="186184" y="6697"/>
                </a:cubicBezTo>
                <a:cubicBezTo>
                  <a:pt x="181273" y="3304"/>
                  <a:pt x="175692" y="-714"/>
                  <a:pt x="169396" y="134"/>
                </a:cubicBezTo>
                <a:close/>
                <a:moveTo>
                  <a:pt x="107156" y="57150"/>
                </a:moveTo>
                <a:cubicBezTo>
                  <a:pt x="81439" y="57150"/>
                  <a:pt x="60231" y="76617"/>
                  <a:pt x="57463" y="101575"/>
                </a:cubicBezTo>
                <a:cubicBezTo>
                  <a:pt x="56614" y="109433"/>
                  <a:pt x="49515" y="115059"/>
                  <a:pt x="41702" y="114211"/>
                </a:cubicBezTo>
                <a:cubicBezTo>
                  <a:pt x="33888" y="113362"/>
                  <a:pt x="28218" y="106263"/>
                  <a:pt x="29066" y="98450"/>
                </a:cubicBezTo>
                <a:cubicBezTo>
                  <a:pt x="33397" y="59159"/>
                  <a:pt x="66705" y="28575"/>
                  <a:pt x="107156" y="28575"/>
                </a:cubicBezTo>
                <a:cubicBezTo>
                  <a:pt x="150555" y="28575"/>
                  <a:pt x="185738" y="63758"/>
                  <a:pt x="185738" y="107156"/>
                </a:cubicBezTo>
                <a:cubicBezTo>
                  <a:pt x="185738" y="127695"/>
                  <a:pt x="177835" y="146402"/>
                  <a:pt x="164931" y="160422"/>
                </a:cubicBezTo>
                <a:cubicBezTo>
                  <a:pt x="159574" y="166226"/>
                  <a:pt x="157163" y="171495"/>
                  <a:pt x="157163" y="175915"/>
                </a:cubicBezTo>
                <a:lnTo>
                  <a:pt x="157163" y="178638"/>
                </a:lnTo>
                <a:cubicBezTo>
                  <a:pt x="157163" y="206276"/>
                  <a:pt x="134794" y="228645"/>
                  <a:pt x="107156" y="228645"/>
                </a:cubicBezTo>
                <a:cubicBezTo>
                  <a:pt x="99253" y="228645"/>
                  <a:pt x="92869" y="222260"/>
                  <a:pt x="92869" y="214357"/>
                </a:cubicBezTo>
                <a:cubicBezTo>
                  <a:pt x="92869" y="206454"/>
                  <a:pt x="99253" y="200070"/>
                  <a:pt x="107156" y="200070"/>
                </a:cubicBezTo>
                <a:cubicBezTo>
                  <a:pt x="118988" y="200070"/>
                  <a:pt x="128588" y="190470"/>
                  <a:pt x="128588" y="178638"/>
                </a:cubicBezTo>
                <a:lnTo>
                  <a:pt x="128588" y="175915"/>
                </a:lnTo>
                <a:cubicBezTo>
                  <a:pt x="128588" y="161226"/>
                  <a:pt x="136356" y="149304"/>
                  <a:pt x="143947" y="141089"/>
                </a:cubicBezTo>
                <a:cubicBezTo>
                  <a:pt x="152162" y="132159"/>
                  <a:pt x="157163" y="120283"/>
                  <a:pt x="157163" y="107201"/>
                </a:cubicBezTo>
                <a:cubicBezTo>
                  <a:pt x="157163" y="79564"/>
                  <a:pt x="134794" y="57195"/>
                  <a:pt x="107156" y="57195"/>
                </a:cubicBezTo>
                <a:close/>
                <a:moveTo>
                  <a:pt x="0" y="214313"/>
                </a:moveTo>
                <a:cubicBezTo>
                  <a:pt x="0" y="206427"/>
                  <a:pt x="6402" y="200025"/>
                  <a:pt x="14287" y="200025"/>
                </a:cubicBezTo>
                <a:cubicBezTo>
                  <a:pt x="22173" y="200025"/>
                  <a:pt x="28575" y="206427"/>
                  <a:pt x="28575" y="214313"/>
                </a:cubicBezTo>
                <a:cubicBezTo>
                  <a:pt x="28575" y="222198"/>
                  <a:pt x="22173" y="228600"/>
                  <a:pt x="14288" y="228600"/>
                </a:cubicBezTo>
                <a:cubicBezTo>
                  <a:pt x="6402" y="228600"/>
                  <a:pt x="0" y="222198"/>
                  <a:pt x="0" y="214313"/>
                </a:cubicBezTo>
                <a:close/>
                <a:moveTo>
                  <a:pt x="71438" y="171450"/>
                </a:moveTo>
                <a:cubicBezTo>
                  <a:pt x="79323" y="171450"/>
                  <a:pt x="85725" y="165048"/>
                  <a:pt x="85725" y="157163"/>
                </a:cubicBezTo>
                <a:cubicBezTo>
                  <a:pt x="85725" y="149277"/>
                  <a:pt x="79323" y="142875"/>
                  <a:pt x="71438" y="142875"/>
                </a:cubicBezTo>
                <a:cubicBezTo>
                  <a:pt x="63552" y="142875"/>
                  <a:pt x="57150" y="149277"/>
                  <a:pt x="57150" y="157163"/>
                </a:cubicBezTo>
                <a:cubicBezTo>
                  <a:pt x="57150" y="165048"/>
                  <a:pt x="63552" y="171450"/>
                  <a:pt x="71438" y="171450"/>
                </a:cubicBezTo>
                <a:close/>
                <a:moveTo>
                  <a:pt x="38666" y="161359"/>
                </a:moveTo>
                <a:cubicBezTo>
                  <a:pt x="33084" y="155778"/>
                  <a:pt x="24021" y="155778"/>
                  <a:pt x="18440" y="161359"/>
                </a:cubicBezTo>
                <a:cubicBezTo>
                  <a:pt x="12859" y="166941"/>
                  <a:pt x="12859" y="176004"/>
                  <a:pt x="18440" y="181585"/>
                </a:cubicBezTo>
                <a:lnTo>
                  <a:pt x="47015" y="210160"/>
                </a:lnTo>
                <a:cubicBezTo>
                  <a:pt x="52596" y="215741"/>
                  <a:pt x="61659" y="215741"/>
                  <a:pt x="67241" y="210160"/>
                </a:cubicBezTo>
                <a:cubicBezTo>
                  <a:pt x="72822" y="204579"/>
                  <a:pt x="72822" y="195516"/>
                  <a:pt x="67241" y="189934"/>
                </a:cubicBezTo>
                <a:lnTo>
                  <a:pt x="38666" y="161359"/>
                </a:lnTo>
                <a:close/>
                <a:moveTo>
                  <a:pt x="107156" y="92869"/>
                </a:moveTo>
                <a:cubicBezTo>
                  <a:pt x="99253" y="92869"/>
                  <a:pt x="92869" y="99253"/>
                  <a:pt x="92869" y="107156"/>
                </a:cubicBezTo>
                <a:cubicBezTo>
                  <a:pt x="92869" y="113094"/>
                  <a:pt x="88091" y="117872"/>
                  <a:pt x="82153" y="117872"/>
                </a:cubicBezTo>
                <a:cubicBezTo>
                  <a:pt x="76215" y="117872"/>
                  <a:pt x="71438" y="113094"/>
                  <a:pt x="71438" y="107156"/>
                </a:cubicBezTo>
                <a:cubicBezTo>
                  <a:pt x="71438" y="87422"/>
                  <a:pt x="87422" y="71438"/>
                  <a:pt x="107156" y="71438"/>
                </a:cubicBezTo>
                <a:cubicBezTo>
                  <a:pt x="126891" y="71438"/>
                  <a:pt x="142875" y="87422"/>
                  <a:pt x="142875" y="107156"/>
                </a:cubicBezTo>
                <a:cubicBezTo>
                  <a:pt x="142875" y="113094"/>
                  <a:pt x="138098" y="117872"/>
                  <a:pt x="132159" y="117872"/>
                </a:cubicBezTo>
                <a:cubicBezTo>
                  <a:pt x="126221" y="117872"/>
                  <a:pt x="121444" y="113094"/>
                  <a:pt x="121444" y="107156"/>
                </a:cubicBezTo>
                <a:cubicBezTo>
                  <a:pt x="121444" y="99253"/>
                  <a:pt x="115059" y="92869"/>
                  <a:pt x="107156" y="9286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" y="28670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多模态感知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32480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"听"语气、"看"表情、"懂"文字，六模态融合感知情感信号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766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213" y="3952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3572"/>
                </a:move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lose/>
                <a:moveTo>
                  <a:pt x="86752" y="135731"/>
                </a:moveTo>
                <a:lnTo>
                  <a:pt x="113273" y="135731"/>
                </a:lnTo>
                <a:cubicBezTo>
                  <a:pt x="115014" y="135731"/>
                  <a:pt x="116800" y="135776"/>
                  <a:pt x="118542" y="135910"/>
                </a:cubicBezTo>
                <a:cubicBezTo>
                  <a:pt x="111309" y="148501"/>
                  <a:pt x="107156" y="163056"/>
                  <a:pt x="107156" y="178594"/>
                </a:cubicBezTo>
                <a:cubicBezTo>
                  <a:pt x="107156" y="197257"/>
                  <a:pt x="113139" y="214536"/>
                  <a:pt x="123230" y="228600"/>
                </a:cubicBezTo>
                <a:lnTo>
                  <a:pt x="20404" y="228600"/>
                </a:lnTo>
                <a:cubicBezTo>
                  <a:pt x="13082" y="228600"/>
                  <a:pt x="7144" y="222662"/>
                  <a:pt x="7144" y="215339"/>
                </a:cubicBezTo>
                <a:cubicBezTo>
                  <a:pt x="7144" y="171361"/>
                  <a:pt x="42773" y="135731"/>
                  <a:pt x="86752" y="135731"/>
                </a:cubicBezTo>
                <a:close/>
                <a:moveTo>
                  <a:pt x="128588" y="178594"/>
                </a:moveTo>
                <a:cubicBezTo>
                  <a:pt x="128588" y="143109"/>
                  <a:pt x="157397" y="114300"/>
                  <a:pt x="192881" y="114300"/>
                </a:cubicBezTo>
                <a:cubicBezTo>
                  <a:pt x="228366" y="114300"/>
                  <a:pt x="257175" y="143109"/>
                  <a:pt x="257175" y="178594"/>
                </a:cubicBezTo>
                <a:cubicBezTo>
                  <a:pt x="257175" y="214078"/>
                  <a:pt x="228366" y="242888"/>
                  <a:pt x="192881" y="242888"/>
                </a:cubicBezTo>
                <a:cubicBezTo>
                  <a:pt x="157397" y="242888"/>
                  <a:pt x="128588" y="214078"/>
                  <a:pt x="128588" y="178594"/>
                </a:cubicBezTo>
                <a:close/>
                <a:moveTo>
                  <a:pt x="192881" y="142875"/>
                </a:moveTo>
                <a:cubicBezTo>
                  <a:pt x="188952" y="142875"/>
                  <a:pt x="185738" y="146090"/>
                  <a:pt x="185738" y="150019"/>
                </a:cubicBezTo>
                <a:lnTo>
                  <a:pt x="185738" y="178594"/>
                </a:lnTo>
                <a:cubicBezTo>
                  <a:pt x="185738" y="182523"/>
                  <a:pt x="188952" y="185738"/>
                  <a:pt x="192881" y="185738"/>
                </a:cubicBezTo>
                <a:lnTo>
                  <a:pt x="214313" y="185738"/>
                </a:lnTo>
                <a:cubicBezTo>
                  <a:pt x="218242" y="185738"/>
                  <a:pt x="221456" y="182523"/>
                  <a:pt x="221456" y="178594"/>
                </a:cubicBezTo>
                <a:cubicBezTo>
                  <a:pt x="221456" y="174665"/>
                  <a:pt x="218242" y="171450"/>
                  <a:pt x="214313" y="171450"/>
                </a:cubicBezTo>
                <a:lnTo>
                  <a:pt x="200025" y="171450"/>
                </a:lnTo>
                <a:lnTo>
                  <a:pt x="200025" y="150019"/>
                </a:lnTo>
                <a:cubicBezTo>
                  <a:pt x="200025" y="146090"/>
                  <a:pt x="196810" y="142875"/>
                  <a:pt x="192881" y="14287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39338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43148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记住每个人的故事与偏好，构建真实情感连接，有温度的陪伴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6013" y="1643063"/>
            <a:ext cx="5610225" cy="2124075"/>
          </a:xfrm>
          <a:custGeom>
            <a:avLst/>
            <a:gdLst/>
            <a:ahLst/>
            <a:cxnLst/>
            <a:rect l="l" t="t" r="r" b="b"/>
            <a:pathLst>
              <a:path w="5610225" h="212407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2047884"/>
                </a:lnTo>
                <a:cubicBezTo>
                  <a:pt x="5610225" y="2089935"/>
                  <a:pt x="5576085" y="2124075"/>
                  <a:pt x="5534034" y="2124075"/>
                </a:cubicBezTo>
                <a:lnTo>
                  <a:pt x="76191" y="2124075"/>
                </a:lnTo>
                <a:cubicBezTo>
                  <a:pt x="34140" y="2124075"/>
                  <a:pt x="0" y="2089935"/>
                  <a:pt x="0" y="20478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6988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91300" y="18002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3175" y="22574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情绪识别准确率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47003" y="2219325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3175" y="2638425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53175" y="28003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用户记忆深度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22484" y="27622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3175" y="31813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3175" y="33432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情感模态融合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11855" y="330517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38909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7463" y="40671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753225" y="40481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多轮深度对话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3175" y="44291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支持长时间连续对话，理解上下文，主动关怀，真正懂你的AI伙伴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97675" y="50482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78683" y="10883"/>
                </a:moveTo>
                <a:cubicBezTo>
                  <a:pt x="175234" y="8070"/>
                  <a:pt x="170178" y="8606"/>
                  <a:pt x="167365" y="12055"/>
                </a:cubicBezTo>
                <a:cubicBezTo>
                  <a:pt x="164552" y="15504"/>
                  <a:pt x="165088" y="20561"/>
                  <a:pt x="168537" y="23373"/>
                </a:cubicBezTo>
                <a:cubicBezTo>
                  <a:pt x="186686" y="38107"/>
                  <a:pt x="198239" y="60543"/>
                  <a:pt x="198239" y="85725"/>
                </a:cubicBezTo>
                <a:cubicBezTo>
                  <a:pt x="198239" y="110907"/>
                  <a:pt x="186686" y="133343"/>
                  <a:pt x="168537" y="148110"/>
                </a:cubicBezTo>
                <a:cubicBezTo>
                  <a:pt x="165088" y="150923"/>
                  <a:pt x="164585" y="155979"/>
                  <a:pt x="167365" y="159428"/>
                </a:cubicBezTo>
                <a:cubicBezTo>
                  <a:pt x="170144" y="162878"/>
                  <a:pt x="175234" y="163380"/>
                  <a:pt x="178683" y="160600"/>
                </a:cubicBezTo>
                <a:cubicBezTo>
                  <a:pt x="200416" y="142886"/>
                  <a:pt x="214313" y="115930"/>
                  <a:pt x="214313" y="85725"/>
                </a:cubicBezTo>
                <a:cubicBezTo>
                  <a:pt x="214313" y="55520"/>
                  <a:pt x="200416" y="28530"/>
                  <a:pt x="178683" y="10883"/>
                </a:cubicBezTo>
                <a:close/>
                <a:moveTo>
                  <a:pt x="158424" y="35830"/>
                </a:moveTo>
                <a:cubicBezTo>
                  <a:pt x="154975" y="33018"/>
                  <a:pt x="149918" y="33553"/>
                  <a:pt x="147105" y="37002"/>
                </a:cubicBezTo>
                <a:cubicBezTo>
                  <a:pt x="144293" y="40451"/>
                  <a:pt x="144828" y="45508"/>
                  <a:pt x="148277" y="48321"/>
                </a:cubicBezTo>
                <a:cubicBezTo>
                  <a:pt x="159161" y="57161"/>
                  <a:pt x="166092" y="70623"/>
                  <a:pt x="166092" y="85725"/>
                </a:cubicBezTo>
                <a:cubicBezTo>
                  <a:pt x="166092" y="100827"/>
                  <a:pt x="159161" y="114289"/>
                  <a:pt x="148277" y="123163"/>
                </a:cubicBezTo>
                <a:cubicBezTo>
                  <a:pt x="144828" y="125976"/>
                  <a:pt x="144326" y="131032"/>
                  <a:pt x="147105" y="134481"/>
                </a:cubicBezTo>
                <a:cubicBezTo>
                  <a:pt x="149885" y="137930"/>
                  <a:pt x="154975" y="138432"/>
                  <a:pt x="158424" y="135653"/>
                </a:cubicBezTo>
                <a:cubicBezTo>
                  <a:pt x="172890" y="123866"/>
                  <a:pt x="182166" y="105884"/>
                  <a:pt x="182166" y="85758"/>
                </a:cubicBezTo>
                <a:cubicBezTo>
                  <a:pt x="182166" y="65633"/>
                  <a:pt x="172890" y="47651"/>
                  <a:pt x="158424" y="35864"/>
                </a:cubicBezTo>
                <a:close/>
                <a:moveTo>
                  <a:pt x="138165" y="60778"/>
                </a:moveTo>
                <a:cubicBezTo>
                  <a:pt x="134715" y="57965"/>
                  <a:pt x="129659" y="58501"/>
                  <a:pt x="126846" y="61950"/>
                </a:cubicBezTo>
                <a:cubicBezTo>
                  <a:pt x="124033" y="65399"/>
                  <a:pt x="124569" y="70455"/>
                  <a:pt x="128018" y="73268"/>
                </a:cubicBezTo>
                <a:cubicBezTo>
                  <a:pt x="131635" y="76215"/>
                  <a:pt x="133945" y="80702"/>
                  <a:pt x="133945" y="85725"/>
                </a:cubicBezTo>
                <a:cubicBezTo>
                  <a:pt x="133945" y="90748"/>
                  <a:pt x="131635" y="95235"/>
                  <a:pt x="128018" y="98215"/>
                </a:cubicBezTo>
                <a:cubicBezTo>
                  <a:pt x="124569" y="101028"/>
                  <a:pt x="124067" y="106085"/>
                  <a:pt x="126846" y="109534"/>
                </a:cubicBezTo>
                <a:cubicBezTo>
                  <a:pt x="129626" y="112983"/>
                  <a:pt x="134715" y="113485"/>
                  <a:pt x="138165" y="110706"/>
                </a:cubicBezTo>
                <a:cubicBezTo>
                  <a:pt x="145364" y="104779"/>
                  <a:pt x="150019" y="95804"/>
                  <a:pt x="150019" y="85725"/>
                </a:cubicBezTo>
                <a:cubicBezTo>
                  <a:pt x="150019" y="75646"/>
                  <a:pt x="145364" y="66671"/>
                  <a:pt x="138165" y="60778"/>
                </a:cubicBezTo>
                <a:close/>
                <a:moveTo>
                  <a:pt x="26789" y="117872"/>
                </a:moveTo>
                <a:lnTo>
                  <a:pt x="42863" y="117872"/>
                </a:lnTo>
                <a:lnTo>
                  <a:pt x="87768" y="157788"/>
                </a:lnTo>
                <a:cubicBezTo>
                  <a:pt x="89911" y="159696"/>
                  <a:pt x="92657" y="160734"/>
                  <a:pt x="95503" y="160734"/>
                </a:cubicBezTo>
                <a:cubicBezTo>
                  <a:pt x="101932" y="160734"/>
                  <a:pt x="107156" y="155511"/>
                  <a:pt x="107156" y="149081"/>
                </a:cubicBezTo>
                <a:lnTo>
                  <a:pt x="107156" y="22369"/>
                </a:lnTo>
                <a:cubicBezTo>
                  <a:pt x="107156" y="15939"/>
                  <a:pt x="101932" y="10716"/>
                  <a:pt x="95503" y="10716"/>
                </a:cubicBezTo>
                <a:cubicBezTo>
                  <a:pt x="92657" y="10716"/>
                  <a:pt x="89911" y="11754"/>
                  <a:pt x="87768" y="13662"/>
                </a:cubicBezTo>
                <a:lnTo>
                  <a:pt x="42863" y="53578"/>
                </a:lnTo>
                <a:lnTo>
                  <a:pt x="26789" y="53578"/>
                </a:lnTo>
                <a:cubicBezTo>
                  <a:pt x="17915" y="53578"/>
                  <a:pt x="10716" y="60778"/>
                  <a:pt x="10716" y="69652"/>
                </a:cubicBezTo>
                <a:lnTo>
                  <a:pt x="10716" y="101798"/>
                </a:lnTo>
                <a:cubicBezTo>
                  <a:pt x="10716" y="110672"/>
                  <a:pt x="17915" y="117872"/>
                  <a:pt x="26789" y="11787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6238875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语音语调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89850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17707" y="504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48220" y="69652"/>
                </a:moveTo>
                <a:cubicBezTo>
                  <a:pt x="48220" y="63737"/>
                  <a:pt x="53022" y="58936"/>
                  <a:pt x="58936" y="58936"/>
                </a:cubicBezTo>
                <a:cubicBezTo>
                  <a:pt x="64850" y="58936"/>
                  <a:pt x="69652" y="63737"/>
                  <a:pt x="69652" y="69652"/>
                </a:cubicBezTo>
                <a:cubicBezTo>
                  <a:pt x="69652" y="75566"/>
                  <a:pt x="64850" y="80367"/>
                  <a:pt x="58936" y="80367"/>
                </a:cubicBezTo>
                <a:cubicBezTo>
                  <a:pt x="53022" y="80367"/>
                  <a:pt x="48220" y="75566"/>
                  <a:pt x="48220" y="69652"/>
                </a:cubicBezTo>
                <a:close/>
                <a:moveTo>
                  <a:pt x="112514" y="58936"/>
                </a:moveTo>
                <a:cubicBezTo>
                  <a:pt x="118428" y="58936"/>
                  <a:pt x="123230" y="63737"/>
                  <a:pt x="123230" y="69652"/>
                </a:cubicBezTo>
                <a:cubicBezTo>
                  <a:pt x="123230" y="75566"/>
                  <a:pt x="118428" y="80367"/>
                  <a:pt x="112514" y="80367"/>
                </a:cubicBezTo>
                <a:cubicBezTo>
                  <a:pt x="106600" y="80367"/>
                  <a:pt x="101798" y="75566"/>
                  <a:pt x="101798" y="69652"/>
                </a:cubicBezTo>
                <a:cubicBezTo>
                  <a:pt x="101798" y="63737"/>
                  <a:pt x="106600" y="58936"/>
                  <a:pt x="112514" y="5893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8137475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面部表情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88525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16382" y="504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17872"/>
                </a:moveTo>
                <a:lnTo>
                  <a:pt x="0" y="42863"/>
                </a:lnTo>
                <a:cubicBezTo>
                  <a:pt x="0" y="25115"/>
                  <a:pt x="14399" y="10716"/>
                  <a:pt x="32147" y="10716"/>
                </a:cubicBezTo>
                <a:lnTo>
                  <a:pt x="139303" y="10716"/>
                </a:lnTo>
                <a:cubicBezTo>
                  <a:pt x="157051" y="10716"/>
                  <a:pt x="171450" y="25115"/>
                  <a:pt x="171450" y="42863"/>
                </a:cubicBezTo>
                <a:lnTo>
                  <a:pt x="171450" y="117872"/>
                </a:lnTo>
                <a:cubicBezTo>
                  <a:pt x="171450" y="135620"/>
                  <a:pt x="157051" y="150019"/>
                  <a:pt x="139303" y="150019"/>
                </a:cubicBezTo>
                <a:lnTo>
                  <a:pt x="99120" y="150019"/>
                </a:lnTo>
                <a:cubicBezTo>
                  <a:pt x="97378" y="150019"/>
                  <a:pt x="95704" y="150588"/>
                  <a:pt x="94298" y="151626"/>
                </a:cubicBezTo>
                <a:lnTo>
                  <a:pt x="55721" y="180558"/>
                </a:lnTo>
                <a:cubicBezTo>
                  <a:pt x="54315" y="181596"/>
                  <a:pt x="52641" y="182166"/>
                  <a:pt x="50899" y="182166"/>
                </a:cubicBezTo>
                <a:cubicBezTo>
                  <a:pt x="46446" y="182166"/>
                  <a:pt x="42863" y="178583"/>
                  <a:pt x="42863" y="174129"/>
                </a:cubicBezTo>
                <a:lnTo>
                  <a:pt x="42863" y="150019"/>
                </a:lnTo>
                <a:lnTo>
                  <a:pt x="32147" y="150019"/>
                </a:lnTo>
                <a:cubicBezTo>
                  <a:pt x="14399" y="150019"/>
                  <a:pt x="0" y="135620"/>
                  <a:pt x="0" y="11787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036150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文本语义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stmtoreu5k32/novalclaw_final_bg_blu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A">
                  <a:alpha val="90000"/>
                </a:srgbClr>
              </a:gs>
              <a:gs pos="50000">
                <a:srgbClr val="3B82F6">
                  <a:alpha val="30000"/>
                </a:srgbClr>
              </a:gs>
              <a:gs pos="100000">
                <a:srgbClr val="0A0E1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5804" y="12287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75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READY FOR PRODUCTION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20554" y="1609725"/>
            <a:ext cx="475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 100x 的飞跃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34000" y="23336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3806279" y="2600325"/>
            <a:ext cx="458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三行代码启动企业级安全智能体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19922" y="3138488"/>
            <a:ext cx="4152900" cy="1914525"/>
          </a:xfrm>
          <a:custGeom>
            <a:avLst/>
            <a:gdLst/>
            <a:ahLst/>
            <a:cxnLst/>
            <a:rect l="l" t="t" r="r" b="b"/>
            <a:pathLst>
              <a:path w="4152900" h="1914525">
                <a:moveTo>
                  <a:pt x="76198" y="0"/>
                </a:moveTo>
                <a:lnTo>
                  <a:pt x="4076702" y="0"/>
                </a:lnTo>
                <a:cubicBezTo>
                  <a:pt x="4118785" y="0"/>
                  <a:pt x="4152900" y="34115"/>
                  <a:pt x="4152900" y="76198"/>
                </a:cubicBezTo>
                <a:lnTo>
                  <a:pt x="4152900" y="1838327"/>
                </a:lnTo>
                <a:cubicBezTo>
                  <a:pt x="4152900" y="1880410"/>
                  <a:pt x="4118785" y="1914525"/>
                  <a:pt x="4076702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77097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4558085" y="337185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github.com/Superagentsys/novalclaw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53285" y="3752850"/>
            <a:ext cx="3686175" cy="1066800"/>
          </a:xfrm>
          <a:custGeom>
            <a:avLst/>
            <a:gdLst/>
            <a:ahLst/>
            <a:cxnLst/>
            <a:rect l="l" t="t" r="r" b="b"/>
            <a:pathLst>
              <a:path w="3686175" h="1066800">
                <a:moveTo>
                  <a:pt x="76202" y="0"/>
                </a:moveTo>
                <a:lnTo>
                  <a:pt x="3609973" y="0"/>
                </a:lnTo>
                <a:cubicBezTo>
                  <a:pt x="3652058" y="0"/>
                  <a:pt x="3686175" y="34117"/>
                  <a:pt x="3686175" y="76202"/>
                </a:cubicBezTo>
                <a:lnTo>
                  <a:pt x="3686175" y="990598"/>
                </a:lnTo>
                <a:cubicBezTo>
                  <a:pt x="3686175" y="1032683"/>
                  <a:pt x="3652058" y="1066800"/>
                  <a:pt x="36099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A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405685" y="3905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pip install novalclaw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05685" y="41719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novalclaw init my-agent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05685" y="44386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novalclaw deploy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11228" y="54102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3724349" y="536257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 性能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57601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8" name="Text 15"/>
          <p:cNvSpPr/>
          <p:nvPr/>
        </p:nvSpPr>
        <p:spPr>
          <a:xfrm>
            <a:off x="5081439" y="5362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10164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6534001" y="53625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91276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7815114" y="5362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原生多模态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spc="57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企业级安全防护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151717"/>
            <a:ext cx="11553157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安全是 NovalClaw 的基因，Rust 内存安全 + 六层纵深防御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410" y="1552118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874" y="170058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634344" y="1799557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40490" y="30368"/>
                </a:moveTo>
                <a:lnTo>
                  <a:pt x="40490" y="50613"/>
                </a:lnTo>
                <a:lnTo>
                  <a:pt x="80980" y="50613"/>
                </a:lnTo>
                <a:lnTo>
                  <a:pt x="80980" y="30368"/>
                </a:lnTo>
                <a:cubicBezTo>
                  <a:pt x="80980" y="19201"/>
                  <a:pt x="71901" y="10123"/>
                  <a:pt x="60735" y="10123"/>
                </a:cubicBezTo>
                <a:cubicBezTo>
                  <a:pt x="49569" y="10123"/>
                  <a:pt x="40490" y="19201"/>
                  <a:pt x="40490" y="30368"/>
                </a:cubicBezTo>
                <a:close/>
                <a:moveTo>
                  <a:pt x="20245" y="50613"/>
                </a:moveTo>
                <a:lnTo>
                  <a:pt x="20245" y="30368"/>
                </a:lnTo>
                <a:cubicBezTo>
                  <a:pt x="20245" y="8003"/>
                  <a:pt x="38371" y="-10123"/>
                  <a:pt x="60735" y="-10123"/>
                </a:cubicBezTo>
                <a:cubicBezTo>
                  <a:pt x="83099" y="-10123"/>
                  <a:pt x="101225" y="8003"/>
                  <a:pt x="101225" y="30368"/>
                </a:cubicBezTo>
                <a:lnTo>
                  <a:pt x="101225" y="50613"/>
                </a:lnTo>
                <a:cubicBezTo>
                  <a:pt x="112391" y="50613"/>
                  <a:pt x="121470" y="59691"/>
                  <a:pt x="121470" y="70858"/>
                </a:cubicBezTo>
                <a:lnTo>
                  <a:pt x="121470" y="141715"/>
                </a:lnTo>
                <a:cubicBezTo>
                  <a:pt x="121470" y="152882"/>
                  <a:pt x="112391" y="161960"/>
                  <a:pt x="101225" y="161960"/>
                </a:cubicBezTo>
                <a:lnTo>
                  <a:pt x="20245" y="161960"/>
                </a:lnTo>
                <a:cubicBezTo>
                  <a:pt x="9079" y="161960"/>
                  <a:pt x="0" y="152882"/>
                  <a:pt x="0" y="141715"/>
                </a:cubicBezTo>
                <a:lnTo>
                  <a:pt x="0" y="70858"/>
                </a:lnTo>
                <a:cubicBezTo>
                  <a:pt x="0" y="59691"/>
                  <a:pt x="9079" y="50613"/>
                  <a:pt x="20245" y="50613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8" name="Text 6"/>
          <p:cNvSpPr/>
          <p:nvPr/>
        </p:nvSpPr>
        <p:spPr>
          <a:xfrm>
            <a:off x="980759" y="1754568"/>
            <a:ext cx="125969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874" y="2168466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编译期安全，彻底杜绝内存漏洞，历史零 CVE 记录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4410" y="2667844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874" y="281630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14099" y="2915283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80158" y="917"/>
                </a:moveTo>
                <a:cubicBezTo>
                  <a:pt x="78829" y="316"/>
                  <a:pt x="77406" y="0"/>
                  <a:pt x="75919" y="0"/>
                </a:cubicBezTo>
                <a:cubicBezTo>
                  <a:pt x="74432" y="0"/>
                  <a:pt x="73009" y="316"/>
                  <a:pt x="71680" y="917"/>
                </a:cubicBezTo>
                <a:lnTo>
                  <a:pt x="12115" y="26192"/>
                </a:lnTo>
                <a:cubicBezTo>
                  <a:pt x="5156" y="29134"/>
                  <a:pt x="-32" y="35998"/>
                  <a:pt x="0" y="44286"/>
                </a:cubicBezTo>
                <a:cubicBezTo>
                  <a:pt x="158" y="75666"/>
                  <a:pt x="13064" y="133079"/>
                  <a:pt x="67568" y="159176"/>
                </a:cubicBezTo>
                <a:cubicBezTo>
                  <a:pt x="72850" y="161707"/>
                  <a:pt x="78987" y="161707"/>
                  <a:pt x="84270" y="159176"/>
                </a:cubicBezTo>
                <a:cubicBezTo>
                  <a:pt x="138805" y="133079"/>
                  <a:pt x="151711" y="75666"/>
                  <a:pt x="151838" y="44286"/>
                </a:cubicBezTo>
                <a:cubicBezTo>
                  <a:pt x="151869" y="35998"/>
                  <a:pt x="146681" y="29134"/>
                  <a:pt x="139722" y="26192"/>
                </a:cubicBezTo>
                <a:lnTo>
                  <a:pt x="80158" y="917"/>
                </a:lnTo>
                <a:close/>
                <a:moveTo>
                  <a:pt x="75919" y="40490"/>
                </a:moveTo>
                <a:cubicBezTo>
                  <a:pt x="80126" y="40490"/>
                  <a:pt x="83511" y="43875"/>
                  <a:pt x="83511" y="48082"/>
                </a:cubicBezTo>
                <a:cubicBezTo>
                  <a:pt x="83511" y="55326"/>
                  <a:pt x="92273" y="58964"/>
                  <a:pt x="97398" y="53839"/>
                </a:cubicBezTo>
                <a:cubicBezTo>
                  <a:pt x="100371" y="50866"/>
                  <a:pt x="105179" y="50866"/>
                  <a:pt x="108121" y="53839"/>
                </a:cubicBezTo>
                <a:cubicBezTo>
                  <a:pt x="111063" y="56813"/>
                  <a:pt x="111095" y="61621"/>
                  <a:pt x="108121" y="64563"/>
                </a:cubicBezTo>
                <a:cubicBezTo>
                  <a:pt x="102997" y="69687"/>
                  <a:pt x="106634" y="78449"/>
                  <a:pt x="113878" y="78449"/>
                </a:cubicBezTo>
                <a:cubicBezTo>
                  <a:pt x="118085" y="78449"/>
                  <a:pt x="121470" y="81834"/>
                  <a:pt x="121470" y="86041"/>
                </a:cubicBezTo>
                <a:cubicBezTo>
                  <a:pt x="121470" y="90248"/>
                  <a:pt x="118085" y="93633"/>
                  <a:pt x="113878" y="93633"/>
                </a:cubicBezTo>
                <a:cubicBezTo>
                  <a:pt x="106634" y="93633"/>
                  <a:pt x="102997" y="102396"/>
                  <a:pt x="108121" y="107520"/>
                </a:cubicBezTo>
                <a:cubicBezTo>
                  <a:pt x="111095" y="110494"/>
                  <a:pt x="111095" y="115302"/>
                  <a:pt x="108121" y="118244"/>
                </a:cubicBezTo>
                <a:cubicBezTo>
                  <a:pt x="105148" y="121185"/>
                  <a:pt x="100339" y="121217"/>
                  <a:pt x="97398" y="118244"/>
                </a:cubicBezTo>
                <a:cubicBezTo>
                  <a:pt x="92273" y="113119"/>
                  <a:pt x="83511" y="116757"/>
                  <a:pt x="83511" y="124001"/>
                </a:cubicBezTo>
                <a:cubicBezTo>
                  <a:pt x="83511" y="128208"/>
                  <a:pt x="80126" y="131593"/>
                  <a:pt x="75919" y="131593"/>
                </a:cubicBezTo>
                <a:cubicBezTo>
                  <a:pt x="71712" y="131593"/>
                  <a:pt x="68327" y="128208"/>
                  <a:pt x="68327" y="124001"/>
                </a:cubicBezTo>
                <a:cubicBezTo>
                  <a:pt x="68327" y="116757"/>
                  <a:pt x="59565" y="113119"/>
                  <a:pt x="54440" y="118244"/>
                </a:cubicBezTo>
                <a:cubicBezTo>
                  <a:pt x="51467" y="121217"/>
                  <a:pt x="46658" y="121217"/>
                  <a:pt x="43717" y="118244"/>
                </a:cubicBezTo>
                <a:cubicBezTo>
                  <a:pt x="40775" y="115270"/>
                  <a:pt x="40743" y="110462"/>
                  <a:pt x="43717" y="107520"/>
                </a:cubicBezTo>
                <a:cubicBezTo>
                  <a:pt x="48841" y="102396"/>
                  <a:pt x="45203" y="93633"/>
                  <a:pt x="37959" y="93633"/>
                </a:cubicBezTo>
                <a:cubicBezTo>
                  <a:pt x="33752" y="93633"/>
                  <a:pt x="30368" y="90248"/>
                  <a:pt x="30368" y="86041"/>
                </a:cubicBezTo>
                <a:cubicBezTo>
                  <a:pt x="30368" y="81834"/>
                  <a:pt x="33752" y="78449"/>
                  <a:pt x="37959" y="78449"/>
                </a:cubicBezTo>
                <a:cubicBezTo>
                  <a:pt x="45203" y="78449"/>
                  <a:pt x="48841" y="69687"/>
                  <a:pt x="43717" y="64563"/>
                </a:cubicBezTo>
                <a:cubicBezTo>
                  <a:pt x="40743" y="61589"/>
                  <a:pt x="40743" y="56781"/>
                  <a:pt x="43717" y="53839"/>
                </a:cubicBezTo>
                <a:cubicBezTo>
                  <a:pt x="46690" y="50897"/>
                  <a:pt x="51498" y="50866"/>
                  <a:pt x="54440" y="53839"/>
                </a:cubicBezTo>
                <a:cubicBezTo>
                  <a:pt x="59565" y="58964"/>
                  <a:pt x="68327" y="55326"/>
                  <a:pt x="68327" y="48082"/>
                </a:cubicBezTo>
                <a:cubicBezTo>
                  <a:pt x="68327" y="43875"/>
                  <a:pt x="71712" y="40490"/>
                  <a:pt x="75919" y="40490"/>
                </a:cubicBezTo>
                <a:close/>
                <a:moveTo>
                  <a:pt x="65796" y="83511"/>
                </a:moveTo>
                <a:cubicBezTo>
                  <a:pt x="69986" y="83511"/>
                  <a:pt x="73388" y="80109"/>
                  <a:pt x="73388" y="75919"/>
                </a:cubicBezTo>
                <a:cubicBezTo>
                  <a:pt x="73388" y="71729"/>
                  <a:pt x="69986" y="68327"/>
                  <a:pt x="65796" y="68327"/>
                </a:cubicBezTo>
                <a:cubicBezTo>
                  <a:pt x="61606" y="68327"/>
                  <a:pt x="58204" y="71729"/>
                  <a:pt x="58204" y="75919"/>
                </a:cubicBezTo>
                <a:cubicBezTo>
                  <a:pt x="58204" y="80109"/>
                  <a:pt x="61606" y="83511"/>
                  <a:pt x="65796" y="83511"/>
                </a:cubicBezTo>
                <a:close/>
                <a:moveTo>
                  <a:pt x="93633" y="96164"/>
                </a:moveTo>
                <a:cubicBezTo>
                  <a:pt x="93633" y="91974"/>
                  <a:pt x="90231" y="88572"/>
                  <a:pt x="86041" y="88572"/>
                </a:cubicBezTo>
                <a:cubicBezTo>
                  <a:pt x="81851" y="88572"/>
                  <a:pt x="78449" y="91974"/>
                  <a:pt x="78449" y="96164"/>
                </a:cubicBezTo>
                <a:cubicBezTo>
                  <a:pt x="78449" y="100354"/>
                  <a:pt x="81851" y="103756"/>
                  <a:pt x="86041" y="103756"/>
                </a:cubicBezTo>
                <a:cubicBezTo>
                  <a:pt x="90231" y="103756"/>
                  <a:pt x="93633" y="100354"/>
                  <a:pt x="93633" y="96164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3" name="Text 11"/>
          <p:cNvSpPr/>
          <p:nvPr/>
        </p:nvSpPr>
        <p:spPr>
          <a:xfrm>
            <a:off x="980759" y="2870294"/>
            <a:ext cx="149363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注入防护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874" y="3284192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多层过滤检测恶意输入，实时识别并阻断攻击尝试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4410" y="3783569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874" y="393203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221" y="4031008"/>
            <a:ext cx="141715" cy="161960"/>
          </a:xfrm>
          <a:custGeom>
            <a:avLst/>
            <a:gdLst/>
            <a:ahLst/>
            <a:cxnLst/>
            <a:rect l="l" t="t" r="r" b="b"/>
            <a:pathLst>
              <a:path w="141715" h="161960">
                <a:moveTo>
                  <a:pt x="116852" y="40490"/>
                </a:moveTo>
                <a:lnTo>
                  <a:pt x="106002" y="25306"/>
                </a:lnTo>
                <a:lnTo>
                  <a:pt x="35745" y="25306"/>
                </a:lnTo>
                <a:lnTo>
                  <a:pt x="24895" y="40490"/>
                </a:lnTo>
                <a:lnTo>
                  <a:pt x="116852" y="40490"/>
                </a:lnTo>
                <a:close/>
                <a:moveTo>
                  <a:pt x="0" y="46975"/>
                </a:moveTo>
                <a:cubicBezTo>
                  <a:pt x="0" y="42768"/>
                  <a:pt x="1329" y="38655"/>
                  <a:pt x="3764" y="35207"/>
                </a:cubicBezTo>
                <a:lnTo>
                  <a:pt x="19264" y="13539"/>
                </a:lnTo>
                <a:cubicBezTo>
                  <a:pt x="23060" y="8225"/>
                  <a:pt x="29197" y="5061"/>
                  <a:pt x="35713" y="5061"/>
                </a:cubicBezTo>
                <a:lnTo>
                  <a:pt x="105970" y="5061"/>
                </a:lnTo>
                <a:cubicBezTo>
                  <a:pt x="112518" y="5061"/>
                  <a:pt x="118655" y="8225"/>
                  <a:pt x="122451" y="13539"/>
                </a:cubicBezTo>
                <a:lnTo>
                  <a:pt x="137919" y="35207"/>
                </a:lnTo>
                <a:cubicBezTo>
                  <a:pt x="140387" y="38655"/>
                  <a:pt x="141683" y="42768"/>
                  <a:pt x="141683" y="46975"/>
                </a:cubicBezTo>
                <a:lnTo>
                  <a:pt x="141715" y="131593"/>
                </a:lnTo>
                <a:cubicBezTo>
                  <a:pt x="141715" y="142759"/>
                  <a:pt x="132637" y="151838"/>
                  <a:pt x="121470" y="151838"/>
                </a:cubicBezTo>
                <a:lnTo>
                  <a:pt x="20245" y="151838"/>
                </a:lnTo>
                <a:cubicBezTo>
                  <a:pt x="9079" y="151838"/>
                  <a:pt x="0" y="142759"/>
                  <a:pt x="0" y="131593"/>
                </a:cubicBezTo>
                <a:lnTo>
                  <a:pt x="0" y="46975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18" name="Text 16"/>
          <p:cNvSpPr/>
          <p:nvPr/>
        </p:nvSpPr>
        <p:spPr>
          <a:xfrm>
            <a:off x="980759" y="3986019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数据沙箱隔离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874" y="4399917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智能体独立沙箱运行，数据隔离保护，防止横向渗透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4410" y="4899294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874" y="504775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099" y="5146734"/>
            <a:ext cx="161960" cy="161960"/>
          </a:xfrm>
          <a:custGeom>
            <a:avLst/>
            <a:gdLst/>
            <a:ahLst/>
            <a:cxnLst/>
            <a:rect l="l" t="t" r="r" b="b"/>
            <a:pathLst>
              <a:path w="161960" h="161960">
                <a:moveTo>
                  <a:pt x="106286" y="111348"/>
                </a:moveTo>
                <a:cubicBezTo>
                  <a:pt x="137033" y="111348"/>
                  <a:pt x="161960" y="86421"/>
                  <a:pt x="161960" y="55674"/>
                </a:cubicBezTo>
                <a:cubicBezTo>
                  <a:pt x="161960" y="24927"/>
                  <a:pt x="137033" y="0"/>
                  <a:pt x="106286" y="0"/>
                </a:cubicBezTo>
                <a:cubicBezTo>
                  <a:pt x="75539" y="0"/>
                  <a:pt x="50613" y="24927"/>
                  <a:pt x="50613" y="55674"/>
                </a:cubicBezTo>
                <a:cubicBezTo>
                  <a:pt x="50613" y="61589"/>
                  <a:pt x="51530" y="67315"/>
                  <a:pt x="53238" y="72661"/>
                </a:cubicBezTo>
                <a:lnTo>
                  <a:pt x="2214" y="123684"/>
                </a:lnTo>
                <a:cubicBezTo>
                  <a:pt x="791" y="125108"/>
                  <a:pt x="0" y="127037"/>
                  <a:pt x="0" y="129062"/>
                </a:cubicBezTo>
                <a:lnTo>
                  <a:pt x="0" y="154368"/>
                </a:lnTo>
                <a:cubicBezTo>
                  <a:pt x="0" y="158575"/>
                  <a:pt x="3385" y="161960"/>
                  <a:pt x="7592" y="161960"/>
                </a:cubicBezTo>
                <a:lnTo>
                  <a:pt x="32898" y="161960"/>
                </a:lnTo>
                <a:cubicBezTo>
                  <a:pt x="37105" y="161960"/>
                  <a:pt x="40490" y="158575"/>
                  <a:pt x="40490" y="154368"/>
                </a:cubicBezTo>
                <a:lnTo>
                  <a:pt x="40490" y="141715"/>
                </a:lnTo>
                <a:lnTo>
                  <a:pt x="53143" y="141715"/>
                </a:lnTo>
                <a:cubicBezTo>
                  <a:pt x="57350" y="141715"/>
                  <a:pt x="60735" y="138330"/>
                  <a:pt x="60735" y="134123"/>
                </a:cubicBezTo>
                <a:lnTo>
                  <a:pt x="60735" y="121470"/>
                </a:lnTo>
                <a:lnTo>
                  <a:pt x="73388" y="121470"/>
                </a:lnTo>
                <a:cubicBezTo>
                  <a:pt x="75413" y="121470"/>
                  <a:pt x="77342" y="120679"/>
                  <a:pt x="78766" y="119256"/>
                </a:cubicBezTo>
                <a:lnTo>
                  <a:pt x="89300" y="108722"/>
                </a:lnTo>
                <a:cubicBezTo>
                  <a:pt x="94645" y="110430"/>
                  <a:pt x="100371" y="111348"/>
                  <a:pt x="106286" y="111348"/>
                </a:cubicBezTo>
                <a:close/>
                <a:moveTo>
                  <a:pt x="118939" y="30368"/>
                </a:moveTo>
                <a:cubicBezTo>
                  <a:pt x="125923" y="30368"/>
                  <a:pt x="131593" y="36037"/>
                  <a:pt x="131593" y="43021"/>
                </a:cubicBezTo>
                <a:cubicBezTo>
                  <a:pt x="131593" y="50004"/>
                  <a:pt x="125923" y="55674"/>
                  <a:pt x="118939" y="55674"/>
                </a:cubicBezTo>
                <a:cubicBezTo>
                  <a:pt x="111956" y="55674"/>
                  <a:pt x="106286" y="50004"/>
                  <a:pt x="106286" y="43021"/>
                </a:cubicBezTo>
                <a:cubicBezTo>
                  <a:pt x="106286" y="36037"/>
                  <a:pt x="111956" y="30368"/>
                  <a:pt x="118939" y="30368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23" name="Text 21"/>
          <p:cNvSpPr/>
          <p:nvPr/>
        </p:nvSpPr>
        <p:spPr>
          <a:xfrm>
            <a:off x="980759" y="5101745"/>
            <a:ext cx="98975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端到端加密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874" y="5515643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TLS 1.3 + AES-256 全链路加密，确保数据传输安全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0935" y="1552118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3577" y="1664590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247416" y="1952520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SOC2 Type II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51915" y="2168466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服务组织控制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56201" y="1552118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18914" y="1664590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9132682" y="1952520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ISO27001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37181" y="2168466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信息安全管理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0935" y="2577866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33577" y="2690338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247416" y="2978267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等保三级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1915" y="3194214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等级保护认证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6201" y="2577866"/>
            <a:ext cx="2771318" cy="908776"/>
          </a:xfrm>
          <a:custGeom>
            <a:avLst/>
            <a:gdLst/>
            <a:ahLst/>
            <a:cxnLst/>
            <a:rect l="l" t="t" r="r" b="b"/>
            <a:pathLst>
              <a:path w="2771318" h="908776">
                <a:moveTo>
                  <a:pt x="71984" y="0"/>
                </a:moveTo>
                <a:lnTo>
                  <a:pt x="2699334" y="0"/>
                </a:lnTo>
                <a:cubicBezTo>
                  <a:pt x="2739090" y="0"/>
                  <a:pt x="2771318" y="32228"/>
                  <a:pt x="2771318" y="71984"/>
                </a:cubicBezTo>
                <a:lnTo>
                  <a:pt x="2771318" y="836792"/>
                </a:lnTo>
                <a:cubicBezTo>
                  <a:pt x="2771318" y="876548"/>
                  <a:pt x="2739090" y="908776"/>
                  <a:pt x="2699334" y="908776"/>
                </a:cubicBezTo>
                <a:lnTo>
                  <a:pt x="71984" y="908776"/>
                </a:lnTo>
                <a:cubicBezTo>
                  <a:pt x="32228" y="908776"/>
                  <a:pt x="0" y="876548"/>
                  <a:pt x="0" y="836792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18914" y="2690338"/>
            <a:ext cx="242940" cy="215947"/>
          </a:xfrm>
          <a:custGeom>
            <a:avLst/>
            <a:gdLst/>
            <a:ahLst/>
            <a:cxnLst/>
            <a:rect l="l" t="t" r="r" b="b"/>
            <a:pathLst>
              <a:path w="242940" h="215947">
                <a:moveTo>
                  <a:pt x="100888" y="-3374"/>
                </a:moveTo>
                <a:cubicBezTo>
                  <a:pt x="98315" y="-5989"/>
                  <a:pt x="94561" y="-7044"/>
                  <a:pt x="91018" y="-6074"/>
                </a:cubicBezTo>
                <a:cubicBezTo>
                  <a:pt x="87475" y="-5103"/>
                  <a:pt x="84734" y="-2362"/>
                  <a:pt x="83848" y="1181"/>
                </a:cubicBezTo>
                <a:lnTo>
                  <a:pt x="77395" y="26572"/>
                </a:lnTo>
                <a:cubicBezTo>
                  <a:pt x="76931" y="28427"/>
                  <a:pt x="75033" y="29524"/>
                  <a:pt x="73219" y="28976"/>
                </a:cubicBezTo>
                <a:lnTo>
                  <a:pt x="47998" y="21890"/>
                </a:lnTo>
                <a:cubicBezTo>
                  <a:pt x="44455" y="20878"/>
                  <a:pt x="40659" y="21890"/>
                  <a:pt x="38086" y="24463"/>
                </a:cubicBezTo>
                <a:cubicBezTo>
                  <a:pt x="35513" y="27036"/>
                  <a:pt x="34501" y="30831"/>
                  <a:pt x="35513" y="34374"/>
                </a:cubicBezTo>
                <a:lnTo>
                  <a:pt x="42641" y="59596"/>
                </a:lnTo>
                <a:cubicBezTo>
                  <a:pt x="43147" y="61410"/>
                  <a:pt x="42051" y="63308"/>
                  <a:pt x="40237" y="63772"/>
                </a:cubicBezTo>
                <a:lnTo>
                  <a:pt x="14804" y="70225"/>
                </a:lnTo>
                <a:cubicBezTo>
                  <a:pt x="11261" y="71111"/>
                  <a:pt x="8478" y="73894"/>
                  <a:pt x="7508" y="77437"/>
                </a:cubicBezTo>
                <a:cubicBezTo>
                  <a:pt x="6537" y="80980"/>
                  <a:pt x="7592" y="84734"/>
                  <a:pt x="10207" y="87307"/>
                </a:cubicBezTo>
                <a:lnTo>
                  <a:pt x="28976" y="105569"/>
                </a:lnTo>
                <a:cubicBezTo>
                  <a:pt x="30325" y="106877"/>
                  <a:pt x="30325" y="109070"/>
                  <a:pt x="28976" y="110420"/>
                </a:cubicBezTo>
                <a:lnTo>
                  <a:pt x="10249" y="128682"/>
                </a:lnTo>
                <a:cubicBezTo>
                  <a:pt x="7634" y="131255"/>
                  <a:pt x="6580" y="135009"/>
                  <a:pt x="7550" y="138552"/>
                </a:cubicBezTo>
                <a:cubicBezTo>
                  <a:pt x="8520" y="142095"/>
                  <a:pt x="11303" y="144836"/>
                  <a:pt x="14846" y="145764"/>
                </a:cubicBezTo>
                <a:lnTo>
                  <a:pt x="40237" y="152217"/>
                </a:lnTo>
                <a:cubicBezTo>
                  <a:pt x="42093" y="152681"/>
                  <a:pt x="43189" y="154579"/>
                  <a:pt x="42641" y="156393"/>
                </a:cubicBezTo>
                <a:lnTo>
                  <a:pt x="35513" y="181573"/>
                </a:lnTo>
                <a:cubicBezTo>
                  <a:pt x="34501" y="185115"/>
                  <a:pt x="35513" y="188911"/>
                  <a:pt x="38086" y="191484"/>
                </a:cubicBezTo>
                <a:cubicBezTo>
                  <a:pt x="40659" y="194057"/>
                  <a:pt x="44455" y="195069"/>
                  <a:pt x="47998" y="194057"/>
                </a:cubicBezTo>
                <a:lnTo>
                  <a:pt x="73219" y="186929"/>
                </a:lnTo>
                <a:cubicBezTo>
                  <a:pt x="75033" y="186423"/>
                  <a:pt x="76931" y="187519"/>
                  <a:pt x="77395" y="189333"/>
                </a:cubicBezTo>
                <a:lnTo>
                  <a:pt x="83848" y="214724"/>
                </a:lnTo>
                <a:cubicBezTo>
                  <a:pt x="84734" y="218267"/>
                  <a:pt x="87518" y="221050"/>
                  <a:pt x="91060" y="222020"/>
                </a:cubicBezTo>
                <a:cubicBezTo>
                  <a:pt x="94603" y="222990"/>
                  <a:pt x="98357" y="221936"/>
                  <a:pt x="100930" y="219321"/>
                </a:cubicBezTo>
                <a:lnTo>
                  <a:pt x="119193" y="200552"/>
                </a:lnTo>
                <a:cubicBezTo>
                  <a:pt x="120500" y="199203"/>
                  <a:pt x="122693" y="199203"/>
                  <a:pt x="124043" y="200552"/>
                </a:cubicBezTo>
                <a:lnTo>
                  <a:pt x="142263" y="219321"/>
                </a:lnTo>
                <a:cubicBezTo>
                  <a:pt x="144836" y="221936"/>
                  <a:pt x="148590" y="222990"/>
                  <a:pt x="152133" y="222020"/>
                </a:cubicBezTo>
                <a:cubicBezTo>
                  <a:pt x="155676" y="221050"/>
                  <a:pt x="158417" y="218267"/>
                  <a:pt x="159345" y="214724"/>
                </a:cubicBezTo>
                <a:lnTo>
                  <a:pt x="165798" y="189375"/>
                </a:lnTo>
                <a:cubicBezTo>
                  <a:pt x="166262" y="187519"/>
                  <a:pt x="168160" y="186423"/>
                  <a:pt x="169974" y="186971"/>
                </a:cubicBezTo>
                <a:lnTo>
                  <a:pt x="195196" y="194099"/>
                </a:lnTo>
                <a:cubicBezTo>
                  <a:pt x="198739" y="195111"/>
                  <a:pt x="202535" y="194099"/>
                  <a:pt x="205107" y="191526"/>
                </a:cubicBezTo>
                <a:cubicBezTo>
                  <a:pt x="207680" y="188954"/>
                  <a:pt x="208692" y="185158"/>
                  <a:pt x="207680" y="181615"/>
                </a:cubicBezTo>
                <a:lnTo>
                  <a:pt x="200552" y="156393"/>
                </a:lnTo>
                <a:cubicBezTo>
                  <a:pt x="200046" y="154579"/>
                  <a:pt x="201143" y="152681"/>
                  <a:pt x="202956" y="152217"/>
                </a:cubicBezTo>
                <a:lnTo>
                  <a:pt x="228347" y="145764"/>
                </a:lnTo>
                <a:cubicBezTo>
                  <a:pt x="231890" y="144878"/>
                  <a:pt x="234674" y="142095"/>
                  <a:pt x="235644" y="138552"/>
                </a:cubicBezTo>
                <a:cubicBezTo>
                  <a:pt x="236614" y="135009"/>
                  <a:pt x="235559" y="131213"/>
                  <a:pt x="232944" y="128682"/>
                </a:cubicBezTo>
                <a:lnTo>
                  <a:pt x="214175" y="110420"/>
                </a:lnTo>
                <a:cubicBezTo>
                  <a:pt x="212826" y="109112"/>
                  <a:pt x="212826" y="106919"/>
                  <a:pt x="214175" y="105569"/>
                </a:cubicBezTo>
                <a:lnTo>
                  <a:pt x="232944" y="87307"/>
                </a:lnTo>
                <a:cubicBezTo>
                  <a:pt x="235559" y="84734"/>
                  <a:pt x="236614" y="80980"/>
                  <a:pt x="235644" y="77437"/>
                </a:cubicBezTo>
                <a:cubicBezTo>
                  <a:pt x="234674" y="73894"/>
                  <a:pt x="231890" y="71153"/>
                  <a:pt x="228347" y="70225"/>
                </a:cubicBezTo>
                <a:lnTo>
                  <a:pt x="202956" y="63772"/>
                </a:lnTo>
                <a:cubicBezTo>
                  <a:pt x="201101" y="63308"/>
                  <a:pt x="200004" y="61410"/>
                  <a:pt x="200552" y="59596"/>
                </a:cubicBezTo>
                <a:lnTo>
                  <a:pt x="207680" y="34374"/>
                </a:lnTo>
                <a:cubicBezTo>
                  <a:pt x="208692" y="30831"/>
                  <a:pt x="207680" y="27036"/>
                  <a:pt x="205107" y="24463"/>
                </a:cubicBezTo>
                <a:cubicBezTo>
                  <a:pt x="202535" y="21890"/>
                  <a:pt x="198739" y="20878"/>
                  <a:pt x="195196" y="21890"/>
                </a:cubicBezTo>
                <a:lnTo>
                  <a:pt x="169974" y="29018"/>
                </a:lnTo>
                <a:cubicBezTo>
                  <a:pt x="168160" y="29524"/>
                  <a:pt x="166262" y="28427"/>
                  <a:pt x="165798" y="26614"/>
                </a:cubicBezTo>
                <a:lnTo>
                  <a:pt x="159345" y="1181"/>
                </a:lnTo>
                <a:cubicBezTo>
                  <a:pt x="158459" y="-2362"/>
                  <a:pt x="155676" y="-5146"/>
                  <a:pt x="152133" y="-6116"/>
                </a:cubicBezTo>
                <a:cubicBezTo>
                  <a:pt x="148590" y="-7086"/>
                  <a:pt x="144836" y="-6031"/>
                  <a:pt x="142263" y="-3416"/>
                </a:cubicBezTo>
                <a:lnTo>
                  <a:pt x="124001" y="15395"/>
                </a:lnTo>
                <a:cubicBezTo>
                  <a:pt x="122693" y="16744"/>
                  <a:pt x="120500" y="16744"/>
                  <a:pt x="119150" y="15395"/>
                </a:cubicBezTo>
                <a:lnTo>
                  <a:pt x="100888" y="-337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9132682" y="2978267"/>
            <a:ext cx="261835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GDPR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37181" y="3194214"/>
            <a:ext cx="2609358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数据隐私合规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0935" y="3603613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9398" y="3752077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6410501" y="3851052"/>
            <a:ext cx="182205" cy="161960"/>
          </a:xfrm>
          <a:custGeom>
            <a:avLst/>
            <a:gdLst/>
            <a:ahLst/>
            <a:cxnLst/>
            <a:rect l="l" t="t" r="r" b="b"/>
            <a:pathLst>
              <a:path w="182205" h="161960">
                <a:moveTo>
                  <a:pt x="70858" y="78449"/>
                </a:moveTo>
                <a:cubicBezTo>
                  <a:pt x="91808" y="78449"/>
                  <a:pt x="108817" y="61440"/>
                  <a:pt x="108817" y="40490"/>
                </a:cubicBezTo>
                <a:cubicBezTo>
                  <a:pt x="108817" y="19540"/>
                  <a:pt x="91808" y="2531"/>
                  <a:pt x="70858" y="2531"/>
                </a:cubicBezTo>
                <a:cubicBezTo>
                  <a:pt x="49907" y="2531"/>
                  <a:pt x="32898" y="19540"/>
                  <a:pt x="32898" y="40490"/>
                </a:cubicBezTo>
                <a:cubicBezTo>
                  <a:pt x="32898" y="61440"/>
                  <a:pt x="49907" y="78449"/>
                  <a:pt x="70858" y="78449"/>
                </a:cubicBezTo>
                <a:close/>
                <a:moveTo>
                  <a:pt x="61463" y="96164"/>
                </a:moveTo>
                <a:cubicBezTo>
                  <a:pt x="30304" y="96164"/>
                  <a:pt x="5061" y="121407"/>
                  <a:pt x="5061" y="152565"/>
                </a:cubicBezTo>
                <a:cubicBezTo>
                  <a:pt x="5061" y="157753"/>
                  <a:pt x="9268" y="161960"/>
                  <a:pt x="14456" y="161960"/>
                </a:cubicBezTo>
                <a:lnTo>
                  <a:pt x="94013" y="161960"/>
                </a:lnTo>
                <a:cubicBezTo>
                  <a:pt x="82562" y="148485"/>
                  <a:pt x="75919" y="131118"/>
                  <a:pt x="75919" y="112739"/>
                </a:cubicBezTo>
                <a:lnTo>
                  <a:pt x="75919" y="102902"/>
                </a:lnTo>
                <a:cubicBezTo>
                  <a:pt x="75919" y="100592"/>
                  <a:pt x="76235" y="98315"/>
                  <a:pt x="76836" y="96164"/>
                </a:cubicBezTo>
                <a:lnTo>
                  <a:pt x="61463" y="96164"/>
                </a:lnTo>
                <a:close/>
                <a:moveTo>
                  <a:pt x="140861" y="154526"/>
                </a:moveTo>
                <a:lnTo>
                  <a:pt x="136654" y="156519"/>
                </a:lnTo>
                <a:lnTo>
                  <a:pt x="136654" y="97018"/>
                </a:lnTo>
                <a:lnTo>
                  <a:pt x="167021" y="107140"/>
                </a:lnTo>
                <a:lnTo>
                  <a:pt x="167021" y="113340"/>
                </a:lnTo>
                <a:cubicBezTo>
                  <a:pt x="167021" y="130992"/>
                  <a:pt x="156836" y="147029"/>
                  <a:pt x="140861" y="154558"/>
                </a:cubicBezTo>
                <a:close/>
                <a:moveTo>
                  <a:pt x="133459" y="82087"/>
                </a:moveTo>
                <a:lnTo>
                  <a:pt x="98030" y="93886"/>
                </a:lnTo>
                <a:cubicBezTo>
                  <a:pt x="93886" y="95278"/>
                  <a:pt x="91103" y="99137"/>
                  <a:pt x="91103" y="103503"/>
                </a:cubicBezTo>
                <a:lnTo>
                  <a:pt x="91103" y="113340"/>
                </a:lnTo>
                <a:cubicBezTo>
                  <a:pt x="91103" y="136875"/>
                  <a:pt x="104705" y="158291"/>
                  <a:pt x="125962" y="168287"/>
                </a:cubicBezTo>
                <a:lnTo>
                  <a:pt x="131814" y="171039"/>
                </a:lnTo>
                <a:cubicBezTo>
                  <a:pt x="133332" y="171735"/>
                  <a:pt x="134977" y="172114"/>
                  <a:pt x="136622" y="172114"/>
                </a:cubicBezTo>
                <a:cubicBezTo>
                  <a:pt x="138267" y="172114"/>
                  <a:pt x="139944" y="171735"/>
                  <a:pt x="141430" y="171039"/>
                </a:cubicBezTo>
                <a:lnTo>
                  <a:pt x="147283" y="168287"/>
                </a:lnTo>
                <a:cubicBezTo>
                  <a:pt x="168603" y="158259"/>
                  <a:pt x="182205" y="136844"/>
                  <a:pt x="182205" y="113309"/>
                </a:cubicBezTo>
                <a:lnTo>
                  <a:pt x="182205" y="103471"/>
                </a:lnTo>
                <a:cubicBezTo>
                  <a:pt x="182205" y="99106"/>
                  <a:pt x="179421" y="95246"/>
                  <a:pt x="175278" y="93855"/>
                </a:cubicBezTo>
                <a:lnTo>
                  <a:pt x="139849" y="82056"/>
                </a:lnTo>
                <a:cubicBezTo>
                  <a:pt x="137761" y="81360"/>
                  <a:pt x="135515" y="81360"/>
                  <a:pt x="133459" y="82056"/>
                </a:cubicBez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44" name="Text 42"/>
          <p:cNvSpPr/>
          <p:nvPr/>
        </p:nvSpPr>
        <p:spPr>
          <a:xfrm>
            <a:off x="6787283" y="3806063"/>
            <a:ext cx="11697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越狱防御系统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19398" y="4219962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深度语义识别绕过攻击，多维度检测异常行为模式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0935" y="4719339"/>
            <a:ext cx="5650610" cy="998754"/>
          </a:xfrm>
          <a:custGeom>
            <a:avLst/>
            <a:gdLst/>
            <a:ahLst/>
            <a:cxnLst/>
            <a:rect l="l" t="t" r="r" b="b"/>
            <a:pathLst>
              <a:path w="5650610" h="998754">
                <a:moveTo>
                  <a:pt x="71980" y="0"/>
                </a:moveTo>
                <a:lnTo>
                  <a:pt x="5578629" y="0"/>
                </a:lnTo>
                <a:cubicBezTo>
                  <a:pt x="5618383" y="0"/>
                  <a:pt x="5650610" y="32227"/>
                  <a:pt x="5650610" y="71980"/>
                </a:cubicBezTo>
                <a:lnTo>
                  <a:pt x="5650610" y="926774"/>
                </a:lnTo>
                <a:cubicBezTo>
                  <a:pt x="5650610" y="966528"/>
                  <a:pt x="5618383" y="998754"/>
                  <a:pt x="5578629" y="998754"/>
                </a:cubicBezTo>
                <a:lnTo>
                  <a:pt x="71980" y="998754"/>
                </a:lnTo>
                <a:cubicBezTo>
                  <a:pt x="32227" y="998754"/>
                  <a:pt x="0" y="966528"/>
                  <a:pt x="0" y="926774"/>
                </a:cubicBezTo>
                <a:lnTo>
                  <a:pt x="0" y="71980"/>
                </a:lnTo>
                <a:cubicBezTo>
                  <a:pt x="0" y="32253"/>
                  <a:pt x="32253" y="0"/>
                  <a:pt x="7198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9398" y="4867802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71982" y="0"/>
                </a:moveTo>
                <a:lnTo>
                  <a:pt x="287929" y="0"/>
                </a:lnTo>
                <a:cubicBezTo>
                  <a:pt x="327684" y="0"/>
                  <a:pt x="359911" y="32228"/>
                  <a:pt x="359911" y="71982"/>
                </a:cubicBezTo>
                <a:lnTo>
                  <a:pt x="359911" y="287929"/>
                </a:lnTo>
                <a:cubicBezTo>
                  <a:pt x="359911" y="327684"/>
                  <a:pt x="327684" y="359911"/>
                  <a:pt x="287929" y="359911"/>
                </a:cubicBezTo>
                <a:lnTo>
                  <a:pt x="71982" y="359911"/>
                </a:lnTo>
                <a:cubicBezTo>
                  <a:pt x="32228" y="359911"/>
                  <a:pt x="0" y="327684"/>
                  <a:pt x="0" y="287929"/>
                </a:cubicBezTo>
                <a:lnTo>
                  <a:pt x="0" y="71982"/>
                </a:lnTo>
                <a:cubicBezTo>
                  <a:pt x="0" y="32228"/>
                  <a:pt x="32228" y="0"/>
                  <a:pt x="71982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0868" y="4966778"/>
            <a:ext cx="121470" cy="161960"/>
          </a:xfrm>
          <a:custGeom>
            <a:avLst/>
            <a:gdLst/>
            <a:ahLst/>
            <a:cxnLst/>
            <a:rect l="l" t="t" r="r" b="b"/>
            <a:pathLst>
              <a:path w="121470" h="161960">
                <a:moveTo>
                  <a:pt x="98505" y="10123"/>
                </a:moveTo>
                <a:lnTo>
                  <a:pt x="101225" y="10123"/>
                </a:lnTo>
                <a:cubicBezTo>
                  <a:pt x="112391" y="10123"/>
                  <a:pt x="121470" y="19201"/>
                  <a:pt x="121470" y="30368"/>
                </a:cubicBezTo>
                <a:lnTo>
                  <a:pt x="121470" y="141715"/>
                </a:lnTo>
                <a:cubicBezTo>
                  <a:pt x="121470" y="152882"/>
                  <a:pt x="112391" y="161960"/>
                  <a:pt x="101225" y="161960"/>
                </a:cubicBezTo>
                <a:lnTo>
                  <a:pt x="20245" y="161960"/>
                </a:lnTo>
                <a:cubicBezTo>
                  <a:pt x="9079" y="161960"/>
                  <a:pt x="0" y="152882"/>
                  <a:pt x="0" y="141715"/>
                </a:cubicBezTo>
                <a:lnTo>
                  <a:pt x="0" y="30368"/>
                </a:lnTo>
                <a:cubicBezTo>
                  <a:pt x="0" y="19201"/>
                  <a:pt x="9079" y="10123"/>
                  <a:pt x="20245" y="10123"/>
                </a:cubicBezTo>
                <a:lnTo>
                  <a:pt x="22965" y="10123"/>
                </a:lnTo>
                <a:cubicBezTo>
                  <a:pt x="26445" y="4081"/>
                  <a:pt x="32993" y="0"/>
                  <a:pt x="40490" y="0"/>
                </a:cubicBezTo>
                <a:lnTo>
                  <a:pt x="80980" y="0"/>
                </a:lnTo>
                <a:cubicBezTo>
                  <a:pt x="88477" y="0"/>
                  <a:pt x="95025" y="4081"/>
                  <a:pt x="98505" y="10123"/>
                </a:cubicBezTo>
                <a:close/>
                <a:moveTo>
                  <a:pt x="78449" y="35429"/>
                </a:moveTo>
                <a:cubicBezTo>
                  <a:pt x="82657" y="35429"/>
                  <a:pt x="86041" y="32044"/>
                  <a:pt x="86041" y="27837"/>
                </a:cubicBezTo>
                <a:cubicBezTo>
                  <a:pt x="86041" y="23630"/>
                  <a:pt x="82657" y="20245"/>
                  <a:pt x="78449" y="20245"/>
                </a:cubicBezTo>
                <a:lnTo>
                  <a:pt x="43021" y="20245"/>
                </a:lnTo>
                <a:cubicBezTo>
                  <a:pt x="38813" y="20245"/>
                  <a:pt x="35429" y="23630"/>
                  <a:pt x="35429" y="27837"/>
                </a:cubicBezTo>
                <a:cubicBezTo>
                  <a:pt x="35429" y="32044"/>
                  <a:pt x="38813" y="35429"/>
                  <a:pt x="43021" y="35429"/>
                </a:cubicBezTo>
                <a:lnTo>
                  <a:pt x="78449" y="35429"/>
                </a:lnTo>
                <a:close/>
                <a:moveTo>
                  <a:pt x="87433" y="82467"/>
                </a:moveTo>
                <a:cubicBezTo>
                  <a:pt x="89647" y="78924"/>
                  <a:pt x="88572" y="74242"/>
                  <a:pt x="85029" y="71996"/>
                </a:cubicBezTo>
                <a:cubicBezTo>
                  <a:pt x="81486" y="69750"/>
                  <a:pt x="76805" y="70858"/>
                  <a:pt x="74559" y="74400"/>
                </a:cubicBezTo>
                <a:lnTo>
                  <a:pt x="55136" y="105496"/>
                </a:lnTo>
                <a:lnTo>
                  <a:pt x="46595" y="94108"/>
                </a:lnTo>
                <a:cubicBezTo>
                  <a:pt x="44065" y="90755"/>
                  <a:pt x="39320" y="90059"/>
                  <a:pt x="35967" y="92589"/>
                </a:cubicBezTo>
                <a:cubicBezTo>
                  <a:pt x="32613" y="95120"/>
                  <a:pt x="31918" y="99865"/>
                  <a:pt x="34448" y="103218"/>
                </a:cubicBezTo>
                <a:lnTo>
                  <a:pt x="49632" y="123463"/>
                </a:lnTo>
                <a:cubicBezTo>
                  <a:pt x="51119" y="125456"/>
                  <a:pt x="53523" y="126595"/>
                  <a:pt x="56022" y="126500"/>
                </a:cubicBezTo>
                <a:cubicBezTo>
                  <a:pt x="58521" y="126405"/>
                  <a:pt x="60798" y="125076"/>
                  <a:pt x="62127" y="122925"/>
                </a:cubicBezTo>
                <a:lnTo>
                  <a:pt x="87433" y="82435"/>
                </a:lnTo>
                <a:close/>
              </a:path>
            </a:pathLst>
          </a:custGeom>
          <a:solidFill>
            <a:srgbClr val="0A0E1A"/>
          </a:solidFill>
          <a:ln/>
        </p:spPr>
      </p:sp>
      <p:sp>
        <p:nvSpPr>
          <p:cNvPr id="49" name="Text 47"/>
          <p:cNvSpPr/>
          <p:nvPr/>
        </p:nvSpPr>
        <p:spPr>
          <a:xfrm>
            <a:off x="6787283" y="4921789"/>
            <a:ext cx="809801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审计追踪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19398" y="5335687"/>
            <a:ext cx="5425665" cy="23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全量操作日志记录，满足合规审计要求，可追溯可审查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4410" y="6015020"/>
            <a:ext cx="11463179" cy="476883"/>
          </a:xfrm>
          <a:custGeom>
            <a:avLst/>
            <a:gdLst/>
            <a:ahLst/>
            <a:cxnLst/>
            <a:rect l="l" t="t" r="r" b="b"/>
            <a:pathLst>
              <a:path w="11463179" h="476883">
                <a:moveTo>
                  <a:pt x="71981" y="0"/>
                </a:moveTo>
                <a:lnTo>
                  <a:pt x="11391199" y="0"/>
                </a:lnTo>
                <a:cubicBezTo>
                  <a:pt x="11430952" y="0"/>
                  <a:pt x="11463179" y="32227"/>
                  <a:pt x="11463179" y="71981"/>
                </a:cubicBezTo>
                <a:lnTo>
                  <a:pt x="11463179" y="404902"/>
                </a:lnTo>
                <a:cubicBezTo>
                  <a:pt x="11463179" y="444656"/>
                  <a:pt x="11430952" y="476883"/>
                  <a:pt x="11391199" y="476883"/>
                </a:cubicBezTo>
                <a:lnTo>
                  <a:pt x="71981" y="476883"/>
                </a:lnTo>
                <a:cubicBezTo>
                  <a:pt x="32253" y="476883"/>
                  <a:pt x="0" y="444629"/>
                  <a:pt x="0" y="404902"/>
                </a:cubicBezTo>
                <a:lnTo>
                  <a:pt x="0" y="71981"/>
                </a:lnTo>
                <a:cubicBezTo>
                  <a:pt x="0" y="32253"/>
                  <a:pt x="32253" y="0"/>
                  <a:pt x="71981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87475" y="614548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0"/>
                </a:moveTo>
                <a:cubicBezTo>
                  <a:pt x="109914" y="0"/>
                  <a:pt x="111854" y="422"/>
                  <a:pt x="113625" y="1223"/>
                </a:cubicBezTo>
                <a:lnTo>
                  <a:pt x="193087" y="34923"/>
                </a:lnTo>
                <a:cubicBezTo>
                  <a:pt x="202366" y="38845"/>
                  <a:pt x="209283" y="47998"/>
                  <a:pt x="209241" y="59048"/>
                </a:cubicBezTo>
                <a:cubicBezTo>
                  <a:pt x="209030" y="100888"/>
                  <a:pt x="191822" y="177439"/>
                  <a:pt x="119150" y="212235"/>
                </a:cubicBezTo>
                <a:cubicBezTo>
                  <a:pt x="112107" y="215609"/>
                  <a:pt x="103924" y="215609"/>
                  <a:pt x="96881" y="212235"/>
                </a:cubicBezTo>
                <a:cubicBezTo>
                  <a:pt x="24167" y="177439"/>
                  <a:pt x="7001" y="100888"/>
                  <a:pt x="6791" y="59048"/>
                </a:cubicBezTo>
                <a:cubicBezTo>
                  <a:pt x="6748" y="47998"/>
                  <a:pt x="13665" y="38845"/>
                  <a:pt x="22944" y="34923"/>
                </a:cubicBezTo>
                <a:lnTo>
                  <a:pt x="102364" y="1223"/>
                </a:lnTo>
                <a:cubicBezTo>
                  <a:pt x="104135" y="422"/>
                  <a:pt x="106033" y="0"/>
                  <a:pt x="107973" y="0"/>
                </a:cubicBezTo>
                <a:close/>
                <a:moveTo>
                  <a:pt x="107973" y="28174"/>
                </a:moveTo>
                <a:lnTo>
                  <a:pt x="107973" y="187646"/>
                </a:lnTo>
                <a:cubicBezTo>
                  <a:pt x="166178" y="159472"/>
                  <a:pt x="181826" y="97050"/>
                  <a:pt x="182205" y="59681"/>
                </a:cubicBezTo>
                <a:lnTo>
                  <a:pt x="107973" y="28216"/>
                </a:lnTo>
                <a:lnTo>
                  <a:pt x="107973" y="2821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3" name="Text 51"/>
          <p:cNvSpPr/>
          <p:nvPr/>
        </p:nvSpPr>
        <p:spPr>
          <a:xfrm>
            <a:off x="3993400" y="6127492"/>
            <a:ext cx="152962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六层纵深防御体系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550017" y="6145488"/>
            <a:ext cx="989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677111" y="6127492"/>
            <a:ext cx="14036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 CVE 漏洞记录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107618" y="6145488"/>
            <a:ext cx="9897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234712" y="6127492"/>
            <a:ext cx="134067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 合规认证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spc="55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99038" cy="4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7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NovalClaw vs OpenClaw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2116" y="1126770"/>
            <a:ext cx="1156699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全面对比，优势一目了然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517" y="1518498"/>
            <a:ext cx="11478966" cy="4119752"/>
          </a:xfrm>
          <a:custGeom>
            <a:avLst/>
            <a:gdLst/>
            <a:ahLst/>
            <a:cxnLst/>
            <a:rect l="l" t="t" r="r" b="b"/>
            <a:pathLst>
              <a:path w="11478966" h="4119752">
                <a:moveTo>
                  <a:pt x="70407" y="0"/>
                </a:moveTo>
                <a:lnTo>
                  <a:pt x="11408560" y="0"/>
                </a:lnTo>
                <a:cubicBezTo>
                  <a:pt x="11447444" y="0"/>
                  <a:pt x="11478966" y="31522"/>
                  <a:pt x="11478966" y="70407"/>
                </a:cubicBezTo>
                <a:lnTo>
                  <a:pt x="11478966" y="4049345"/>
                </a:lnTo>
                <a:cubicBezTo>
                  <a:pt x="11478966" y="4088230"/>
                  <a:pt x="11447444" y="4119752"/>
                  <a:pt x="11408560" y="4119752"/>
                </a:cubicBezTo>
                <a:lnTo>
                  <a:pt x="70407" y="4119752"/>
                </a:lnTo>
                <a:cubicBezTo>
                  <a:pt x="31522" y="4119752"/>
                  <a:pt x="0" y="4088230"/>
                  <a:pt x="0" y="4049345"/>
                </a:cubicBezTo>
                <a:lnTo>
                  <a:pt x="0" y="70407"/>
                </a:lnTo>
                <a:cubicBezTo>
                  <a:pt x="0" y="31522"/>
                  <a:pt x="31522" y="0"/>
                  <a:pt x="70407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0918" y="1522900"/>
          <a:ext cx="11470163" cy="4110949"/>
        </p:xfrm>
        <a:graphic>
          <a:graphicData uri="http://schemas.openxmlformats.org/drawingml/2006/table">
            <a:tbl>
              <a:tblPr/>
              <a:tblGrid>
                <a:gridCol w="2605655"/>
                <a:gridCol w="4947223"/>
                <a:gridCol w="3917285"/>
              </a:tblGrid>
              <a:tr h="456772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NovalClaw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OpenClaw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30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核心语言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Python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推理性能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1x 基准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记忆系统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三层分级记忆架构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固定上下文窗口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内存安全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编译期保障，零 CVE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运行时检查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多模态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模态原生融合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文本为主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并发模型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百万级异步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线程池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冷启动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 3ms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 200ms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56772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1F5F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安全防护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06B6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六层纵深防御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94A3B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基础防护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40846" marR="140846" marT="105635" marB="10563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82F6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6517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531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5743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63396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07410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42622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记忆容量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0274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4289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67x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49500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启动加速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77153" y="5787899"/>
            <a:ext cx="2755304" cy="713034"/>
          </a:xfrm>
          <a:custGeom>
            <a:avLst/>
            <a:gdLst/>
            <a:ahLst/>
            <a:cxnLst/>
            <a:rect l="l" t="t" r="r" b="b"/>
            <a:pathLst>
              <a:path w="2755304" h="713034">
                <a:moveTo>
                  <a:pt x="70426" y="0"/>
                </a:moveTo>
                <a:lnTo>
                  <a:pt x="2684878" y="0"/>
                </a:lnTo>
                <a:cubicBezTo>
                  <a:pt x="2723773" y="0"/>
                  <a:pt x="2755304" y="31531"/>
                  <a:pt x="2755304" y="70426"/>
                </a:cubicBezTo>
                <a:lnTo>
                  <a:pt x="2755304" y="642608"/>
                </a:lnTo>
                <a:cubicBezTo>
                  <a:pt x="2755304" y="681503"/>
                  <a:pt x="2723773" y="713034"/>
                  <a:pt x="2684878" y="713034"/>
                </a:cubicBezTo>
                <a:lnTo>
                  <a:pt x="70426" y="713034"/>
                </a:lnTo>
                <a:cubicBezTo>
                  <a:pt x="31531" y="713034"/>
                  <a:pt x="0" y="681503"/>
                  <a:pt x="0" y="642608"/>
                </a:cubicBezTo>
                <a:lnTo>
                  <a:pt x="0" y="70426"/>
                </a:lnTo>
                <a:cubicBezTo>
                  <a:pt x="0" y="31531"/>
                  <a:pt x="31531" y="0"/>
                  <a:pt x="70426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1168" y="5897935"/>
            <a:ext cx="2667275" cy="316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9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6x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56379" y="6214839"/>
            <a:ext cx="259685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模态融合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FINTECH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量化金融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更快的底层架构，让金融分析和交易决策领先一步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1400175"/>
          </a:xfrm>
          <a:custGeom>
            <a:avLst/>
            <a:gdLst/>
            <a:ahLst/>
            <a:cxnLst/>
            <a:rect l="l" t="t" r="r" b="b"/>
            <a:pathLst>
              <a:path w="5610225" h="1400175">
                <a:moveTo>
                  <a:pt x="76198" y="0"/>
                </a:moveTo>
                <a:lnTo>
                  <a:pt x="5534027" y="0"/>
                </a:lnTo>
                <a:cubicBezTo>
                  <a:pt x="5576110" y="0"/>
                  <a:pt x="5610225" y="34115"/>
                  <a:pt x="5610225" y="76198"/>
                </a:cubicBezTo>
                <a:lnTo>
                  <a:pt x="5610225" y="1323977"/>
                </a:lnTo>
                <a:cubicBezTo>
                  <a:pt x="5610225" y="1366060"/>
                  <a:pt x="5576110" y="1400175"/>
                  <a:pt x="553402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788" y="18192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亚毫秒级推理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原生推理引擎提供亚毫秒级延迟，在高频交易中每微秒意味着收益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543175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&lt;0.5ms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16125" y="261937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交易决策延迟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1670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3343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942975" y="33242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925" y="3705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财报、K线、新闻一体化分析，全方位洞察市场动态与投资机会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2338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" y="4410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" y="4391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925" y="47720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持久化海量市场数据与交易模式，从历史中学习优化策略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1643063"/>
            <a:ext cx="5610225" cy="2124075"/>
          </a:xfrm>
          <a:custGeom>
            <a:avLst/>
            <a:gdLst/>
            <a:ahLst/>
            <a:cxnLst/>
            <a:rect l="l" t="t" r="r" b="b"/>
            <a:pathLst>
              <a:path w="5610225" h="212407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2047884"/>
                </a:lnTo>
                <a:cubicBezTo>
                  <a:pt x="5610225" y="2089935"/>
                  <a:pt x="5576085" y="2124075"/>
                  <a:pt x="5534034" y="2124075"/>
                </a:cubicBezTo>
                <a:lnTo>
                  <a:pt x="76191" y="2124075"/>
                </a:lnTo>
                <a:cubicBezTo>
                  <a:pt x="34140" y="2124075"/>
                  <a:pt x="0" y="2089935"/>
                  <a:pt x="0" y="20478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6988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591300" y="18002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3175" y="22574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交易决策延迟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51431" y="221932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&lt;0.5ms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3175" y="2638425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53175" y="28003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回测速度提升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8240" y="276225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31813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53175" y="33432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46978" y="3305175"/>
            <a:ext cx="81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99.9%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38909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1750" y="4067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6753225" y="40481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金融级安全合规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3175" y="44291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满足金融监管审计要求，端到端加密，全量审计日志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4953000"/>
            <a:ext cx="2752725" cy="657225"/>
          </a:xfrm>
          <a:custGeom>
            <a:avLst/>
            <a:gdLst/>
            <a:ahLst/>
            <a:cxnLst/>
            <a:rect l="l" t="t" r="r" b="b"/>
            <a:pathLst>
              <a:path w="2752725" h="657225">
                <a:moveTo>
                  <a:pt x="38099" y="0"/>
                </a:moveTo>
                <a:lnTo>
                  <a:pt x="2714626" y="0"/>
                </a:lnTo>
                <a:cubicBezTo>
                  <a:pt x="2735667" y="0"/>
                  <a:pt x="2752725" y="17058"/>
                  <a:pt x="2752725" y="38099"/>
                </a:cubicBezTo>
                <a:lnTo>
                  <a:pt x="2752725" y="619126"/>
                </a:lnTo>
                <a:cubicBezTo>
                  <a:pt x="2752725" y="640167"/>
                  <a:pt x="2735667" y="657225"/>
                  <a:pt x="2714626" y="657225"/>
                </a:cubicBezTo>
                <a:lnTo>
                  <a:pt x="38099" y="657225"/>
                </a:lnTo>
                <a:cubicBezTo>
                  <a:pt x="17058" y="657225"/>
                  <a:pt x="0" y="640167"/>
                  <a:pt x="0" y="6191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72363" y="50720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6272213" y="530066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交易所级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8275" y="4953000"/>
            <a:ext cx="2752725" cy="657225"/>
          </a:xfrm>
          <a:custGeom>
            <a:avLst/>
            <a:gdLst/>
            <a:ahLst/>
            <a:cxnLst/>
            <a:rect l="l" t="t" r="r" b="b"/>
            <a:pathLst>
              <a:path w="2752725" h="657225">
                <a:moveTo>
                  <a:pt x="38099" y="0"/>
                </a:moveTo>
                <a:lnTo>
                  <a:pt x="2714626" y="0"/>
                </a:lnTo>
                <a:cubicBezTo>
                  <a:pt x="2735667" y="0"/>
                  <a:pt x="2752725" y="17058"/>
                  <a:pt x="2752725" y="38099"/>
                </a:cubicBezTo>
                <a:lnTo>
                  <a:pt x="2752725" y="619126"/>
                </a:lnTo>
                <a:cubicBezTo>
                  <a:pt x="2752725" y="640167"/>
                  <a:pt x="2735667" y="657225"/>
                  <a:pt x="2714626" y="657225"/>
                </a:cubicBezTo>
                <a:lnTo>
                  <a:pt x="38099" y="657225"/>
                </a:lnTo>
                <a:cubicBezTo>
                  <a:pt x="17058" y="657225"/>
                  <a:pt x="0" y="640167"/>
                  <a:pt x="0" y="6191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315575" y="50720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9139238" y="5300663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合规认证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92803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spc="52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CYBERSEC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99197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网络安全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1065240"/>
            <a:ext cx="1160112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速度更快更智能，自动化渗透测试的终极武器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48" y="1435577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331" y="1589537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9933" y="124833"/>
                </a:moveTo>
                <a:lnTo>
                  <a:pt x="9558" y="124833"/>
                </a:lnTo>
                <a:cubicBezTo>
                  <a:pt x="-156" y="124833"/>
                  <a:pt x="-6125" y="114261"/>
                  <a:pt x="-1131" y="105913"/>
                </a:cubicBezTo>
                <a:lnTo>
                  <a:pt x="19505" y="71506"/>
                </a:lnTo>
                <a:cubicBezTo>
                  <a:pt x="22899" y="65849"/>
                  <a:pt x="28985" y="62416"/>
                  <a:pt x="35577" y="62416"/>
                </a:cubicBezTo>
                <a:lnTo>
                  <a:pt x="72637" y="62416"/>
                </a:lnTo>
                <a:cubicBezTo>
                  <a:pt x="102324" y="12132"/>
                  <a:pt x="146600" y="9597"/>
                  <a:pt x="176209" y="13927"/>
                </a:cubicBezTo>
                <a:cubicBezTo>
                  <a:pt x="181203" y="14668"/>
                  <a:pt x="185104" y="18569"/>
                  <a:pt x="185806" y="23523"/>
                </a:cubicBezTo>
                <a:cubicBezTo>
                  <a:pt x="190136" y="53132"/>
                  <a:pt x="187600" y="97409"/>
                  <a:pt x="137316" y="127095"/>
                </a:cubicBezTo>
                <a:lnTo>
                  <a:pt x="137316" y="164155"/>
                </a:lnTo>
                <a:cubicBezTo>
                  <a:pt x="137316" y="170748"/>
                  <a:pt x="133883" y="176833"/>
                  <a:pt x="128227" y="180227"/>
                </a:cubicBezTo>
                <a:lnTo>
                  <a:pt x="93820" y="200864"/>
                </a:lnTo>
                <a:cubicBezTo>
                  <a:pt x="85510" y="205857"/>
                  <a:pt x="74900" y="199849"/>
                  <a:pt x="74900" y="190175"/>
                </a:cubicBezTo>
                <a:lnTo>
                  <a:pt x="74900" y="149799"/>
                </a:lnTo>
                <a:cubicBezTo>
                  <a:pt x="74900" y="136029"/>
                  <a:pt x="63704" y="124833"/>
                  <a:pt x="49933" y="124833"/>
                </a:cubicBezTo>
                <a:lnTo>
                  <a:pt x="49894" y="124833"/>
                </a:lnTo>
                <a:close/>
                <a:moveTo>
                  <a:pt x="156041" y="62416"/>
                </a:moveTo>
                <a:cubicBezTo>
                  <a:pt x="156041" y="52082"/>
                  <a:pt x="147651" y="43691"/>
                  <a:pt x="137316" y="43691"/>
                </a:cubicBezTo>
                <a:cubicBezTo>
                  <a:pt x="126981" y="43691"/>
                  <a:pt x="118591" y="52082"/>
                  <a:pt x="118591" y="62416"/>
                </a:cubicBezTo>
                <a:cubicBezTo>
                  <a:pt x="118591" y="72751"/>
                  <a:pt x="126981" y="81141"/>
                  <a:pt x="137316" y="81141"/>
                </a:cubicBezTo>
                <a:cubicBezTo>
                  <a:pt x="147651" y="81141"/>
                  <a:pt x="156041" y="72751"/>
                  <a:pt x="156041" y="6241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3896" y="1572893"/>
            <a:ext cx="116510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 扫描速度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4365" y="1905780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比传统方案快 100 倍的扫描引擎，大规模资产秒级发现，快速定位潜在威胁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7048" y="2367661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848" y="2521622"/>
            <a:ext cx="224699" cy="199732"/>
          </a:xfrm>
          <a:custGeom>
            <a:avLst/>
            <a:gdLst/>
            <a:ahLst/>
            <a:cxnLst/>
            <a:rect l="l" t="t" r="r" b="b"/>
            <a:pathLst>
              <a:path w="224699" h="199732">
                <a:moveTo>
                  <a:pt x="112349" y="12483"/>
                </a:moveTo>
                <a:cubicBezTo>
                  <a:pt x="80829" y="12483"/>
                  <a:pt x="55590" y="26839"/>
                  <a:pt x="37216" y="43926"/>
                </a:cubicBezTo>
                <a:cubicBezTo>
                  <a:pt x="18959" y="60895"/>
                  <a:pt x="6749" y="81141"/>
                  <a:pt x="936" y="95068"/>
                </a:cubicBezTo>
                <a:cubicBezTo>
                  <a:pt x="-351" y="98150"/>
                  <a:pt x="-351" y="101583"/>
                  <a:pt x="936" y="104664"/>
                </a:cubicBezTo>
                <a:cubicBezTo>
                  <a:pt x="6749" y="118591"/>
                  <a:pt x="18959" y="138876"/>
                  <a:pt x="37216" y="155807"/>
                </a:cubicBezTo>
                <a:cubicBezTo>
                  <a:pt x="55590" y="172854"/>
                  <a:pt x="80829" y="187249"/>
                  <a:pt x="112349" y="187249"/>
                </a:cubicBezTo>
                <a:cubicBezTo>
                  <a:pt x="143870" y="187249"/>
                  <a:pt x="169109" y="172893"/>
                  <a:pt x="187483" y="155807"/>
                </a:cubicBezTo>
                <a:cubicBezTo>
                  <a:pt x="205740" y="138837"/>
                  <a:pt x="217950" y="118591"/>
                  <a:pt x="223763" y="104664"/>
                </a:cubicBezTo>
                <a:cubicBezTo>
                  <a:pt x="225050" y="101583"/>
                  <a:pt x="225050" y="98150"/>
                  <a:pt x="223763" y="95068"/>
                </a:cubicBezTo>
                <a:cubicBezTo>
                  <a:pt x="217950" y="81141"/>
                  <a:pt x="205740" y="60856"/>
                  <a:pt x="187483" y="43926"/>
                </a:cubicBezTo>
                <a:cubicBezTo>
                  <a:pt x="169109" y="26878"/>
                  <a:pt x="143870" y="12483"/>
                  <a:pt x="112349" y="12483"/>
                </a:cubicBezTo>
                <a:close/>
                <a:moveTo>
                  <a:pt x="56175" y="99866"/>
                </a:moveTo>
                <a:cubicBezTo>
                  <a:pt x="56175" y="68863"/>
                  <a:pt x="81346" y="43691"/>
                  <a:pt x="112349" y="43691"/>
                </a:cubicBezTo>
                <a:cubicBezTo>
                  <a:pt x="143353" y="43691"/>
                  <a:pt x="168524" y="68863"/>
                  <a:pt x="168524" y="99866"/>
                </a:cubicBezTo>
                <a:cubicBezTo>
                  <a:pt x="168524" y="130870"/>
                  <a:pt x="143353" y="156041"/>
                  <a:pt x="112349" y="156041"/>
                </a:cubicBezTo>
                <a:cubicBezTo>
                  <a:pt x="81346" y="156041"/>
                  <a:pt x="56175" y="130870"/>
                  <a:pt x="56175" y="99866"/>
                </a:cubicBezTo>
                <a:close/>
                <a:moveTo>
                  <a:pt x="112349" y="74900"/>
                </a:moveTo>
                <a:cubicBezTo>
                  <a:pt x="112349" y="88670"/>
                  <a:pt x="101154" y="99866"/>
                  <a:pt x="87383" y="99866"/>
                </a:cubicBezTo>
                <a:cubicBezTo>
                  <a:pt x="82897" y="99866"/>
                  <a:pt x="78684" y="98696"/>
                  <a:pt x="75017" y="96589"/>
                </a:cubicBezTo>
                <a:cubicBezTo>
                  <a:pt x="74627" y="100841"/>
                  <a:pt x="74978" y="105211"/>
                  <a:pt x="76148" y="109541"/>
                </a:cubicBezTo>
                <a:cubicBezTo>
                  <a:pt x="81492" y="129514"/>
                  <a:pt x="102051" y="141373"/>
                  <a:pt x="122024" y="136029"/>
                </a:cubicBezTo>
                <a:cubicBezTo>
                  <a:pt x="141997" y="130684"/>
                  <a:pt x="153856" y="110126"/>
                  <a:pt x="148512" y="90153"/>
                </a:cubicBezTo>
                <a:cubicBezTo>
                  <a:pt x="143753" y="72325"/>
                  <a:pt x="126861" y="60973"/>
                  <a:pt x="109073" y="62533"/>
                </a:cubicBezTo>
                <a:cubicBezTo>
                  <a:pt x="111140" y="66161"/>
                  <a:pt x="112349" y="70374"/>
                  <a:pt x="112349" y="749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23896" y="2504977"/>
            <a:ext cx="124832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多模态威胁分析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365" y="2837865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同时分析网络流量、系统日志和屏幕截图，多维度联动检测威胁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048" y="3299746"/>
            <a:ext cx="7631443" cy="823896"/>
          </a:xfrm>
          <a:custGeom>
            <a:avLst/>
            <a:gdLst/>
            <a:ahLst/>
            <a:cxnLst/>
            <a:rect l="l" t="t" r="r" b="b"/>
            <a:pathLst>
              <a:path w="7631443" h="823896">
                <a:moveTo>
                  <a:pt x="66579" y="0"/>
                </a:moveTo>
                <a:lnTo>
                  <a:pt x="7564864" y="0"/>
                </a:lnTo>
                <a:cubicBezTo>
                  <a:pt x="7601635" y="0"/>
                  <a:pt x="7631443" y="29808"/>
                  <a:pt x="7631443" y="66579"/>
                </a:cubicBezTo>
                <a:lnTo>
                  <a:pt x="7631443" y="757317"/>
                </a:lnTo>
                <a:cubicBezTo>
                  <a:pt x="7631443" y="794088"/>
                  <a:pt x="7601635" y="823896"/>
                  <a:pt x="7564864" y="823896"/>
                </a:cubicBezTo>
                <a:lnTo>
                  <a:pt x="66579" y="823896"/>
                </a:lnTo>
                <a:cubicBezTo>
                  <a:pt x="29808" y="823896"/>
                  <a:pt x="0" y="794088"/>
                  <a:pt x="0" y="757317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331" y="3453706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46812" y="21846"/>
                </a:moveTo>
                <a:cubicBezTo>
                  <a:pt x="46812" y="9792"/>
                  <a:pt x="56604" y="0"/>
                  <a:pt x="68658" y="0"/>
                </a:cubicBezTo>
                <a:lnTo>
                  <a:pt x="78020" y="0"/>
                </a:lnTo>
                <a:cubicBezTo>
                  <a:pt x="84925" y="0"/>
                  <a:pt x="90504" y="5578"/>
                  <a:pt x="90504" y="12483"/>
                </a:cubicBezTo>
                <a:lnTo>
                  <a:pt x="90504" y="187249"/>
                </a:lnTo>
                <a:cubicBezTo>
                  <a:pt x="90504" y="194154"/>
                  <a:pt x="84925" y="199732"/>
                  <a:pt x="78020" y="199732"/>
                </a:cubicBezTo>
                <a:lnTo>
                  <a:pt x="65537" y="199732"/>
                </a:lnTo>
                <a:cubicBezTo>
                  <a:pt x="53912" y="199732"/>
                  <a:pt x="44121" y="191774"/>
                  <a:pt x="41351" y="181008"/>
                </a:cubicBezTo>
                <a:cubicBezTo>
                  <a:pt x="41078" y="181008"/>
                  <a:pt x="40844" y="181008"/>
                  <a:pt x="40571" y="181008"/>
                </a:cubicBezTo>
                <a:cubicBezTo>
                  <a:pt x="23328" y="181008"/>
                  <a:pt x="9362" y="167042"/>
                  <a:pt x="9362" y="149799"/>
                </a:cubicBezTo>
                <a:cubicBezTo>
                  <a:pt x="9362" y="142777"/>
                  <a:pt x="11703" y="136302"/>
                  <a:pt x="15604" y="131074"/>
                </a:cubicBezTo>
                <a:cubicBezTo>
                  <a:pt x="8036" y="125379"/>
                  <a:pt x="3121" y="116329"/>
                  <a:pt x="3121" y="106108"/>
                </a:cubicBezTo>
                <a:cubicBezTo>
                  <a:pt x="3121" y="94054"/>
                  <a:pt x="9987" y="83560"/>
                  <a:pt x="19973" y="78372"/>
                </a:cubicBezTo>
                <a:cubicBezTo>
                  <a:pt x="17204" y="73690"/>
                  <a:pt x="15604" y="68229"/>
                  <a:pt x="15604" y="62416"/>
                </a:cubicBezTo>
                <a:cubicBezTo>
                  <a:pt x="15604" y="45174"/>
                  <a:pt x="29570" y="31208"/>
                  <a:pt x="46812" y="31208"/>
                </a:cubicBezTo>
                <a:lnTo>
                  <a:pt x="46812" y="21846"/>
                </a:lnTo>
                <a:close/>
                <a:moveTo>
                  <a:pt x="152920" y="21846"/>
                </a:moveTo>
                <a:lnTo>
                  <a:pt x="152920" y="31208"/>
                </a:lnTo>
                <a:cubicBezTo>
                  <a:pt x="170163" y="31208"/>
                  <a:pt x="184128" y="45174"/>
                  <a:pt x="184128" y="62416"/>
                </a:cubicBezTo>
                <a:cubicBezTo>
                  <a:pt x="184128" y="68268"/>
                  <a:pt x="182529" y="73729"/>
                  <a:pt x="179759" y="78372"/>
                </a:cubicBezTo>
                <a:cubicBezTo>
                  <a:pt x="189785" y="83560"/>
                  <a:pt x="196612" y="94015"/>
                  <a:pt x="196612" y="106108"/>
                </a:cubicBezTo>
                <a:cubicBezTo>
                  <a:pt x="196612" y="116329"/>
                  <a:pt x="191696" y="125379"/>
                  <a:pt x="184128" y="131074"/>
                </a:cubicBezTo>
                <a:cubicBezTo>
                  <a:pt x="188029" y="136302"/>
                  <a:pt x="190370" y="142777"/>
                  <a:pt x="190370" y="149799"/>
                </a:cubicBezTo>
                <a:cubicBezTo>
                  <a:pt x="190370" y="167042"/>
                  <a:pt x="176404" y="181008"/>
                  <a:pt x="159162" y="181008"/>
                </a:cubicBezTo>
                <a:cubicBezTo>
                  <a:pt x="158889" y="181008"/>
                  <a:pt x="158655" y="181008"/>
                  <a:pt x="158382" y="181008"/>
                </a:cubicBezTo>
                <a:cubicBezTo>
                  <a:pt x="155612" y="191774"/>
                  <a:pt x="145820" y="199732"/>
                  <a:pt x="134195" y="199732"/>
                </a:cubicBezTo>
                <a:lnTo>
                  <a:pt x="121712" y="199732"/>
                </a:lnTo>
                <a:cubicBezTo>
                  <a:pt x="114807" y="199732"/>
                  <a:pt x="109229" y="194154"/>
                  <a:pt x="109229" y="187249"/>
                </a:cubicBezTo>
                <a:lnTo>
                  <a:pt x="109229" y="12483"/>
                </a:lnTo>
                <a:cubicBezTo>
                  <a:pt x="109229" y="5578"/>
                  <a:pt x="114807" y="0"/>
                  <a:pt x="121712" y="0"/>
                </a:cubicBezTo>
                <a:lnTo>
                  <a:pt x="131074" y="0"/>
                </a:lnTo>
                <a:cubicBezTo>
                  <a:pt x="143129" y="0"/>
                  <a:pt x="152920" y="9792"/>
                  <a:pt x="152920" y="2184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96" y="3437062"/>
            <a:ext cx="1081884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记忆系统积累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4365" y="3769949"/>
            <a:ext cx="7423388" cy="21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完整记录渗透路径与漏洞特征，构建知识库，越用越强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09318" y="1435577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5090" y="1606182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2473" y="2172090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扫描速度提升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6634" y="2438400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大规模资产秒级发现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9318" y="2916926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5090" y="3087530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2473" y="3653439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自身 CVE 漏洞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46634" y="3919749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 内存安全保障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9318" y="4398274"/>
            <a:ext cx="3744983" cy="1373160"/>
          </a:xfrm>
          <a:custGeom>
            <a:avLst/>
            <a:gdLst/>
            <a:ahLst/>
            <a:cxnLst/>
            <a:rect l="l" t="t" r="r" b="b"/>
            <a:pathLst>
              <a:path w="3744983" h="1373160">
                <a:moveTo>
                  <a:pt x="66571" y="0"/>
                </a:moveTo>
                <a:lnTo>
                  <a:pt x="3678412" y="0"/>
                </a:lnTo>
                <a:cubicBezTo>
                  <a:pt x="3715178" y="0"/>
                  <a:pt x="3744983" y="29805"/>
                  <a:pt x="3744983" y="66571"/>
                </a:cubicBezTo>
                <a:lnTo>
                  <a:pt x="3744983" y="1306590"/>
                </a:lnTo>
                <a:cubicBezTo>
                  <a:pt x="3744983" y="1343356"/>
                  <a:pt x="3715178" y="1373160"/>
                  <a:pt x="3678412" y="1373160"/>
                </a:cubicBezTo>
                <a:lnTo>
                  <a:pt x="66571" y="1373160"/>
                </a:lnTo>
                <a:cubicBezTo>
                  <a:pt x="29805" y="1373160"/>
                  <a:pt x="0" y="1343356"/>
                  <a:pt x="0" y="1306590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5090" y="4568879"/>
            <a:ext cx="365343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7×24h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42473" y="5134788"/>
            <a:ext cx="347867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持续自动化测试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6634" y="5401098"/>
            <a:ext cx="347035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全天候威胁监测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7048" y="5879623"/>
            <a:ext cx="11517903" cy="640808"/>
          </a:xfrm>
          <a:custGeom>
            <a:avLst/>
            <a:gdLst/>
            <a:ahLst/>
            <a:cxnLst/>
            <a:rect l="l" t="t" r="r" b="b"/>
            <a:pathLst>
              <a:path w="11517903" h="640808">
                <a:moveTo>
                  <a:pt x="66580" y="0"/>
                </a:moveTo>
                <a:lnTo>
                  <a:pt x="11451323" y="0"/>
                </a:lnTo>
                <a:cubicBezTo>
                  <a:pt x="11488094" y="0"/>
                  <a:pt x="11517903" y="29809"/>
                  <a:pt x="11517903" y="66580"/>
                </a:cubicBezTo>
                <a:lnTo>
                  <a:pt x="11517903" y="574228"/>
                </a:lnTo>
                <a:cubicBezTo>
                  <a:pt x="11517903" y="610999"/>
                  <a:pt x="11488094" y="640808"/>
                  <a:pt x="11451323" y="640808"/>
                </a:cubicBezTo>
                <a:lnTo>
                  <a:pt x="66580" y="640808"/>
                </a:lnTo>
                <a:cubicBezTo>
                  <a:pt x="29809" y="640808"/>
                  <a:pt x="0" y="610999"/>
                  <a:pt x="0" y="574228"/>
                </a:cubicBezTo>
                <a:lnTo>
                  <a:pt x="0" y="66580"/>
                </a:lnTo>
                <a:cubicBezTo>
                  <a:pt x="0" y="29809"/>
                  <a:pt x="29809" y="0"/>
                  <a:pt x="66580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9950" y="6116805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62416" y="31208"/>
                </a:moveTo>
                <a:cubicBezTo>
                  <a:pt x="62416" y="13979"/>
                  <a:pt x="76395" y="0"/>
                  <a:pt x="93625" y="0"/>
                </a:cubicBezTo>
                <a:cubicBezTo>
                  <a:pt x="110854" y="0"/>
                  <a:pt x="124833" y="13979"/>
                  <a:pt x="124833" y="31208"/>
                </a:cubicBezTo>
                <a:lnTo>
                  <a:pt x="124833" y="32378"/>
                </a:lnTo>
                <a:cubicBezTo>
                  <a:pt x="124833" y="37482"/>
                  <a:pt x="120704" y="41611"/>
                  <a:pt x="115600" y="41611"/>
                </a:cubicBezTo>
                <a:lnTo>
                  <a:pt x="71681" y="41611"/>
                </a:lnTo>
                <a:cubicBezTo>
                  <a:pt x="66577" y="41611"/>
                  <a:pt x="62449" y="37482"/>
                  <a:pt x="62449" y="32378"/>
                </a:cubicBezTo>
                <a:lnTo>
                  <a:pt x="62449" y="31208"/>
                </a:lnTo>
                <a:close/>
                <a:moveTo>
                  <a:pt x="174766" y="35369"/>
                </a:moveTo>
                <a:cubicBezTo>
                  <a:pt x="178212" y="39953"/>
                  <a:pt x="177269" y="46487"/>
                  <a:pt x="172685" y="49933"/>
                </a:cubicBezTo>
                <a:lnTo>
                  <a:pt x="140892" y="73762"/>
                </a:lnTo>
                <a:cubicBezTo>
                  <a:pt x="142615" y="76655"/>
                  <a:pt x="143915" y="79841"/>
                  <a:pt x="144728" y="83222"/>
                </a:cubicBezTo>
                <a:lnTo>
                  <a:pt x="176846" y="83222"/>
                </a:lnTo>
                <a:cubicBezTo>
                  <a:pt x="182600" y="83222"/>
                  <a:pt x="187249" y="87871"/>
                  <a:pt x="187249" y="93625"/>
                </a:cubicBezTo>
                <a:cubicBezTo>
                  <a:pt x="187249" y="99379"/>
                  <a:pt x="182600" y="104027"/>
                  <a:pt x="176846" y="104027"/>
                </a:cubicBezTo>
                <a:lnTo>
                  <a:pt x="145638" y="104027"/>
                </a:lnTo>
                <a:lnTo>
                  <a:pt x="145638" y="114430"/>
                </a:lnTo>
                <a:cubicBezTo>
                  <a:pt x="145638" y="115275"/>
                  <a:pt x="145606" y="116153"/>
                  <a:pt x="145573" y="116998"/>
                </a:cubicBezTo>
                <a:lnTo>
                  <a:pt x="172685" y="137316"/>
                </a:lnTo>
                <a:cubicBezTo>
                  <a:pt x="177269" y="140762"/>
                  <a:pt x="178212" y="147296"/>
                  <a:pt x="174766" y="151880"/>
                </a:cubicBezTo>
                <a:cubicBezTo>
                  <a:pt x="171320" y="156464"/>
                  <a:pt x="164786" y="157406"/>
                  <a:pt x="160202" y="153960"/>
                </a:cubicBezTo>
                <a:lnTo>
                  <a:pt x="139689" y="138584"/>
                </a:lnTo>
                <a:cubicBezTo>
                  <a:pt x="132147" y="152953"/>
                  <a:pt x="118071" y="163355"/>
                  <a:pt x="101427" y="165859"/>
                </a:cubicBezTo>
                <a:lnTo>
                  <a:pt x="101427" y="91024"/>
                </a:lnTo>
                <a:cubicBezTo>
                  <a:pt x="101427" y="86700"/>
                  <a:pt x="97948" y="83222"/>
                  <a:pt x="93625" y="83222"/>
                </a:cubicBezTo>
                <a:cubicBezTo>
                  <a:pt x="89301" y="83222"/>
                  <a:pt x="85823" y="86700"/>
                  <a:pt x="85823" y="91024"/>
                </a:cubicBezTo>
                <a:lnTo>
                  <a:pt x="85823" y="165859"/>
                </a:lnTo>
                <a:cubicBezTo>
                  <a:pt x="69178" y="163355"/>
                  <a:pt x="55102" y="152953"/>
                  <a:pt x="47560" y="138584"/>
                </a:cubicBezTo>
                <a:lnTo>
                  <a:pt x="27047" y="153960"/>
                </a:lnTo>
                <a:cubicBezTo>
                  <a:pt x="22463" y="157406"/>
                  <a:pt x="15929" y="156464"/>
                  <a:pt x="12483" y="151880"/>
                </a:cubicBezTo>
                <a:cubicBezTo>
                  <a:pt x="9037" y="147296"/>
                  <a:pt x="9980" y="140762"/>
                  <a:pt x="14564" y="137316"/>
                </a:cubicBezTo>
                <a:lnTo>
                  <a:pt x="41676" y="116998"/>
                </a:lnTo>
                <a:cubicBezTo>
                  <a:pt x="41643" y="116153"/>
                  <a:pt x="41611" y="115308"/>
                  <a:pt x="41611" y="114430"/>
                </a:cubicBezTo>
                <a:lnTo>
                  <a:pt x="41611" y="104027"/>
                </a:lnTo>
                <a:lnTo>
                  <a:pt x="10403" y="104027"/>
                </a:lnTo>
                <a:cubicBezTo>
                  <a:pt x="4649" y="104027"/>
                  <a:pt x="0" y="99379"/>
                  <a:pt x="0" y="93625"/>
                </a:cubicBezTo>
                <a:cubicBezTo>
                  <a:pt x="0" y="87871"/>
                  <a:pt x="4649" y="83222"/>
                  <a:pt x="10403" y="83222"/>
                </a:cubicBezTo>
                <a:lnTo>
                  <a:pt x="42521" y="83222"/>
                </a:lnTo>
                <a:cubicBezTo>
                  <a:pt x="43334" y="79841"/>
                  <a:pt x="44634" y="76655"/>
                  <a:pt x="46357" y="73762"/>
                </a:cubicBezTo>
                <a:lnTo>
                  <a:pt x="14564" y="49933"/>
                </a:lnTo>
                <a:cubicBezTo>
                  <a:pt x="9980" y="46487"/>
                  <a:pt x="9037" y="39953"/>
                  <a:pt x="12483" y="35369"/>
                </a:cubicBezTo>
                <a:cubicBezTo>
                  <a:pt x="15929" y="30786"/>
                  <a:pt x="22463" y="29843"/>
                  <a:pt x="27047" y="33289"/>
                </a:cubicBezTo>
                <a:lnTo>
                  <a:pt x="62416" y="59816"/>
                </a:lnTo>
                <a:cubicBezTo>
                  <a:pt x="66415" y="58158"/>
                  <a:pt x="70804" y="57215"/>
                  <a:pt x="75420" y="57215"/>
                </a:cubicBezTo>
                <a:lnTo>
                  <a:pt x="111829" y="57215"/>
                </a:lnTo>
                <a:cubicBezTo>
                  <a:pt x="116446" y="57215"/>
                  <a:pt x="120834" y="58125"/>
                  <a:pt x="124833" y="59816"/>
                </a:cubicBezTo>
                <a:lnTo>
                  <a:pt x="160202" y="33289"/>
                </a:lnTo>
                <a:cubicBezTo>
                  <a:pt x="164786" y="29843"/>
                  <a:pt x="171320" y="30786"/>
                  <a:pt x="174766" y="3536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1287468" y="6016939"/>
            <a:ext cx="88215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漏洞扫描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7468" y="6216672"/>
            <a:ext cx="87382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自动化资产发现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13472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4152965" y="611680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35235" y="67618"/>
                </a:moveTo>
                <a:cubicBezTo>
                  <a:pt x="135235" y="82539"/>
                  <a:pt x="130392" y="96323"/>
                  <a:pt x="122232" y="107506"/>
                </a:cubicBezTo>
                <a:lnTo>
                  <a:pt x="163388" y="148694"/>
                </a:lnTo>
                <a:cubicBezTo>
                  <a:pt x="167451" y="152758"/>
                  <a:pt x="167451" y="159357"/>
                  <a:pt x="163388" y="163420"/>
                </a:cubicBezTo>
                <a:cubicBezTo>
                  <a:pt x="159324" y="167484"/>
                  <a:pt x="152725" y="167484"/>
                  <a:pt x="148662" y="163420"/>
                </a:cubicBezTo>
                <a:lnTo>
                  <a:pt x="107506" y="122232"/>
                </a:lnTo>
                <a:cubicBezTo>
                  <a:pt x="96323" y="130392"/>
                  <a:pt x="82539" y="135235"/>
                  <a:pt x="67618" y="135235"/>
                </a:cubicBezTo>
                <a:cubicBezTo>
                  <a:pt x="30265" y="135235"/>
                  <a:pt x="0" y="104970"/>
                  <a:pt x="0" y="67618"/>
                </a:cubicBezTo>
                <a:cubicBezTo>
                  <a:pt x="0" y="30265"/>
                  <a:pt x="30265" y="0"/>
                  <a:pt x="67618" y="0"/>
                </a:cubicBezTo>
                <a:cubicBezTo>
                  <a:pt x="104970" y="0"/>
                  <a:pt x="135235" y="30265"/>
                  <a:pt x="135235" y="67618"/>
                </a:cubicBezTo>
                <a:close/>
                <a:moveTo>
                  <a:pt x="67618" y="114430"/>
                </a:moveTo>
                <a:cubicBezTo>
                  <a:pt x="93454" y="114430"/>
                  <a:pt x="114430" y="93454"/>
                  <a:pt x="114430" y="67618"/>
                </a:cubicBezTo>
                <a:cubicBezTo>
                  <a:pt x="114430" y="41781"/>
                  <a:pt x="93454" y="20805"/>
                  <a:pt x="67618" y="20805"/>
                </a:cubicBezTo>
                <a:cubicBezTo>
                  <a:pt x="41781" y="20805"/>
                  <a:pt x="20805" y="41781"/>
                  <a:pt x="20805" y="67618"/>
                </a:cubicBezTo>
                <a:cubicBezTo>
                  <a:pt x="20805" y="93454"/>
                  <a:pt x="41781" y="114430"/>
                  <a:pt x="67618" y="11443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440080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渗透测试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0080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智能攻击路径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49574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7189132" y="611680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88001" y="0"/>
                  <a:pt x="92389" y="2633"/>
                  <a:pt x="94665" y="6827"/>
                </a:cubicBezTo>
                <a:lnTo>
                  <a:pt x="164883" y="136861"/>
                </a:lnTo>
                <a:cubicBezTo>
                  <a:pt x="167061" y="140892"/>
                  <a:pt x="166964" y="145768"/>
                  <a:pt x="164623" y="149702"/>
                </a:cubicBezTo>
                <a:cubicBezTo>
                  <a:pt x="162283" y="153635"/>
                  <a:pt x="158024" y="156041"/>
                  <a:pt x="153440" y="156041"/>
                </a:cubicBezTo>
                <a:lnTo>
                  <a:pt x="13003" y="156041"/>
                </a:lnTo>
                <a:cubicBezTo>
                  <a:pt x="8420" y="156041"/>
                  <a:pt x="4194" y="153635"/>
                  <a:pt x="1820" y="149702"/>
                </a:cubicBezTo>
                <a:cubicBezTo>
                  <a:pt x="-553" y="145768"/>
                  <a:pt x="-618" y="140892"/>
                  <a:pt x="1560" y="136861"/>
                </a:cubicBezTo>
                <a:lnTo>
                  <a:pt x="71779" y="6827"/>
                </a:lnTo>
                <a:cubicBezTo>
                  <a:pt x="74054" y="2633"/>
                  <a:pt x="78443" y="0"/>
                  <a:pt x="83222" y="0"/>
                </a:cubicBezTo>
                <a:close/>
                <a:moveTo>
                  <a:pt x="83222" y="54614"/>
                </a:moveTo>
                <a:cubicBezTo>
                  <a:pt x="78898" y="54614"/>
                  <a:pt x="75420" y="58093"/>
                  <a:pt x="75420" y="62416"/>
                </a:cubicBezTo>
                <a:lnTo>
                  <a:pt x="75420" y="98826"/>
                </a:lnTo>
                <a:cubicBezTo>
                  <a:pt x="75420" y="103150"/>
                  <a:pt x="78898" y="106628"/>
                  <a:pt x="83222" y="106628"/>
                </a:cubicBezTo>
                <a:cubicBezTo>
                  <a:pt x="87545" y="106628"/>
                  <a:pt x="91024" y="103150"/>
                  <a:pt x="91024" y="98826"/>
                </a:cubicBezTo>
                <a:lnTo>
                  <a:pt x="91024" y="62416"/>
                </a:lnTo>
                <a:cubicBezTo>
                  <a:pt x="91024" y="58093"/>
                  <a:pt x="87545" y="54614"/>
                  <a:pt x="83222" y="54614"/>
                </a:cubicBezTo>
                <a:close/>
                <a:moveTo>
                  <a:pt x="91902" y="124833"/>
                </a:moveTo>
                <a:cubicBezTo>
                  <a:pt x="92099" y="121611"/>
                  <a:pt x="90492" y="118546"/>
                  <a:pt x="87730" y="116875"/>
                </a:cubicBezTo>
                <a:cubicBezTo>
                  <a:pt x="84969" y="115204"/>
                  <a:pt x="81508" y="115204"/>
                  <a:pt x="78746" y="116875"/>
                </a:cubicBezTo>
                <a:cubicBezTo>
                  <a:pt x="75984" y="118546"/>
                  <a:pt x="74377" y="121611"/>
                  <a:pt x="74575" y="124833"/>
                </a:cubicBezTo>
                <a:cubicBezTo>
                  <a:pt x="74377" y="128055"/>
                  <a:pt x="75984" y="131120"/>
                  <a:pt x="78746" y="132791"/>
                </a:cubicBezTo>
                <a:cubicBezTo>
                  <a:pt x="81508" y="134461"/>
                  <a:pt x="84969" y="134461"/>
                  <a:pt x="87730" y="132791"/>
                </a:cubicBezTo>
                <a:cubicBezTo>
                  <a:pt x="90492" y="131120"/>
                  <a:pt x="92099" y="128055"/>
                  <a:pt x="91902" y="124833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7476247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威胁检测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76247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实时异常识别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85741" y="6066872"/>
            <a:ext cx="8322" cy="266310"/>
          </a:xfrm>
          <a:custGeom>
            <a:avLst/>
            <a:gdLst/>
            <a:ahLst/>
            <a:cxnLst/>
            <a:rect l="l" t="t" r="r" b="b"/>
            <a:pathLst>
              <a:path w="8322" h="266310">
                <a:moveTo>
                  <a:pt x="0" y="0"/>
                </a:moveTo>
                <a:lnTo>
                  <a:pt x="8322" y="0"/>
                </a:lnTo>
                <a:lnTo>
                  <a:pt x="8322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46039" y="6116805"/>
            <a:ext cx="124833" cy="166444"/>
          </a:xfrm>
          <a:custGeom>
            <a:avLst/>
            <a:gdLst/>
            <a:ahLst/>
            <a:cxnLst/>
            <a:rect l="l" t="t" r="r" b="b"/>
            <a:pathLst>
              <a:path w="124833" h="166444">
                <a:moveTo>
                  <a:pt x="0" y="20805"/>
                </a:moveTo>
                <a:cubicBezTo>
                  <a:pt x="0" y="9330"/>
                  <a:pt x="9330" y="0"/>
                  <a:pt x="20805" y="0"/>
                </a:cubicBezTo>
                <a:lnTo>
                  <a:pt x="69406" y="0"/>
                </a:lnTo>
                <a:cubicBezTo>
                  <a:pt x="74932" y="0"/>
                  <a:pt x="80231" y="2178"/>
                  <a:pt x="84132" y="6079"/>
                </a:cubicBezTo>
                <a:lnTo>
                  <a:pt x="118754" y="40733"/>
                </a:lnTo>
                <a:cubicBezTo>
                  <a:pt x="122655" y="44634"/>
                  <a:pt x="124833" y="49933"/>
                  <a:pt x="124833" y="55460"/>
                </a:cubicBezTo>
                <a:lnTo>
                  <a:pt x="124833" y="145638"/>
                </a:lnTo>
                <a:cubicBezTo>
                  <a:pt x="124833" y="157114"/>
                  <a:pt x="115503" y="166444"/>
                  <a:pt x="104027" y="166444"/>
                </a:cubicBezTo>
                <a:lnTo>
                  <a:pt x="20805" y="166444"/>
                </a:lnTo>
                <a:cubicBezTo>
                  <a:pt x="9330" y="166444"/>
                  <a:pt x="0" y="157114"/>
                  <a:pt x="0" y="145638"/>
                </a:cubicBezTo>
                <a:lnTo>
                  <a:pt x="0" y="20805"/>
                </a:lnTo>
                <a:close/>
                <a:moveTo>
                  <a:pt x="67618" y="19017"/>
                </a:moveTo>
                <a:lnTo>
                  <a:pt x="67618" y="49413"/>
                </a:lnTo>
                <a:cubicBezTo>
                  <a:pt x="67618" y="53737"/>
                  <a:pt x="71096" y="57215"/>
                  <a:pt x="75420" y="57215"/>
                </a:cubicBezTo>
                <a:lnTo>
                  <a:pt x="105815" y="57215"/>
                </a:lnTo>
                <a:lnTo>
                  <a:pt x="67618" y="19017"/>
                </a:lnTo>
                <a:close/>
                <a:moveTo>
                  <a:pt x="39010" y="83222"/>
                </a:moveTo>
                <a:cubicBezTo>
                  <a:pt x="34687" y="83222"/>
                  <a:pt x="31208" y="86700"/>
                  <a:pt x="31208" y="91024"/>
                </a:cubicBezTo>
                <a:cubicBezTo>
                  <a:pt x="31208" y="95348"/>
                  <a:pt x="34687" y="98826"/>
                  <a:pt x="39010" y="98826"/>
                </a:cubicBezTo>
                <a:lnTo>
                  <a:pt x="85823" y="98826"/>
                </a:lnTo>
                <a:cubicBezTo>
                  <a:pt x="90146" y="98826"/>
                  <a:pt x="93625" y="95348"/>
                  <a:pt x="93625" y="91024"/>
                </a:cubicBezTo>
                <a:cubicBezTo>
                  <a:pt x="93625" y="86700"/>
                  <a:pt x="90146" y="83222"/>
                  <a:pt x="85823" y="83222"/>
                </a:cubicBezTo>
                <a:lnTo>
                  <a:pt x="39010" y="83222"/>
                </a:lnTo>
                <a:close/>
                <a:moveTo>
                  <a:pt x="39010" y="114430"/>
                </a:moveTo>
                <a:cubicBezTo>
                  <a:pt x="34687" y="114430"/>
                  <a:pt x="31208" y="117908"/>
                  <a:pt x="31208" y="122232"/>
                </a:cubicBezTo>
                <a:cubicBezTo>
                  <a:pt x="31208" y="126556"/>
                  <a:pt x="34687" y="130034"/>
                  <a:pt x="39010" y="130034"/>
                </a:cubicBezTo>
                <a:lnTo>
                  <a:pt x="85823" y="130034"/>
                </a:lnTo>
                <a:cubicBezTo>
                  <a:pt x="90146" y="130034"/>
                  <a:pt x="93625" y="126556"/>
                  <a:pt x="93625" y="122232"/>
                </a:cubicBezTo>
                <a:cubicBezTo>
                  <a:pt x="93625" y="117908"/>
                  <a:pt x="90146" y="114430"/>
                  <a:pt x="85823" y="114430"/>
                </a:cubicBezTo>
                <a:lnTo>
                  <a:pt x="39010" y="11443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2349" y="6016939"/>
            <a:ext cx="765641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合规审计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12349" y="6216672"/>
            <a:ext cx="75731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全量日志记录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EMOTION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情感陪护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配备情感计算引擎，每一次交互都有温度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819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18002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情感计算引擎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21812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内置情感计算引擎，实时感知用户情绪变化，理解情感需求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709863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30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2886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9485" y="134"/>
                </a:moveTo>
                <a:cubicBezTo>
                  <a:pt x="165512" y="670"/>
                  <a:pt x="161806" y="2902"/>
                  <a:pt x="159484" y="6429"/>
                </a:cubicBezTo>
                <a:cubicBezTo>
                  <a:pt x="156448" y="11073"/>
                  <a:pt x="156359" y="17190"/>
                  <a:pt x="159306" y="21878"/>
                </a:cubicBezTo>
                <a:cubicBezTo>
                  <a:pt x="161806" y="25851"/>
                  <a:pt x="166226" y="27548"/>
                  <a:pt x="169932" y="30138"/>
                </a:cubicBezTo>
                <a:cubicBezTo>
                  <a:pt x="173281" y="32459"/>
                  <a:pt x="177790" y="36031"/>
                  <a:pt x="182300" y="40943"/>
                </a:cubicBezTo>
                <a:cubicBezTo>
                  <a:pt x="191229" y="50631"/>
                  <a:pt x="199936" y="65187"/>
                  <a:pt x="199936" y="85725"/>
                </a:cubicBezTo>
                <a:cubicBezTo>
                  <a:pt x="199936" y="93628"/>
                  <a:pt x="206320" y="100013"/>
                  <a:pt x="214223" y="100013"/>
                </a:cubicBezTo>
                <a:cubicBezTo>
                  <a:pt x="222126" y="100013"/>
                  <a:pt x="228511" y="93628"/>
                  <a:pt x="228511" y="85725"/>
                </a:cubicBezTo>
                <a:cubicBezTo>
                  <a:pt x="228511" y="56257"/>
                  <a:pt x="215786" y="35094"/>
                  <a:pt x="203284" y="21565"/>
                </a:cubicBezTo>
                <a:cubicBezTo>
                  <a:pt x="197078" y="14823"/>
                  <a:pt x="190872" y="9912"/>
                  <a:pt x="186184" y="6697"/>
                </a:cubicBezTo>
                <a:cubicBezTo>
                  <a:pt x="181273" y="3304"/>
                  <a:pt x="175692" y="-714"/>
                  <a:pt x="169396" y="134"/>
                </a:cubicBezTo>
                <a:close/>
                <a:moveTo>
                  <a:pt x="107156" y="57150"/>
                </a:moveTo>
                <a:cubicBezTo>
                  <a:pt x="81439" y="57150"/>
                  <a:pt x="60231" y="76617"/>
                  <a:pt x="57463" y="101575"/>
                </a:cubicBezTo>
                <a:cubicBezTo>
                  <a:pt x="56614" y="109433"/>
                  <a:pt x="49515" y="115059"/>
                  <a:pt x="41702" y="114211"/>
                </a:cubicBezTo>
                <a:cubicBezTo>
                  <a:pt x="33888" y="113362"/>
                  <a:pt x="28218" y="106263"/>
                  <a:pt x="29066" y="98450"/>
                </a:cubicBezTo>
                <a:cubicBezTo>
                  <a:pt x="33397" y="59159"/>
                  <a:pt x="66705" y="28575"/>
                  <a:pt x="107156" y="28575"/>
                </a:cubicBezTo>
                <a:cubicBezTo>
                  <a:pt x="150555" y="28575"/>
                  <a:pt x="185738" y="63758"/>
                  <a:pt x="185738" y="107156"/>
                </a:cubicBezTo>
                <a:cubicBezTo>
                  <a:pt x="185738" y="127695"/>
                  <a:pt x="177835" y="146402"/>
                  <a:pt x="164931" y="160422"/>
                </a:cubicBezTo>
                <a:cubicBezTo>
                  <a:pt x="159574" y="166226"/>
                  <a:pt x="157163" y="171495"/>
                  <a:pt x="157163" y="175915"/>
                </a:cubicBezTo>
                <a:lnTo>
                  <a:pt x="157163" y="178638"/>
                </a:lnTo>
                <a:cubicBezTo>
                  <a:pt x="157163" y="206276"/>
                  <a:pt x="134794" y="228645"/>
                  <a:pt x="107156" y="228645"/>
                </a:cubicBezTo>
                <a:cubicBezTo>
                  <a:pt x="99253" y="228645"/>
                  <a:pt x="92869" y="222260"/>
                  <a:pt x="92869" y="214357"/>
                </a:cubicBezTo>
                <a:cubicBezTo>
                  <a:pt x="92869" y="206454"/>
                  <a:pt x="99253" y="200070"/>
                  <a:pt x="107156" y="200070"/>
                </a:cubicBezTo>
                <a:cubicBezTo>
                  <a:pt x="118988" y="200070"/>
                  <a:pt x="128588" y="190470"/>
                  <a:pt x="128588" y="178638"/>
                </a:cubicBezTo>
                <a:lnTo>
                  <a:pt x="128588" y="175915"/>
                </a:lnTo>
                <a:cubicBezTo>
                  <a:pt x="128588" y="161226"/>
                  <a:pt x="136356" y="149304"/>
                  <a:pt x="143947" y="141089"/>
                </a:cubicBezTo>
                <a:cubicBezTo>
                  <a:pt x="152162" y="132159"/>
                  <a:pt x="157163" y="120283"/>
                  <a:pt x="157163" y="107201"/>
                </a:cubicBezTo>
                <a:cubicBezTo>
                  <a:pt x="157163" y="79564"/>
                  <a:pt x="134794" y="57195"/>
                  <a:pt x="107156" y="57195"/>
                </a:cubicBezTo>
                <a:close/>
                <a:moveTo>
                  <a:pt x="0" y="214313"/>
                </a:moveTo>
                <a:cubicBezTo>
                  <a:pt x="0" y="206427"/>
                  <a:pt x="6402" y="200025"/>
                  <a:pt x="14287" y="200025"/>
                </a:cubicBezTo>
                <a:cubicBezTo>
                  <a:pt x="22173" y="200025"/>
                  <a:pt x="28575" y="206427"/>
                  <a:pt x="28575" y="214313"/>
                </a:cubicBezTo>
                <a:cubicBezTo>
                  <a:pt x="28575" y="222198"/>
                  <a:pt x="22173" y="228600"/>
                  <a:pt x="14288" y="228600"/>
                </a:cubicBezTo>
                <a:cubicBezTo>
                  <a:pt x="6402" y="228600"/>
                  <a:pt x="0" y="222198"/>
                  <a:pt x="0" y="214313"/>
                </a:cubicBezTo>
                <a:close/>
                <a:moveTo>
                  <a:pt x="71438" y="171450"/>
                </a:moveTo>
                <a:cubicBezTo>
                  <a:pt x="79323" y="171450"/>
                  <a:pt x="85725" y="165048"/>
                  <a:pt x="85725" y="157163"/>
                </a:cubicBezTo>
                <a:cubicBezTo>
                  <a:pt x="85725" y="149277"/>
                  <a:pt x="79323" y="142875"/>
                  <a:pt x="71438" y="142875"/>
                </a:cubicBezTo>
                <a:cubicBezTo>
                  <a:pt x="63552" y="142875"/>
                  <a:pt x="57150" y="149277"/>
                  <a:pt x="57150" y="157163"/>
                </a:cubicBezTo>
                <a:cubicBezTo>
                  <a:pt x="57150" y="165048"/>
                  <a:pt x="63552" y="171450"/>
                  <a:pt x="71438" y="171450"/>
                </a:cubicBezTo>
                <a:close/>
                <a:moveTo>
                  <a:pt x="38666" y="161359"/>
                </a:moveTo>
                <a:cubicBezTo>
                  <a:pt x="33084" y="155778"/>
                  <a:pt x="24021" y="155778"/>
                  <a:pt x="18440" y="161359"/>
                </a:cubicBezTo>
                <a:cubicBezTo>
                  <a:pt x="12859" y="166941"/>
                  <a:pt x="12859" y="176004"/>
                  <a:pt x="18440" y="181585"/>
                </a:cubicBezTo>
                <a:lnTo>
                  <a:pt x="47015" y="210160"/>
                </a:lnTo>
                <a:cubicBezTo>
                  <a:pt x="52596" y="215741"/>
                  <a:pt x="61659" y="215741"/>
                  <a:pt x="67241" y="210160"/>
                </a:cubicBezTo>
                <a:cubicBezTo>
                  <a:pt x="72822" y="204579"/>
                  <a:pt x="72822" y="195516"/>
                  <a:pt x="67241" y="189934"/>
                </a:cubicBezTo>
                <a:lnTo>
                  <a:pt x="38666" y="161359"/>
                </a:lnTo>
                <a:close/>
                <a:moveTo>
                  <a:pt x="107156" y="92869"/>
                </a:moveTo>
                <a:cubicBezTo>
                  <a:pt x="99253" y="92869"/>
                  <a:pt x="92869" y="99253"/>
                  <a:pt x="92869" y="107156"/>
                </a:cubicBezTo>
                <a:cubicBezTo>
                  <a:pt x="92869" y="113094"/>
                  <a:pt x="88091" y="117872"/>
                  <a:pt x="82153" y="117872"/>
                </a:cubicBezTo>
                <a:cubicBezTo>
                  <a:pt x="76215" y="117872"/>
                  <a:pt x="71438" y="113094"/>
                  <a:pt x="71438" y="107156"/>
                </a:cubicBezTo>
                <a:cubicBezTo>
                  <a:pt x="71438" y="87422"/>
                  <a:pt x="87422" y="71438"/>
                  <a:pt x="107156" y="71438"/>
                </a:cubicBezTo>
                <a:cubicBezTo>
                  <a:pt x="126891" y="71438"/>
                  <a:pt x="142875" y="87422"/>
                  <a:pt x="142875" y="107156"/>
                </a:cubicBezTo>
                <a:cubicBezTo>
                  <a:pt x="142875" y="113094"/>
                  <a:pt x="138098" y="117872"/>
                  <a:pt x="132159" y="117872"/>
                </a:cubicBezTo>
                <a:cubicBezTo>
                  <a:pt x="126221" y="117872"/>
                  <a:pt x="121444" y="113094"/>
                  <a:pt x="121444" y="107156"/>
                </a:cubicBezTo>
                <a:cubicBezTo>
                  <a:pt x="121444" y="99253"/>
                  <a:pt x="115059" y="92869"/>
                  <a:pt x="107156" y="9286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942975" y="2867025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多模态感知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2925" y="32480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"听"语气、"看"表情、"懂"文字，六模态融合感知情感信号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5763" y="37766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3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213" y="3952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3572"/>
                </a:move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lose/>
                <a:moveTo>
                  <a:pt x="86752" y="135731"/>
                </a:moveTo>
                <a:lnTo>
                  <a:pt x="113273" y="135731"/>
                </a:lnTo>
                <a:cubicBezTo>
                  <a:pt x="115014" y="135731"/>
                  <a:pt x="116800" y="135776"/>
                  <a:pt x="118542" y="135910"/>
                </a:cubicBezTo>
                <a:cubicBezTo>
                  <a:pt x="111309" y="148501"/>
                  <a:pt x="107156" y="163056"/>
                  <a:pt x="107156" y="178594"/>
                </a:cubicBezTo>
                <a:cubicBezTo>
                  <a:pt x="107156" y="197257"/>
                  <a:pt x="113139" y="214536"/>
                  <a:pt x="123230" y="228600"/>
                </a:cubicBezTo>
                <a:lnTo>
                  <a:pt x="20404" y="228600"/>
                </a:lnTo>
                <a:cubicBezTo>
                  <a:pt x="13082" y="228600"/>
                  <a:pt x="7144" y="222662"/>
                  <a:pt x="7144" y="215339"/>
                </a:cubicBezTo>
                <a:cubicBezTo>
                  <a:pt x="7144" y="171361"/>
                  <a:pt x="42773" y="135731"/>
                  <a:pt x="86752" y="135731"/>
                </a:cubicBezTo>
                <a:close/>
                <a:moveTo>
                  <a:pt x="128588" y="178594"/>
                </a:moveTo>
                <a:cubicBezTo>
                  <a:pt x="128588" y="143109"/>
                  <a:pt x="157397" y="114300"/>
                  <a:pt x="192881" y="114300"/>
                </a:cubicBezTo>
                <a:cubicBezTo>
                  <a:pt x="228366" y="114300"/>
                  <a:pt x="257175" y="143109"/>
                  <a:pt x="257175" y="178594"/>
                </a:cubicBezTo>
                <a:cubicBezTo>
                  <a:pt x="257175" y="214078"/>
                  <a:pt x="228366" y="242888"/>
                  <a:pt x="192881" y="242888"/>
                </a:cubicBezTo>
                <a:cubicBezTo>
                  <a:pt x="157397" y="242888"/>
                  <a:pt x="128588" y="214078"/>
                  <a:pt x="128588" y="178594"/>
                </a:cubicBezTo>
                <a:close/>
                <a:moveTo>
                  <a:pt x="192881" y="142875"/>
                </a:moveTo>
                <a:cubicBezTo>
                  <a:pt x="188952" y="142875"/>
                  <a:pt x="185738" y="146090"/>
                  <a:pt x="185738" y="150019"/>
                </a:cubicBezTo>
                <a:lnTo>
                  <a:pt x="185738" y="178594"/>
                </a:lnTo>
                <a:cubicBezTo>
                  <a:pt x="185738" y="182523"/>
                  <a:pt x="188952" y="185738"/>
                  <a:pt x="192881" y="185738"/>
                </a:cubicBezTo>
                <a:lnTo>
                  <a:pt x="214313" y="185738"/>
                </a:lnTo>
                <a:cubicBezTo>
                  <a:pt x="218242" y="185738"/>
                  <a:pt x="221456" y="182523"/>
                  <a:pt x="221456" y="178594"/>
                </a:cubicBezTo>
                <a:cubicBezTo>
                  <a:pt x="221456" y="174665"/>
                  <a:pt x="218242" y="171450"/>
                  <a:pt x="214313" y="171450"/>
                </a:cubicBezTo>
                <a:lnTo>
                  <a:pt x="200025" y="171450"/>
                </a:lnTo>
                <a:lnTo>
                  <a:pt x="200025" y="150019"/>
                </a:lnTo>
                <a:cubicBezTo>
                  <a:pt x="200025" y="146090"/>
                  <a:pt x="196810" y="142875"/>
                  <a:pt x="192881" y="14287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42975" y="39338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925" y="43148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记住每个人的故事与偏好，构建真实情感连接，有温度的陪伴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6013" y="1643063"/>
            <a:ext cx="5610225" cy="2124075"/>
          </a:xfrm>
          <a:custGeom>
            <a:avLst/>
            <a:gdLst/>
            <a:ahLst/>
            <a:cxnLst/>
            <a:rect l="l" t="t" r="r" b="b"/>
            <a:pathLst>
              <a:path w="5610225" h="2124075">
                <a:moveTo>
                  <a:pt x="76191" y="0"/>
                </a:moveTo>
                <a:lnTo>
                  <a:pt x="5534034" y="0"/>
                </a:lnTo>
                <a:cubicBezTo>
                  <a:pt x="5576085" y="0"/>
                  <a:pt x="5610225" y="34140"/>
                  <a:pt x="5610225" y="76191"/>
                </a:cubicBezTo>
                <a:lnTo>
                  <a:pt x="5610225" y="2047884"/>
                </a:lnTo>
                <a:cubicBezTo>
                  <a:pt x="5610225" y="2089935"/>
                  <a:pt x="5576085" y="2124075"/>
                  <a:pt x="5534034" y="2124075"/>
                </a:cubicBezTo>
                <a:lnTo>
                  <a:pt x="76191" y="2124075"/>
                </a:lnTo>
                <a:cubicBezTo>
                  <a:pt x="34140" y="2124075"/>
                  <a:pt x="0" y="2089935"/>
                  <a:pt x="0" y="204788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6988" y="18383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91300" y="18002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3175" y="22574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情绪识别准确率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47003" y="2219325"/>
            <a:ext cx="619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3175" y="2638425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53175" y="28003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用户记忆深度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22484" y="276225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53175" y="3181350"/>
            <a:ext cx="5295900" cy="9525"/>
          </a:xfrm>
          <a:custGeom>
            <a:avLst/>
            <a:gdLst/>
            <a:ahLst/>
            <a:cxnLst/>
            <a:rect l="l" t="t" r="r" b="b"/>
            <a:pathLst>
              <a:path w="5295900" h="9525">
                <a:moveTo>
                  <a:pt x="0" y="0"/>
                </a:moveTo>
                <a:lnTo>
                  <a:pt x="5295900" y="0"/>
                </a:lnTo>
                <a:lnTo>
                  <a:pt x="52959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3175" y="334327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情感模态融合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11855" y="3305175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96013" y="3890962"/>
            <a:ext cx="5610225" cy="942975"/>
          </a:xfrm>
          <a:custGeom>
            <a:avLst/>
            <a:gdLst/>
            <a:ahLst/>
            <a:cxnLst/>
            <a:rect l="l" t="t" r="r" b="b"/>
            <a:pathLst>
              <a:path w="5610225" h="94297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866773"/>
                </a:lnTo>
                <a:cubicBezTo>
                  <a:pt x="5610225" y="908858"/>
                  <a:pt x="5576108" y="942975"/>
                  <a:pt x="5534023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06B6D4">
                  <a:alpha val="3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2700">
            <a:solidFill>
              <a:srgbClr val="06B6D4">
                <a:alpha val="5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7463" y="40671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753225" y="40481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多轮深度对话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3175" y="442912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支持长时间连续对话，理解上下文，主动关怀，真正懂你的AI伙伴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97675" y="50482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78683" y="10883"/>
                </a:moveTo>
                <a:cubicBezTo>
                  <a:pt x="175234" y="8070"/>
                  <a:pt x="170178" y="8606"/>
                  <a:pt x="167365" y="12055"/>
                </a:cubicBezTo>
                <a:cubicBezTo>
                  <a:pt x="164552" y="15504"/>
                  <a:pt x="165088" y="20561"/>
                  <a:pt x="168537" y="23373"/>
                </a:cubicBezTo>
                <a:cubicBezTo>
                  <a:pt x="186686" y="38107"/>
                  <a:pt x="198239" y="60543"/>
                  <a:pt x="198239" y="85725"/>
                </a:cubicBezTo>
                <a:cubicBezTo>
                  <a:pt x="198239" y="110907"/>
                  <a:pt x="186686" y="133343"/>
                  <a:pt x="168537" y="148110"/>
                </a:cubicBezTo>
                <a:cubicBezTo>
                  <a:pt x="165088" y="150923"/>
                  <a:pt x="164585" y="155979"/>
                  <a:pt x="167365" y="159428"/>
                </a:cubicBezTo>
                <a:cubicBezTo>
                  <a:pt x="170144" y="162878"/>
                  <a:pt x="175234" y="163380"/>
                  <a:pt x="178683" y="160600"/>
                </a:cubicBezTo>
                <a:cubicBezTo>
                  <a:pt x="200416" y="142886"/>
                  <a:pt x="214313" y="115930"/>
                  <a:pt x="214313" y="85725"/>
                </a:cubicBezTo>
                <a:cubicBezTo>
                  <a:pt x="214313" y="55520"/>
                  <a:pt x="200416" y="28530"/>
                  <a:pt x="178683" y="10883"/>
                </a:cubicBezTo>
                <a:close/>
                <a:moveTo>
                  <a:pt x="158424" y="35830"/>
                </a:moveTo>
                <a:cubicBezTo>
                  <a:pt x="154975" y="33018"/>
                  <a:pt x="149918" y="33553"/>
                  <a:pt x="147105" y="37002"/>
                </a:cubicBezTo>
                <a:cubicBezTo>
                  <a:pt x="144293" y="40451"/>
                  <a:pt x="144828" y="45508"/>
                  <a:pt x="148277" y="48321"/>
                </a:cubicBezTo>
                <a:cubicBezTo>
                  <a:pt x="159161" y="57161"/>
                  <a:pt x="166092" y="70623"/>
                  <a:pt x="166092" y="85725"/>
                </a:cubicBezTo>
                <a:cubicBezTo>
                  <a:pt x="166092" y="100827"/>
                  <a:pt x="159161" y="114289"/>
                  <a:pt x="148277" y="123163"/>
                </a:cubicBezTo>
                <a:cubicBezTo>
                  <a:pt x="144828" y="125976"/>
                  <a:pt x="144326" y="131032"/>
                  <a:pt x="147105" y="134481"/>
                </a:cubicBezTo>
                <a:cubicBezTo>
                  <a:pt x="149885" y="137930"/>
                  <a:pt x="154975" y="138432"/>
                  <a:pt x="158424" y="135653"/>
                </a:cubicBezTo>
                <a:cubicBezTo>
                  <a:pt x="172890" y="123866"/>
                  <a:pt x="182166" y="105884"/>
                  <a:pt x="182166" y="85758"/>
                </a:cubicBezTo>
                <a:cubicBezTo>
                  <a:pt x="182166" y="65633"/>
                  <a:pt x="172890" y="47651"/>
                  <a:pt x="158424" y="35864"/>
                </a:cubicBezTo>
                <a:close/>
                <a:moveTo>
                  <a:pt x="138165" y="60778"/>
                </a:moveTo>
                <a:cubicBezTo>
                  <a:pt x="134715" y="57965"/>
                  <a:pt x="129659" y="58501"/>
                  <a:pt x="126846" y="61950"/>
                </a:cubicBezTo>
                <a:cubicBezTo>
                  <a:pt x="124033" y="65399"/>
                  <a:pt x="124569" y="70455"/>
                  <a:pt x="128018" y="73268"/>
                </a:cubicBezTo>
                <a:cubicBezTo>
                  <a:pt x="131635" y="76215"/>
                  <a:pt x="133945" y="80702"/>
                  <a:pt x="133945" y="85725"/>
                </a:cubicBezTo>
                <a:cubicBezTo>
                  <a:pt x="133945" y="90748"/>
                  <a:pt x="131635" y="95235"/>
                  <a:pt x="128018" y="98215"/>
                </a:cubicBezTo>
                <a:cubicBezTo>
                  <a:pt x="124569" y="101028"/>
                  <a:pt x="124067" y="106085"/>
                  <a:pt x="126846" y="109534"/>
                </a:cubicBezTo>
                <a:cubicBezTo>
                  <a:pt x="129626" y="112983"/>
                  <a:pt x="134715" y="113485"/>
                  <a:pt x="138165" y="110706"/>
                </a:cubicBezTo>
                <a:cubicBezTo>
                  <a:pt x="145364" y="104779"/>
                  <a:pt x="150019" y="95804"/>
                  <a:pt x="150019" y="85725"/>
                </a:cubicBezTo>
                <a:cubicBezTo>
                  <a:pt x="150019" y="75646"/>
                  <a:pt x="145364" y="66671"/>
                  <a:pt x="138165" y="60778"/>
                </a:cubicBezTo>
                <a:close/>
                <a:moveTo>
                  <a:pt x="26789" y="117872"/>
                </a:moveTo>
                <a:lnTo>
                  <a:pt x="42863" y="117872"/>
                </a:lnTo>
                <a:lnTo>
                  <a:pt x="87768" y="157788"/>
                </a:lnTo>
                <a:cubicBezTo>
                  <a:pt x="89911" y="159696"/>
                  <a:pt x="92657" y="160734"/>
                  <a:pt x="95503" y="160734"/>
                </a:cubicBezTo>
                <a:cubicBezTo>
                  <a:pt x="101932" y="160734"/>
                  <a:pt x="107156" y="155511"/>
                  <a:pt x="107156" y="149081"/>
                </a:cubicBezTo>
                <a:lnTo>
                  <a:pt x="107156" y="22369"/>
                </a:lnTo>
                <a:cubicBezTo>
                  <a:pt x="107156" y="15939"/>
                  <a:pt x="101932" y="10716"/>
                  <a:pt x="95503" y="10716"/>
                </a:cubicBezTo>
                <a:cubicBezTo>
                  <a:pt x="92657" y="10716"/>
                  <a:pt x="89911" y="11754"/>
                  <a:pt x="87768" y="13662"/>
                </a:cubicBezTo>
                <a:lnTo>
                  <a:pt x="42863" y="53578"/>
                </a:lnTo>
                <a:lnTo>
                  <a:pt x="26789" y="53578"/>
                </a:lnTo>
                <a:cubicBezTo>
                  <a:pt x="17915" y="53578"/>
                  <a:pt x="10716" y="60778"/>
                  <a:pt x="10716" y="69652"/>
                </a:cubicBezTo>
                <a:lnTo>
                  <a:pt x="10716" y="101798"/>
                </a:lnTo>
                <a:cubicBezTo>
                  <a:pt x="10716" y="110672"/>
                  <a:pt x="17915" y="117872"/>
                  <a:pt x="26789" y="11787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6238875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语音语调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89850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917707" y="504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48220" y="69652"/>
                </a:moveTo>
                <a:cubicBezTo>
                  <a:pt x="48220" y="63737"/>
                  <a:pt x="53022" y="58936"/>
                  <a:pt x="58936" y="58936"/>
                </a:cubicBezTo>
                <a:cubicBezTo>
                  <a:pt x="64850" y="58936"/>
                  <a:pt x="69652" y="63737"/>
                  <a:pt x="69652" y="69652"/>
                </a:cubicBezTo>
                <a:cubicBezTo>
                  <a:pt x="69652" y="75566"/>
                  <a:pt x="64850" y="80367"/>
                  <a:pt x="58936" y="80367"/>
                </a:cubicBezTo>
                <a:cubicBezTo>
                  <a:pt x="53022" y="80367"/>
                  <a:pt x="48220" y="75566"/>
                  <a:pt x="48220" y="69652"/>
                </a:cubicBezTo>
                <a:close/>
                <a:moveTo>
                  <a:pt x="112514" y="58936"/>
                </a:moveTo>
                <a:cubicBezTo>
                  <a:pt x="118428" y="58936"/>
                  <a:pt x="123230" y="63737"/>
                  <a:pt x="123230" y="69652"/>
                </a:cubicBezTo>
                <a:cubicBezTo>
                  <a:pt x="123230" y="75566"/>
                  <a:pt x="118428" y="80367"/>
                  <a:pt x="112514" y="80367"/>
                </a:cubicBezTo>
                <a:cubicBezTo>
                  <a:pt x="106600" y="80367"/>
                  <a:pt x="101798" y="75566"/>
                  <a:pt x="101798" y="69652"/>
                </a:cubicBezTo>
                <a:cubicBezTo>
                  <a:pt x="101798" y="63737"/>
                  <a:pt x="106600" y="58936"/>
                  <a:pt x="112514" y="5893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8137475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面部表情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88525" y="4953000"/>
            <a:ext cx="1819275" cy="533400"/>
          </a:xfrm>
          <a:custGeom>
            <a:avLst/>
            <a:gdLst/>
            <a:ahLst/>
            <a:cxnLst/>
            <a:rect l="l" t="t" r="r" b="b"/>
            <a:pathLst>
              <a:path w="1819275" h="533400">
                <a:moveTo>
                  <a:pt x="38101" y="0"/>
                </a:moveTo>
                <a:lnTo>
                  <a:pt x="1781174" y="0"/>
                </a:lnTo>
                <a:cubicBezTo>
                  <a:pt x="1802217" y="0"/>
                  <a:pt x="1819275" y="17058"/>
                  <a:pt x="1819275" y="38101"/>
                </a:cubicBezTo>
                <a:lnTo>
                  <a:pt x="1819275" y="495299"/>
                </a:lnTo>
                <a:cubicBezTo>
                  <a:pt x="1819275" y="516342"/>
                  <a:pt x="1802217" y="533400"/>
                  <a:pt x="178117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16382" y="50482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117872"/>
                </a:moveTo>
                <a:lnTo>
                  <a:pt x="0" y="42863"/>
                </a:lnTo>
                <a:cubicBezTo>
                  <a:pt x="0" y="25115"/>
                  <a:pt x="14399" y="10716"/>
                  <a:pt x="32147" y="10716"/>
                </a:cubicBezTo>
                <a:lnTo>
                  <a:pt x="139303" y="10716"/>
                </a:lnTo>
                <a:cubicBezTo>
                  <a:pt x="157051" y="10716"/>
                  <a:pt x="171450" y="25115"/>
                  <a:pt x="171450" y="42863"/>
                </a:cubicBezTo>
                <a:lnTo>
                  <a:pt x="171450" y="117872"/>
                </a:lnTo>
                <a:cubicBezTo>
                  <a:pt x="171450" y="135620"/>
                  <a:pt x="157051" y="150019"/>
                  <a:pt x="139303" y="150019"/>
                </a:cubicBezTo>
                <a:lnTo>
                  <a:pt x="99120" y="150019"/>
                </a:lnTo>
                <a:cubicBezTo>
                  <a:pt x="97378" y="150019"/>
                  <a:pt x="95704" y="150588"/>
                  <a:pt x="94298" y="151626"/>
                </a:cubicBezTo>
                <a:lnTo>
                  <a:pt x="55721" y="180558"/>
                </a:lnTo>
                <a:cubicBezTo>
                  <a:pt x="54315" y="181596"/>
                  <a:pt x="52641" y="182166"/>
                  <a:pt x="50899" y="182166"/>
                </a:cubicBezTo>
                <a:cubicBezTo>
                  <a:pt x="46446" y="182166"/>
                  <a:pt x="42863" y="178583"/>
                  <a:pt x="42863" y="174129"/>
                </a:cubicBezTo>
                <a:lnTo>
                  <a:pt x="42863" y="150019"/>
                </a:lnTo>
                <a:lnTo>
                  <a:pt x="32147" y="150019"/>
                </a:lnTo>
                <a:cubicBezTo>
                  <a:pt x="14399" y="150019"/>
                  <a:pt x="0" y="135620"/>
                  <a:pt x="0" y="11787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0" name="Text 38"/>
          <p:cNvSpPr/>
          <p:nvPr/>
        </p:nvSpPr>
        <p:spPr>
          <a:xfrm>
            <a:off x="10036150" y="5257800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文本语义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stmtoreu5k32/novalclaw_final_bg_blu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A">
                  <a:alpha val="90000"/>
                </a:srgbClr>
              </a:gs>
              <a:gs pos="50000">
                <a:srgbClr val="3B82F6">
                  <a:alpha val="30000"/>
                </a:srgbClr>
              </a:gs>
              <a:gs pos="100000">
                <a:srgbClr val="0A0E1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5804" y="1228725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75" kern="0" dirty="0">
                <a:solidFill>
                  <a:srgbClr val="06B6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READY FOR PRODUCTION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20554" y="1609725"/>
            <a:ext cx="475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1F5F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 100x 的飞跃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34000" y="23336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3806279" y="2600325"/>
            <a:ext cx="458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三行代码启动企业级安全智能体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19922" y="3138488"/>
            <a:ext cx="4152900" cy="1914525"/>
          </a:xfrm>
          <a:custGeom>
            <a:avLst/>
            <a:gdLst/>
            <a:ahLst/>
            <a:cxnLst/>
            <a:rect l="l" t="t" r="r" b="b"/>
            <a:pathLst>
              <a:path w="4152900" h="1914525">
                <a:moveTo>
                  <a:pt x="76198" y="0"/>
                </a:moveTo>
                <a:lnTo>
                  <a:pt x="4076702" y="0"/>
                </a:lnTo>
                <a:cubicBezTo>
                  <a:pt x="4118785" y="0"/>
                  <a:pt x="4152900" y="34115"/>
                  <a:pt x="4152900" y="76198"/>
                </a:cubicBezTo>
                <a:lnTo>
                  <a:pt x="4152900" y="1838327"/>
                </a:lnTo>
                <a:cubicBezTo>
                  <a:pt x="4152900" y="1880410"/>
                  <a:pt x="4118785" y="1914525"/>
                  <a:pt x="4076702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77097" y="3409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4558085" y="337185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github.com/Superagentsys/novalclaw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53285" y="3752850"/>
            <a:ext cx="3686175" cy="1066800"/>
          </a:xfrm>
          <a:custGeom>
            <a:avLst/>
            <a:gdLst/>
            <a:ahLst/>
            <a:cxnLst/>
            <a:rect l="l" t="t" r="r" b="b"/>
            <a:pathLst>
              <a:path w="3686175" h="1066800">
                <a:moveTo>
                  <a:pt x="76202" y="0"/>
                </a:moveTo>
                <a:lnTo>
                  <a:pt x="3609973" y="0"/>
                </a:lnTo>
                <a:cubicBezTo>
                  <a:pt x="3652058" y="0"/>
                  <a:pt x="3686175" y="34117"/>
                  <a:pt x="3686175" y="76202"/>
                </a:cubicBezTo>
                <a:lnTo>
                  <a:pt x="3686175" y="990598"/>
                </a:lnTo>
                <a:cubicBezTo>
                  <a:pt x="3686175" y="1032683"/>
                  <a:pt x="3652058" y="1066800"/>
                  <a:pt x="36099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A0E1A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405685" y="39052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pip install novalclaw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05685" y="41719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novalclaw init my-agent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05685" y="4438650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 novalclaw deploy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511228" y="54102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3724349" y="5362575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100x 性能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57601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8" name="Text 15"/>
          <p:cNvSpPr/>
          <p:nvPr/>
        </p:nvSpPr>
        <p:spPr>
          <a:xfrm>
            <a:off x="5081439" y="5362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企业级安全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10164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6534001" y="536257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超强记忆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91276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7815114" y="5362575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原生多模态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NovalClaw - 企业级安全智能体框架</dc:title>
  <dc:subject>NovalClaw - 企业级安全智能体框架</dc:subject>
  <dc:creator>Kimi</dc:creator>
  <cp:lastModifiedBy>Kimi</cp:lastModifiedBy>
  <cp:revision>1</cp:revision>
  <dcterms:created xsi:type="dcterms:W3CDTF">2026-03-04T16:51:48Z</dcterms:created>
  <dcterms:modified xsi:type="dcterms:W3CDTF">2026-03-04T16:51:48Z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{"Label":"NovalClaw - 企业级安全智能体框架","ContentProducer":"001191110108MACG2KBH8F10000","ProduceID":"19cb9bd9-4252-8cc4-8000-00002f4eb266","ReservedCode1":"","ContentPropagator":"001191110108MACG2KBH8F20000","PropagateID":"19cb9bd9-4252-8cc4-8000-00002f4eb266","ReservedCode2":""}</vt:lpwstr>
  </property>
</Properties>
</file>